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8.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9.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0.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charts/chart11.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12.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a1fb886-457f-2d96-bd92-78452686f08d}">
          <p14:sldIdLst>
            <p14:sldId id="256"/>
            <p14:sldId id="257"/>
            <p14:sldId id="258"/>
          </p14:sldIdLst>
        </p14:section>
        <p14:section name="The challenge" id="{fffe2cc5-0216-7ef4-b6f9-152719c5276c}">
          <p14:sldIdLst>
            <p14:sldId id="259"/>
            <p14:sldId id="260"/>
            <p14:sldId id="261"/>
            <p14:sldId id="262"/>
          </p14:sldIdLst>
        </p14:section>
        <p14:section name="Data and EDA" id="{0b4000ab-d22f-392e-ad64-8dc0c7761760}">
          <p14:sldIdLst>
            <p14:sldId id="263"/>
            <p14:sldId id="264"/>
            <p14:sldId id="265"/>
            <p14:sldId id="266"/>
            <p14:sldId id="267"/>
            <p14:sldId id="268"/>
            <p14:sldId id="269"/>
            <p14:sldId id="270"/>
            <p14:sldId id="271"/>
            <p14:sldId id="272"/>
            <p14:sldId id="273"/>
            <p14:sldId id="274"/>
            <p14:sldId id="275"/>
            <p14:sldId id="276"/>
            <p14:sldId id="277"/>
            <p14:sldId id="278"/>
          </p14:sldIdLst>
        </p14:section>
        <p14:section name="Model approach" id="{e223cd42-5d54-00a8-f567-2c3038c09d11}">
          <p14:sldIdLst>
            <p14:sldId id="279"/>
            <p14:sldId id="280"/>
            <p14:sldId id="281"/>
            <p14:sldId id="282"/>
            <p14:sldId id="283"/>
            <p14:sldId id="284"/>
            <p14:sldId id="285"/>
            <p14:sldId id="286"/>
            <p14:sldId id="287"/>
            <p14:sldId id="288"/>
          </p14:sldIdLst>
        </p14:section>
        <p14:section name="Model inference" id="{d37cfb82-850c-8fc9-e5a7-efc3acf1ebd5}">
          <p14:sldIdLst>
            <p14:sldId id="289"/>
            <p14:sldId id="290"/>
            <p14:sldId id="291"/>
          </p14:sldIdLst>
        </p14:section>
        <p14:section name="Delivering 2%" id="{3fce9f1b-cc5d-fbaa-f34e-244c948202a0}">
          <p14:sldIdLst>
            <p14:sldId id="292"/>
            <p14:sldId id="293"/>
            <p14:sldId id="294"/>
          </p14:sldIdLst>
        </p14:section>
        <p14:section name="Close" id="{c119b846-1b08-cc63-390b-9946201ad010}">
          <p14:sldIdLst>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Average daily SFC, kcal/kg (usable days)</a:t>
            </a:r>
          </a:p>
        </c:rich>
      </c:tx>
      <c:layout/>
      <c:overlay val="0"/>
    </c:title>
    <c:autoTitleDeleted val="0"/>
    <c:plotArea>
      <c:layout/>
      <c:lineChart>
        <c:varyColors val="0"/>
        <c:ser>
          <c:idx val="0"/>
          <c:order val="0"/>
          <c:tx>
            <c:strRef>
              <c:f>Sheet1!$B$1</c:f>
              <c:strCache>
                <c:ptCount val="1"/>
                <c:pt idx="0">
                  <c:v>Monthly SFC</c:v>
                </c:pt>
              </c:strCache>
            </c:strRef>
          </c:tx>
          <c:spPr>
            <a:solidFill>
              <a:srgbClr val="2A78D6"/>
            </a:solidFill>
            <a:ln w="31750" cap="flat">
              <a:solidFill>
                <a:srgbClr val="2A78D6"/>
              </a:solidFill>
              <a:prstDash val="solid"/>
              <a:round/>
            </a:ln>
            <a:effectLst/>
          </c:spPr>
          <c:invertIfNegative val="0"/>
          <c:dLbls>
            <c:numFmt formatCode="#,##0" sourceLinked="0"/>
            <c:txPr>
              <a:bodyPr/>
              <a:lstStyle/>
              <a:p>
                <a:pPr>
                  <a:defRPr b="0" i="0" strike="noStrike" sz="1100" u="none">
                    <a:solidFill>
                      <a:srgbClr val="1F2933"/>
                    </a:solidFill>
                    <a:latin typeface="+mn-lt"/>
                  </a:defRPr>
                </a:pPr>
              </a:p>
            </c:txPr>
            <c:showLegendKey val="0"/>
            <c:showVal val="0"/>
            <c:showCatName val="0"/>
            <c:showSerName val="0"/>
            <c:showPercent val="0"/>
            <c:showBubbleSize val="0"/>
            <c:showLeaderLines val="0"/>
          </c:dLbls>
          <c:marker>
            <c:symbol val="circle"/>
            <c:size val="7"/>
            <c:spPr>
              <a:solidFill>
                <a:srgbClr val="2A78D6"/>
              </a:solidFill>
              <a:ln w="9525" cap="flat">
                <a:solidFill>
                  <a:srgbClr val="2A78D6"/>
                </a:solidFill>
                <a:prstDash val="solid"/>
                <a:round/>
              </a:ln>
              <a:effectLst/>
            </c:spPr>
          </c:marker>
          <c:cat>
            <c:multiLvlStrRef>
              <c:f>Sheet1!$A$2:$A$13</c:f>
              <c:multiLvlStrCache>
                <c:ptCount val="12"/>
                <c:lvl>
                  <c:pt idx="0">
                    <c:v>Oct 25</c:v>
                  </c:pt>
                  <c:pt idx="1">
                    <c:v>Nov 25</c:v>
                  </c:pt>
                  <c:pt idx="2">
                    <c:v>Dec 25</c:v>
                  </c:pt>
                  <c:pt idx="3">
                    <c:v>Jan 26</c:v>
                  </c:pt>
                  <c:pt idx="4">
                    <c:v>Feb 26</c:v>
                  </c:pt>
                  <c:pt idx="5">
                    <c:v>Mar 26</c:v>
                  </c:pt>
                  <c:pt idx="6">
                    <c:v>Apr 26</c:v>
                  </c:pt>
                  <c:pt idx="7">
                    <c:v>May 26</c:v>
                  </c:pt>
                  <c:pt idx="8">
                    <c:v>Jun 26</c:v>
                  </c:pt>
                  <c:pt idx="9">
                    <c:v>Jul 26</c:v>
                  </c:pt>
                  <c:pt idx="10">
                    <c:v>Aug 26</c:v>
                  </c:pt>
                  <c:pt idx="11">
                    <c:v>Sep 26</c:v>
                  </c:pt>
                </c:lvl>
              </c:multiLvlStrCache>
            </c:multiLvlStrRef>
          </c:cat>
          <c:val>
            <c:numRef>
              <c:f>Sheet1!$B$2:$B$13</c:f>
              <c:numCache>
                <c:formatCode>General</c:formatCode>
                <c:ptCount val="12"/>
                <c:pt idx="0">
                  <c:v>1532.3</c:v>
                </c:pt>
                <c:pt idx="1">
                  <c:v>1564.9</c:v>
                </c:pt>
                <c:pt idx="2">
                  <c:v>1556.5</c:v>
                </c:pt>
                <c:pt idx="3">
                  <c:v>1559</c:v>
                </c:pt>
                <c:pt idx="4">
                  <c:v>1597</c:v>
                </c:pt>
                <c:pt idx="5">
                  <c:v>1580.3</c:v>
                </c:pt>
                <c:pt idx="6">
                  <c:v>1571.8</c:v>
                </c:pt>
                <c:pt idx="7">
                  <c:v>1552.6</c:v>
                </c:pt>
                <c:pt idx="8">
                  <c:v>1611.9</c:v>
                </c:pt>
                <c:pt idx="9">
                  <c:v>1640.2</c:v>
                </c:pt>
                <c:pt idx="10">
                  <c:v>1569.5</c:v>
                </c:pt>
                <c:pt idx="11">
                  <c:v>1610.4</c:v>
                </c:pt>
              </c:numCache>
            </c:numRef>
          </c:val>
          <c:smooth val="0"/>
        </c:ser>
        <c:ser>
          <c:idx val="1"/>
          <c:order val="1"/>
          <c:tx>
            <c:strRef>
              <c:f>Sheet1!$C$1</c:f>
              <c:strCache>
                <c:ptCount val="1"/>
                <c:pt idx="0">
                  <c:v>Client baseline 1,576.3</c:v>
                </c:pt>
              </c:strCache>
            </c:strRef>
          </c:tx>
          <c:spPr>
            <a:solidFill>
              <a:srgbClr val="EB6834"/>
            </a:solidFill>
            <a:ln w="31750" cap="flat">
              <a:solidFill>
                <a:srgbClr val="EB6834"/>
              </a:solidFill>
              <a:prstDash val="solid"/>
              <a:round/>
            </a:ln>
            <a:effectLst/>
          </c:spPr>
          <c:invertIfNegative val="0"/>
          <c:dLbls>
            <c:numFmt formatCode="#,##0" sourceLinked="0"/>
            <c:txPr>
              <a:bodyPr/>
              <a:lstStyle/>
              <a:p>
                <a:pPr>
                  <a:defRPr b="0" i="0" strike="noStrike" sz="1100" u="none">
                    <a:solidFill>
                      <a:srgbClr val="1F2933"/>
                    </a:solidFill>
                    <a:latin typeface="+mn-lt"/>
                  </a:defRPr>
                </a:pPr>
              </a:p>
            </c:txPr>
            <c:showLegendKey val="0"/>
            <c:showVal val="0"/>
            <c:showCatName val="0"/>
            <c:showSerName val="0"/>
            <c:showPercent val="0"/>
            <c:showBubbleSize val="0"/>
            <c:showLeaderLines val="0"/>
          </c:dLbls>
          <c:marker>
            <c:symbol val="circle"/>
            <c:size val="7"/>
            <c:spPr>
              <a:solidFill>
                <a:srgbClr val="EB6834"/>
              </a:solidFill>
              <a:ln w="9525" cap="flat">
                <a:solidFill>
                  <a:srgbClr val="EB6834"/>
                </a:solidFill>
                <a:prstDash val="solid"/>
                <a:round/>
              </a:ln>
              <a:effectLst/>
            </c:spPr>
          </c:marker>
          <c:cat>
            <c:multiLvlStrRef>
              <c:f>Sheet1!$A$2:$A$13</c:f>
              <c:multiLvlStrCache>
                <c:ptCount val="12"/>
                <c:lvl>
                  <c:pt idx="0">
                    <c:v>Oct 25</c:v>
                  </c:pt>
                  <c:pt idx="1">
                    <c:v>Nov 25</c:v>
                  </c:pt>
                  <c:pt idx="2">
                    <c:v>Dec 25</c:v>
                  </c:pt>
                  <c:pt idx="3">
                    <c:v>Jan 26</c:v>
                  </c:pt>
                  <c:pt idx="4">
                    <c:v>Feb 26</c:v>
                  </c:pt>
                  <c:pt idx="5">
                    <c:v>Mar 26</c:v>
                  </c:pt>
                  <c:pt idx="6">
                    <c:v>Apr 26</c:v>
                  </c:pt>
                  <c:pt idx="7">
                    <c:v>May 26</c:v>
                  </c:pt>
                  <c:pt idx="8">
                    <c:v>Jun 26</c:v>
                  </c:pt>
                  <c:pt idx="9">
                    <c:v>Jul 26</c:v>
                  </c:pt>
                  <c:pt idx="10">
                    <c:v>Aug 26</c:v>
                  </c:pt>
                  <c:pt idx="11">
                    <c:v>Sep 26</c:v>
                  </c:pt>
                </c:lvl>
              </c:multiLvlStrCache>
            </c:multiLvlStrRef>
          </c:cat>
          <c:val>
            <c:numRef>
              <c:f>Sheet1!$C$2:$C$13</c:f>
              <c:numCache>
                <c:formatCode>General</c:formatCode>
                <c:ptCount val="12"/>
                <c:pt idx="0">
                  <c:v>1576.3</c:v>
                </c:pt>
                <c:pt idx="1">
                  <c:v>1576.3</c:v>
                </c:pt>
                <c:pt idx="2">
                  <c:v>1576.3</c:v>
                </c:pt>
                <c:pt idx="3">
                  <c:v>1576.3</c:v>
                </c:pt>
                <c:pt idx="4">
                  <c:v>1576.3</c:v>
                </c:pt>
                <c:pt idx="5">
                  <c:v>1576.3</c:v>
                </c:pt>
                <c:pt idx="6">
                  <c:v>1576.3</c:v>
                </c:pt>
                <c:pt idx="7">
                  <c:v>1576.3</c:v>
                </c:pt>
                <c:pt idx="8">
                  <c:v>1576.3</c:v>
                </c:pt>
                <c:pt idx="9">
                  <c:v>1576.3</c:v>
                </c:pt>
                <c:pt idx="10">
                  <c:v>1576.3</c:v>
                </c:pt>
                <c:pt idx="11">
                  <c:v>1576.3</c:v>
                </c:pt>
              </c:numCache>
            </c:numRef>
          </c:val>
          <c:smooth val="0"/>
        </c:ser>
        <c:dLbls>
          <c:numFmt formatCode="#,##0" sourceLinked="0"/>
          <c:txPr>
            <a:bodyPr/>
            <a:lstStyle/>
            <a:p>
              <a:pPr>
                <a:defRPr b="0" i="0" strike="noStrike" sz="1100" u="none">
                  <a:solidFill>
                    <a:srgbClr val="1F29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5CCD5"/>
            </a:solidFill>
            <a:prstDash val="solid"/>
            <a:round/>
          </a:ln>
        </c:spPr>
        <c:txPr>
          <a:bodyPr/>
          <a:lstStyle/>
          <a:p>
            <a:pPr>
              <a:defRPr sz="1100" b="0" i="0" u="none" strike="noStrike">
                <a:solidFill>
                  <a:srgbClr val="56616E"/>
                </a:solidFill>
                <a:latin typeface="+mn-lt"/>
              </a:defRPr>
            </a:pPr>
            <a:endParaRPr lang="en-US"/>
          </a:p>
        </c:txPr>
        <c:crossAx val="2094734552"/>
        <c:crosses val="autoZero"/>
        <c:auto val="1"/>
        <c:lblAlgn val="ctr"/>
        <c:noMultiLvlLbl val="1"/>
      </c:catAx>
      <c:valAx>
        <c:axId val="2094734552"/>
        <c:scaling>
          <c:orientation val="minMax"/>
          <c:max val="1660"/>
          <c:min val="1500"/>
        </c:scaling>
        <c:delete val="0"/>
        <c:axPos val="l"/>
        <c:majorGridlines>
          <c:spPr>
            <a:ln w="9525" cap="flat">
              <a:solidFill>
                <a:srgbClr val="E3E7EC"/>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6616E"/>
                </a:solidFill>
                <a:latin typeface="+mn-lt"/>
              </a:defRPr>
            </a:pPr>
            <a:endParaRPr lang="en-US"/>
          </a:p>
        </c:txPr>
        <c:crossAx val="2094734554"/>
        <c:crosses val="autoZero"/>
        <c:crossBetween val="between"/>
        <c:majorUnit val="40"/>
      </c:valAx>
      <c:spPr>
        <a:noFill/>
        <a:ln>
          <a:noFill/>
        </a:ln>
        <a:effectLst/>
      </c:spPr>
    </c:plotArea>
    <c:legend>
      <c:legendPos val="t"/>
      <c:overlay val="0"/>
      <c:txPr>
        <a:bodyPr/>
        <a:lstStyle/>
        <a:p>
          <a:pPr>
            <a:defRPr sz="11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Average draw, t/day</a:t>
            </a:r>
          </a:p>
        </c:rich>
      </c:tx>
      <c:layout/>
      <c:overlay val="0"/>
    </c:title>
    <c:autoTitleDeleted val="0"/>
    <c:plotArea>
      <c:layout/>
      <c:barChart>
        <c:barDir val="col"/>
        <c:grouping val="clustered"/>
        <c:varyColors val="0"/>
        <c:ser>
          <c:idx val="0"/>
          <c:order val="0"/>
          <c:tx>
            <c:strRef>
              <c:f>Sheet1!$B$1</c:f>
              <c:strCache>
                <c:ptCount val="1"/>
                <c:pt idx="0">
                  <c:v>Draw</c:v>
                </c:pt>
              </c:strCache>
            </c:strRef>
          </c:tx>
          <c:spPr>
            <a:solidFill>
              <a:srgbClr val="9CC3F0"/>
            </a:solidFill>
            <a:effectLst/>
          </c:spPr>
          <c:invertIfNegative val="0"/>
          <c:dLbls>
            <c:numFmt formatCode="0.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cat>
            <c:multiLvlStrRef>
              <c:f>Sheet1!$A$2:$A$13</c:f>
              <c:multiLvlStrCache>
                <c:ptCount val="12"/>
                <c:lvl>
                  <c:pt idx="0">
                    <c:v>Oct 25</c:v>
                  </c:pt>
                  <c:pt idx="1">
                    <c:v>Nov 25</c:v>
                  </c:pt>
                  <c:pt idx="2">
                    <c:v>Dec 25</c:v>
                  </c:pt>
                  <c:pt idx="3">
                    <c:v>Jan 26</c:v>
                  </c:pt>
                  <c:pt idx="4">
                    <c:v>Feb 26</c:v>
                  </c:pt>
                  <c:pt idx="5">
                    <c:v>Mar 26</c:v>
                  </c:pt>
                  <c:pt idx="6">
                    <c:v>Apr 26</c:v>
                  </c:pt>
                  <c:pt idx="7">
                    <c:v>May 26</c:v>
                  </c:pt>
                  <c:pt idx="8">
                    <c:v>Jun 26</c:v>
                  </c:pt>
                  <c:pt idx="9">
                    <c:v>Jul 26</c:v>
                  </c:pt>
                  <c:pt idx="10">
                    <c:v>Aug 26</c:v>
                  </c:pt>
                  <c:pt idx="11">
                    <c:v>Sep 26</c:v>
                  </c:pt>
                </c:lvl>
              </c:multiLvlStrCache>
            </c:multiLvlStrRef>
          </c:cat>
          <c:val>
            <c:numRef>
              <c:f>Sheet1!$B$2:$B$13</c:f>
              <c:numCache>
                <c:formatCode>General</c:formatCode>
                <c:ptCount val="12"/>
                <c:pt idx="0">
                  <c:v>58.3</c:v>
                </c:pt>
                <c:pt idx="1">
                  <c:v>58.3</c:v>
                </c:pt>
                <c:pt idx="2">
                  <c:v>59</c:v>
                </c:pt>
                <c:pt idx="3">
                  <c:v>58.1</c:v>
                </c:pt>
                <c:pt idx="4">
                  <c:v>55.9</c:v>
                </c:pt>
                <c:pt idx="5">
                  <c:v>57.1</c:v>
                </c:pt>
                <c:pt idx="6">
                  <c:v>57.8</c:v>
                </c:pt>
                <c:pt idx="7">
                  <c:v>59</c:v>
                </c:pt>
                <c:pt idx="8">
                  <c:v>56.2</c:v>
                </c:pt>
                <c:pt idx="9">
                  <c:v>55.3</c:v>
                </c:pt>
                <c:pt idx="10">
                  <c:v>59.8</c:v>
                </c:pt>
                <c:pt idx="11">
                  <c:v>57.2</c:v>
                </c:pt>
              </c:numCache>
            </c:numRef>
          </c:val>
        </c:ser>
        <c:dLbls>
          <c:numFmt formatCode="0.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5CCD5"/>
            </a:solidFill>
            <a:prstDash val="solid"/>
            <a:round/>
          </a:ln>
        </c:spPr>
        <c:txPr>
          <a:bodyPr/>
          <a:lstStyle/>
          <a:p>
            <a:pPr>
              <a:defRPr sz="1100" b="0" i="0" u="none" strike="noStrike">
                <a:solidFill>
                  <a:srgbClr val="56616E"/>
                </a:solidFill>
                <a:latin typeface="+mn-lt"/>
              </a:defRPr>
            </a:pPr>
            <a:endParaRPr lang="en-US"/>
          </a:p>
        </c:txPr>
        <c:crossAx val="2094734552"/>
        <c:crosses val="autoZero"/>
        <c:auto val="1"/>
        <c:lblAlgn val="ctr"/>
        <c:noMultiLvlLbl val="1"/>
      </c:catAx>
      <c:valAx>
        <c:axId val="2094734552"/>
        <c:scaling>
          <c:orientation val="minMax"/>
          <c:max val="62"/>
          <c:min val="50"/>
        </c:scaling>
        <c:delete val="0"/>
        <c:axPos val="l"/>
        <c:majorGridlines>
          <c:spPr>
            <a:ln w="9525" cap="flat">
              <a:solidFill>
                <a:srgbClr val="E3E7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6616E"/>
                </a:solidFill>
                <a:latin typeface="+mn-lt"/>
              </a:defRPr>
            </a:pPr>
            <a:endParaRPr lang="en-US"/>
          </a:p>
        </c:txPr>
        <c:crossAx val="2094734554"/>
        <c:crosses val="autoZero"/>
        <c:crossBetween val="between"/>
        <c:majorUnit val="4"/>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Daily SFC vs draw, 343 usable days</a:t>
            </a:r>
          </a:p>
        </c:rich>
      </c:tx>
      <c:layout/>
      <c:overlay val="0"/>
    </c:title>
    <c:autoTitleDeleted val="0"/>
    <c:plotArea>
      <c:layout/>
      <c:scatterChart>
        <c:scatterStyle val="lineMarker"/>
        <c:varyColors val="0"/>
        <c:ser>
          <c:idx val="0"/>
          <c:order val="0"/>
          <c:tx>
            <c:strRef>
              <c:f>Sheet1!$B$1</c:f>
              <c:strCache>
                <c:ptCount val="1"/>
                <c:pt idx="0">
                  <c:v>SFC</c:v>
                </c:pt>
              </c:strCache>
            </c:strRef>
          </c:tx>
          <c:spPr>
            <a:solidFill>
              <a:srgbClr val="2A78D6"/>
            </a:solidFill>
            <a:ln>
              <a:noFill/>
            </a:ln>
            <a:effectLst/>
          </c:spPr>
          <c:marker>
            <c:symbol val="circle"/>
            <c:size val="6"/>
            <c:spPr>
              <a:solidFill>
                <a:srgbClr val="2A78D6"/>
              </a:solidFill>
              <a:ln w="9525" cap="flat">
                <a:solidFill>
                  <a:srgbClr val="2A78D6"/>
                </a:solidFill>
                <a:prstDash val="solid"/>
                <a:round/>
              </a:ln>
              <a:effectLst/>
            </c:spPr>
          </c:marker>
          <c:xVal>
            <c:numRef>
              <c:f>Sheet1!$A$2:$A$344</c:f>
              <c:numCache>
                <c:formatCode>General</c:formatCode>
                <c:ptCount val="343"/>
                <c:pt idx="0">
                  <c:v>47.8</c:v>
                </c:pt>
                <c:pt idx="1">
                  <c:v>47.82</c:v>
                </c:pt>
                <c:pt idx="2">
                  <c:v>47.96</c:v>
                </c:pt>
                <c:pt idx="3">
                  <c:v>48.95</c:v>
                </c:pt>
                <c:pt idx="4">
                  <c:v>49.3</c:v>
                </c:pt>
                <c:pt idx="5">
                  <c:v>49.51</c:v>
                </c:pt>
                <c:pt idx="6">
                  <c:v>49.73</c:v>
                </c:pt>
                <c:pt idx="7">
                  <c:v>50.28</c:v>
                </c:pt>
                <c:pt idx="8">
                  <c:v>50.64</c:v>
                </c:pt>
                <c:pt idx="9">
                  <c:v>50.79</c:v>
                </c:pt>
                <c:pt idx="10">
                  <c:v>50.89</c:v>
                </c:pt>
                <c:pt idx="11">
                  <c:v>50.91</c:v>
                </c:pt>
                <c:pt idx="12">
                  <c:v>50.92</c:v>
                </c:pt>
                <c:pt idx="13">
                  <c:v>50.94</c:v>
                </c:pt>
                <c:pt idx="14">
                  <c:v>50.98</c:v>
                </c:pt>
                <c:pt idx="15">
                  <c:v>51.06</c:v>
                </c:pt>
                <c:pt idx="16">
                  <c:v>51.28</c:v>
                </c:pt>
                <c:pt idx="17">
                  <c:v>51.34</c:v>
                </c:pt>
                <c:pt idx="18">
                  <c:v>51.34</c:v>
                </c:pt>
                <c:pt idx="19">
                  <c:v>51.34</c:v>
                </c:pt>
                <c:pt idx="20">
                  <c:v>51.34</c:v>
                </c:pt>
                <c:pt idx="21">
                  <c:v>51.49</c:v>
                </c:pt>
                <c:pt idx="22">
                  <c:v>51.5</c:v>
                </c:pt>
                <c:pt idx="23">
                  <c:v>51.57</c:v>
                </c:pt>
                <c:pt idx="24">
                  <c:v>51.72</c:v>
                </c:pt>
                <c:pt idx="25">
                  <c:v>51.78</c:v>
                </c:pt>
                <c:pt idx="26">
                  <c:v>51.95</c:v>
                </c:pt>
                <c:pt idx="27">
                  <c:v>52.01</c:v>
                </c:pt>
                <c:pt idx="28">
                  <c:v>52.04</c:v>
                </c:pt>
                <c:pt idx="29">
                  <c:v>52.06</c:v>
                </c:pt>
                <c:pt idx="30">
                  <c:v>52.09</c:v>
                </c:pt>
                <c:pt idx="31">
                  <c:v>52.14</c:v>
                </c:pt>
                <c:pt idx="32">
                  <c:v>52.22</c:v>
                </c:pt>
                <c:pt idx="33">
                  <c:v>52.27</c:v>
                </c:pt>
                <c:pt idx="34">
                  <c:v>52.32</c:v>
                </c:pt>
                <c:pt idx="35">
                  <c:v>52.37</c:v>
                </c:pt>
                <c:pt idx="36">
                  <c:v>52.42</c:v>
                </c:pt>
                <c:pt idx="37">
                  <c:v>52.46</c:v>
                </c:pt>
                <c:pt idx="38">
                  <c:v>52.54</c:v>
                </c:pt>
                <c:pt idx="39">
                  <c:v>52.64</c:v>
                </c:pt>
                <c:pt idx="40">
                  <c:v>52.72</c:v>
                </c:pt>
                <c:pt idx="41">
                  <c:v>52.76</c:v>
                </c:pt>
                <c:pt idx="42">
                  <c:v>52.86</c:v>
                </c:pt>
                <c:pt idx="43">
                  <c:v>52.93</c:v>
                </c:pt>
                <c:pt idx="44">
                  <c:v>53.06</c:v>
                </c:pt>
                <c:pt idx="45">
                  <c:v>53.06</c:v>
                </c:pt>
                <c:pt idx="46">
                  <c:v>53.07</c:v>
                </c:pt>
                <c:pt idx="47">
                  <c:v>53.08</c:v>
                </c:pt>
                <c:pt idx="48">
                  <c:v>53.14</c:v>
                </c:pt>
                <c:pt idx="49">
                  <c:v>53.42</c:v>
                </c:pt>
                <c:pt idx="50">
                  <c:v>53.45</c:v>
                </c:pt>
                <c:pt idx="51">
                  <c:v>53.74</c:v>
                </c:pt>
                <c:pt idx="52">
                  <c:v>53.77</c:v>
                </c:pt>
                <c:pt idx="53">
                  <c:v>53.78</c:v>
                </c:pt>
                <c:pt idx="54">
                  <c:v>53.93</c:v>
                </c:pt>
                <c:pt idx="55">
                  <c:v>54.23</c:v>
                </c:pt>
                <c:pt idx="56">
                  <c:v>54.39</c:v>
                </c:pt>
                <c:pt idx="57">
                  <c:v>54.5</c:v>
                </c:pt>
                <c:pt idx="58">
                  <c:v>54.61</c:v>
                </c:pt>
                <c:pt idx="59">
                  <c:v>54.61</c:v>
                </c:pt>
                <c:pt idx="60">
                  <c:v>54.62</c:v>
                </c:pt>
                <c:pt idx="61">
                  <c:v>54.76</c:v>
                </c:pt>
                <c:pt idx="62">
                  <c:v>54.81</c:v>
                </c:pt>
                <c:pt idx="63">
                  <c:v>54.82</c:v>
                </c:pt>
                <c:pt idx="64">
                  <c:v>54.89</c:v>
                </c:pt>
                <c:pt idx="65">
                  <c:v>54.9</c:v>
                </c:pt>
                <c:pt idx="66">
                  <c:v>55.09</c:v>
                </c:pt>
                <c:pt idx="67">
                  <c:v>55.17</c:v>
                </c:pt>
                <c:pt idx="68">
                  <c:v>55.23</c:v>
                </c:pt>
                <c:pt idx="69">
                  <c:v>55.26</c:v>
                </c:pt>
                <c:pt idx="70">
                  <c:v>55.44</c:v>
                </c:pt>
                <c:pt idx="71">
                  <c:v>55.46</c:v>
                </c:pt>
                <c:pt idx="72">
                  <c:v>55.47</c:v>
                </c:pt>
                <c:pt idx="73">
                  <c:v>55.49</c:v>
                </c:pt>
                <c:pt idx="74">
                  <c:v>55.5</c:v>
                </c:pt>
                <c:pt idx="75">
                  <c:v>55.54</c:v>
                </c:pt>
                <c:pt idx="76">
                  <c:v>55.57</c:v>
                </c:pt>
                <c:pt idx="77">
                  <c:v>55.57</c:v>
                </c:pt>
                <c:pt idx="78">
                  <c:v>55.85</c:v>
                </c:pt>
                <c:pt idx="79">
                  <c:v>55.87</c:v>
                </c:pt>
                <c:pt idx="80">
                  <c:v>55.9</c:v>
                </c:pt>
                <c:pt idx="81">
                  <c:v>55.9</c:v>
                </c:pt>
                <c:pt idx="82">
                  <c:v>55.92</c:v>
                </c:pt>
                <c:pt idx="83">
                  <c:v>55.95</c:v>
                </c:pt>
                <c:pt idx="84">
                  <c:v>56.03</c:v>
                </c:pt>
                <c:pt idx="85">
                  <c:v>56.06</c:v>
                </c:pt>
                <c:pt idx="86">
                  <c:v>56.11</c:v>
                </c:pt>
                <c:pt idx="87">
                  <c:v>56.15</c:v>
                </c:pt>
                <c:pt idx="88">
                  <c:v>56.22</c:v>
                </c:pt>
                <c:pt idx="89">
                  <c:v>56.23</c:v>
                </c:pt>
                <c:pt idx="90">
                  <c:v>56.24</c:v>
                </c:pt>
                <c:pt idx="91">
                  <c:v>56.24</c:v>
                </c:pt>
                <c:pt idx="92">
                  <c:v>56.24</c:v>
                </c:pt>
                <c:pt idx="93">
                  <c:v>56.27</c:v>
                </c:pt>
                <c:pt idx="94">
                  <c:v>56.32</c:v>
                </c:pt>
                <c:pt idx="95">
                  <c:v>56.37</c:v>
                </c:pt>
                <c:pt idx="96">
                  <c:v>56.43</c:v>
                </c:pt>
                <c:pt idx="97">
                  <c:v>56.46</c:v>
                </c:pt>
                <c:pt idx="98">
                  <c:v>56.54</c:v>
                </c:pt>
                <c:pt idx="99">
                  <c:v>56.57</c:v>
                </c:pt>
                <c:pt idx="100">
                  <c:v>56.58</c:v>
                </c:pt>
                <c:pt idx="101">
                  <c:v>56.61</c:v>
                </c:pt>
                <c:pt idx="102">
                  <c:v>56.61</c:v>
                </c:pt>
                <c:pt idx="103">
                  <c:v>56.7</c:v>
                </c:pt>
                <c:pt idx="104">
                  <c:v>56.72</c:v>
                </c:pt>
                <c:pt idx="105">
                  <c:v>56.75</c:v>
                </c:pt>
                <c:pt idx="106">
                  <c:v>56.88</c:v>
                </c:pt>
                <c:pt idx="107">
                  <c:v>56.91</c:v>
                </c:pt>
                <c:pt idx="108">
                  <c:v>56.96</c:v>
                </c:pt>
                <c:pt idx="109">
                  <c:v>57</c:v>
                </c:pt>
                <c:pt idx="110">
                  <c:v>57.02</c:v>
                </c:pt>
                <c:pt idx="111">
                  <c:v>57.02</c:v>
                </c:pt>
                <c:pt idx="112">
                  <c:v>57.13</c:v>
                </c:pt>
                <c:pt idx="113">
                  <c:v>57.14</c:v>
                </c:pt>
                <c:pt idx="114">
                  <c:v>57.14</c:v>
                </c:pt>
                <c:pt idx="115">
                  <c:v>57.14</c:v>
                </c:pt>
                <c:pt idx="116">
                  <c:v>57.15</c:v>
                </c:pt>
                <c:pt idx="117">
                  <c:v>57.18</c:v>
                </c:pt>
                <c:pt idx="118">
                  <c:v>57.18</c:v>
                </c:pt>
                <c:pt idx="119">
                  <c:v>57.18</c:v>
                </c:pt>
                <c:pt idx="120">
                  <c:v>57.23</c:v>
                </c:pt>
                <c:pt idx="121">
                  <c:v>57.23</c:v>
                </c:pt>
                <c:pt idx="122">
                  <c:v>57.25</c:v>
                </c:pt>
                <c:pt idx="123">
                  <c:v>57.27</c:v>
                </c:pt>
                <c:pt idx="124">
                  <c:v>57.29</c:v>
                </c:pt>
                <c:pt idx="125">
                  <c:v>57.31</c:v>
                </c:pt>
                <c:pt idx="126">
                  <c:v>57.33</c:v>
                </c:pt>
                <c:pt idx="127">
                  <c:v>57.34</c:v>
                </c:pt>
                <c:pt idx="128">
                  <c:v>57.42</c:v>
                </c:pt>
                <c:pt idx="129">
                  <c:v>57.47</c:v>
                </c:pt>
                <c:pt idx="130">
                  <c:v>57.54</c:v>
                </c:pt>
                <c:pt idx="131">
                  <c:v>57.55</c:v>
                </c:pt>
                <c:pt idx="132">
                  <c:v>57.56</c:v>
                </c:pt>
                <c:pt idx="133">
                  <c:v>57.56</c:v>
                </c:pt>
                <c:pt idx="134">
                  <c:v>57.57</c:v>
                </c:pt>
                <c:pt idx="135">
                  <c:v>57.61</c:v>
                </c:pt>
                <c:pt idx="136">
                  <c:v>57.64</c:v>
                </c:pt>
                <c:pt idx="137">
                  <c:v>57.64</c:v>
                </c:pt>
                <c:pt idx="138">
                  <c:v>57.69</c:v>
                </c:pt>
                <c:pt idx="139">
                  <c:v>57.69</c:v>
                </c:pt>
                <c:pt idx="140">
                  <c:v>57.7</c:v>
                </c:pt>
                <c:pt idx="141">
                  <c:v>57.72</c:v>
                </c:pt>
                <c:pt idx="142">
                  <c:v>57.75</c:v>
                </c:pt>
                <c:pt idx="143">
                  <c:v>57.79</c:v>
                </c:pt>
                <c:pt idx="144">
                  <c:v>57.81</c:v>
                </c:pt>
                <c:pt idx="145">
                  <c:v>57.84</c:v>
                </c:pt>
                <c:pt idx="146">
                  <c:v>57.87</c:v>
                </c:pt>
                <c:pt idx="147">
                  <c:v>57.92</c:v>
                </c:pt>
                <c:pt idx="148">
                  <c:v>57.93</c:v>
                </c:pt>
                <c:pt idx="149">
                  <c:v>57.97</c:v>
                </c:pt>
                <c:pt idx="150">
                  <c:v>58</c:v>
                </c:pt>
                <c:pt idx="151">
                  <c:v>58.01</c:v>
                </c:pt>
                <c:pt idx="152">
                  <c:v>58.02</c:v>
                </c:pt>
                <c:pt idx="153">
                  <c:v>58.08</c:v>
                </c:pt>
                <c:pt idx="154">
                  <c:v>58.11</c:v>
                </c:pt>
                <c:pt idx="155">
                  <c:v>58.13</c:v>
                </c:pt>
                <c:pt idx="156">
                  <c:v>58.13</c:v>
                </c:pt>
                <c:pt idx="157">
                  <c:v>58.15</c:v>
                </c:pt>
                <c:pt idx="158">
                  <c:v>58.16</c:v>
                </c:pt>
                <c:pt idx="159">
                  <c:v>58.22</c:v>
                </c:pt>
                <c:pt idx="160">
                  <c:v>58.26</c:v>
                </c:pt>
                <c:pt idx="161">
                  <c:v>58.34</c:v>
                </c:pt>
                <c:pt idx="162">
                  <c:v>58.35</c:v>
                </c:pt>
                <c:pt idx="163">
                  <c:v>58.36</c:v>
                </c:pt>
                <c:pt idx="164">
                  <c:v>58.38</c:v>
                </c:pt>
                <c:pt idx="165">
                  <c:v>58.39</c:v>
                </c:pt>
                <c:pt idx="166">
                  <c:v>58.4</c:v>
                </c:pt>
                <c:pt idx="167">
                  <c:v>58.43</c:v>
                </c:pt>
                <c:pt idx="168">
                  <c:v>58.44</c:v>
                </c:pt>
                <c:pt idx="169">
                  <c:v>58.45</c:v>
                </c:pt>
                <c:pt idx="170">
                  <c:v>58.48</c:v>
                </c:pt>
                <c:pt idx="171">
                  <c:v>58.5</c:v>
                </c:pt>
                <c:pt idx="172">
                  <c:v>58.54</c:v>
                </c:pt>
                <c:pt idx="173">
                  <c:v>58.63</c:v>
                </c:pt>
                <c:pt idx="174">
                  <c:v>58.66</c:v>
                </c:pt>
                <c:pt idx="175">
                  <c:v>58.66</c:v>
                </c:pt>
                <c:pt idx="176">
                  <c:v>58.67</c:v>
                </c:pt>
                <c:pt idx="177">
                  <c:v>58.68</c:v>
                </c:pt>
                <c:pt idx="178">
                  <c:v>58.72</c:v>
                </c:pt>
                <c:pt idx="179">
                  <c:v>58.72</c:v>
                </c:pt>
                <c:pt idx="180">
                  <c:v>58.73</c:v>
                </c:pt>
                <c:pt idx="181">
                  <c:v>58.75</c:v>
                </c:pt>
                <c:pt idx="182">
                  <c:v>58.76</c:v>
                </c:pt>
                <c:pt idx="183">
                  <c:v>58.78</c:v>
                </c:pt>
                <c:pt idx="184">
                  <c:v>58.79</c:v>
                </c:pt>
                <c:pt idx="185">
                  <c:v>58.8</c:v>
                </c:pt>
                <c:pt idx="186">
                  <c:v>58.82</c:v>
                </c:pt>
                <c:pt idx="187">
                  <c:v>58.83</c:v>
                </c:pt>
                <c:pt idx="188">
                  <c:v>58.85</c:v>
                </c:pt>
                <c:pt idx="189">
                  <c:v>58.9</c:v>
                </c:pt>
                <c:pt idx="190">
                  <c:v>58.91</c:v>
                </c:pt>
                <c:pt idx="191">
                  <c:v>58.92</c:v>
                </c:pt>
                <c:pt idx="192">
                  <c:v>58.98</c:v>
                </c:pt>
                <c:pt idx="193">
                  <c:v>58.99</c:v>
                </c:pt>
                <c:pt idx="194">
                  <c:v>58.99</c:v>
                </c:pt>
                <c:pt idx="195">
                  <c:v>59.01</c:v>
                </c:pt>
                <c:pt idx="196">
                  <c:v>59.02</c:v>
                </c:pt>
                <c:pt idx="197">
                  <c:v>59.05</c:v>
                </c:pt>
                <c:pt idx="198">
                  <c:v>59.08</c:v>
                </c:pt>
                <c:pt idx="199">
                  <c:v>59.1</c:v>
                </c:pt>
                <c:pt idx="200">
                  <c:v>59.15</c:v>
                </c:pt>
                <c:pt idx="201">
                  <c:v>59.17</c:v>
                </c:pt>
                <c:pt idx="202">
                  <c:v>59.17</c:v>
                </c:pt>
                <c:pt idx="203">
                  <c:v>59.2</c:v>
                </c:pt>
                <c:pt idx="204">
                  <c:v>59.23</c:v>
                </c:pt>
                <c:pt idx="205">
                  <c:v>59.24</c:v>
                </c:pt>
                <c:pt idx="206">
                  <c:v>59.31</c:v>
                </c:pt>
                <c:pt idx="207">
                  <c:v>59.34</c:v>
                </c:pt>
                <c:pt idx="208">
                  <c:v>59.38</c:v>
                </c:pt>
                <c:pt idx="209">
                  <c:v>59.42</c:v>
                </c:pt>
                <c:pt idx="210">
                  <c:v>59.44</c:v>
                </c:pt>
                <c:pt idx="211">
                  <c:v>59.45</c:v>
                </c:pt>
                <c:pt idx="212">
                  <c:v>59.47</c:v>
                </c:pt>
                <c:pt idx="213">
                  <c:v>59.49</c:v>
                </c:pt>
                <c:pt idx="214">
                  <c:v>59.51</c:v>
                </c:pt>
                <c:pt idx="215">
                  <c:v>59.52</c:v>
                </c:pt>
                <c:pt idx="216">
                  <c:v>59.52</c:v>
                </c:pt>
                <c:pt idx="217">
                  <c:v>59.53</c:v>
                </c:pt>
                <c:pt idx="218">
                  <c:v>59.53</c:v>
                </c:pt>
                <c:pt idx="219">
                  <c:v>59.55</c:v>
                </c:pt>
                <c:pt idx="220">
                  <c:v>59.58</c:v>
                </c:pt>
                <c:pt idx="221">
                  <c:v>59.6</c:v>
                </c:pt>
                <c:pt idx="222">
                  <c:v>59.6</c:v>
                </c:pt>
                <c:pt idx="223">
                  <c:v>59.62</c:v>
                </c:pt>
                <c:pt idx="224">
                  <c:v>59.62</c:v>
                </c:pt>
                <c:pt idx="225">
                  <c:v>59.62</c:v>
                </c:pt>
                <c:pt idx="226">
                  <c:v>59.62</c:v>
                </c:pt>
                <c:pt idx="227">
                  <c:v>59.67</c:v>
                </c:pt>
                <c:pt idx="228">
                  <c:v>59.68</c:v>
                </c:pt>
                <c:pt idx="229">
                  <c:v>59.7</c:v>
                </c:pt>
                <c:pt idx="230">
                  <c:v>59.73</c:v>
                </c:pt>
                <c:pt idx="231">
                  <c:v>59.76</c:v>
                </c:pt>
                <c:pt idx="232">
                  <c:v>59.83</c:v>
                </c:pt>
                <c:pt idx="233">
                  <c:v>59.88</c:v>
                </c:pt>
                <c:pt idx="234">
                  <c:v>59.9</c:v>
                </c:pt>
                <c:pt idx="235">
                  <c:v>59.9</c:v>
                </c:pt>
                <c:pt idx="236">
                  <c:v>59.93</c:v>
                </c:pt>
                <c:pt idx="237">
                  <c:v>59.94</c:v>
                </c:pt>
                <c:pt idx="238">
                  <c:v>59.95</c:v>
                </c:pt>
                <c:pt idx="239">
                  <c:v>59.97</c:v>
                </c:pt>
                <c:pt idx="240">
                  <c:v>60</c:v>
                </c:pt>
                <c:pt idx="241">
                  <c:v>60.01</c:v>
                </c:pt>
                <c:pt idx="242">
                  <c:v>60.01</c:v>
                </c:pt>
                <c:pt idx="243">
                  <c:v>60.02</c:v>
                </c:pt>
                <c:pt idx="244">
                  <c:v>60.06</c:v>
                </c:pt>
                <c:pt idx="245">
                  <c:v>60.06</c:v>
                </c:pt>
                <c:pt idx="246">
                  <c:v>60.06</c:v>
                </c:pt>
                <c:pt idx="247">
                  <c:v>60.08</c:v>
                </c:pt>
                <c:pt idx="248">
                  <c:v>60.08</c:v>
                </c:pt>
                <c:pt idx="249">
                  <c:v>60.11</c:v>
                </c:pt>
                <c:pt idx="250">
                  <c:v>60.12</c:v>
                </c:pt>
                <c:pt idx="251">
                  <c:v>60.12</c:v>
                </c:pt>
                <c:pt idx="252">
                  <c:v>60.13</c:v>
                </c:pt>
                <c:pt idx="253">
                  <c:v>60.14</c:v>
                </c:pt>
                <c:pt idx="254">
                  <c:v>60.15</c:v>
                </c:pt>
                <c:pt idx="255">
                  <c:v>60.18</c:v>
                </c:pt>
                <c:pt idx="256">
                  <c:v>60.18</c:v>
                </c:pt>
                <c:pt idx="257">
                  <c:v>60.23</c:v>
                </c:pt>
                <c:pt idx="258">
                  <c:v>60.23</c:v>
                </c:pt>
                <c:pt idx="259">
                  <c:v>60.24</c:v>
                </c:pt>
                <c:pt idx="260">
                  <c:v>60.25</c:v>
                </c:pt>
                <c:pt idx="261">
                  <c:v>60.26</c:v>
                </c:pt>
                <c:pt idx="262">
                  <c:v>60.32</c:v>
                </c:pt>
                <c:pt idx="263">
                  <c:v>60.32</c:v>
                </c:pt>
                <c:pt idx="264">
                  <c:v>60.34</c:v>
                </c:pt>
                <c:pt idx="265">
                  <c:v>60.35</c:v>
                </c:pt>
                <c:pt idx="266">
                  <c:v>60.37</c:v>
                </c:pt>
                <c:pt idx="267">
                  <c:v>60.39</c:v>
                </c:pt>
                <c:pt idx="268">
                  <c:v>60.39</c:v>
                </c:pt>
                <c:pt idx="269">
                  <c:v>60.4</c:v>
                </c:pt>
                <c:pt idx="270">
                  <c:v>60.4</c:v>
                </c:pt>
                <c:pt idx="271">
                  <c:v>60.42</c:v>
                </c:pt>
                <c:pt idx="272">
                  <c:v>60.44</c:v>
                </c:pt>
                <c:pt idx="273">
                  <c:v>60.44</c:v>
                </c:pt>
                <c:pt idx="274">
                  <c:v>60.46</c:v>
                </c:pt>
                <c:pt idx="275">
                  <c:v>60.54</c:v>
                </c:pt>
                <c:pt idx="276">
                  <c:v>60.55</c:v>
                </c:pt>
                <c:pt idx="277">
                  <c:v>60.56</c:v>
                </c:pt>
                <c:pt idx="278">
                  <c:v>60.59</c:v>
                </c:pt>
                <c:pt idx="279">
                  <c:v>60.62</c:v>
                </c:pt>
                <c:pt idx="280">
                  <c:v>60.64</c:v>
                </c:pt>
                <c:pt idx="281">
                  <c:v>60.66</c:v>
                </c:pt>
                <c:pt idx="282">
                  <c:v>60.67</c:v>
                </c:pt>
                <c:pt idx="283">
                  <c:v>60.69</c:v>
                </c:pt>
                <c:pt idx="284">
                  <c:v>60.7</c:v>
                </c:pt>
                <c:pt idx="285">
                  <c:v>60.7</c:v>
                </c:pt>
                <c:pt idx="286">
                  <c:v>60.73</c:v>
                </c:pt>
                <c:pt idx="287">
                  <c:v>60.73</c:v>
                </c:pt>
                <c:pt idx="288">
                  <c:v>60.74</c:v>
                </c:pt>
                <c:pt idx="289">
                  <c:v>60.78</c:v>
                </c:pt>
                <c:pt idx="290">
                  <c:v>60.78</c:v>
                </c:pt>
                <c:pt idx="291">
                  <c:v>60.79</c:v>
                </c:pt>
                <c:pt idx="292">
                  <c:v>60.79</c:v>
                </c:pt>
                <c:pt idx="293">
                  <c:v>60.8</c:v>
                </c:pt>
                <c:pt idx="294">
                  <c:v>60.84</c:v>
                </c:pt>
                <c:pt idx="295">
                  <c:v>60.84</c:v>
                </c:pt>
                <c:pt idx="296">
                  <c:v>60.89</c:v>
                </c:pt>
                <c:pt idx="297">
                  <c:v>60.92</c:v>
                </c:pt>
                <c:pt idx="298">
                  <c:v>60.93</c:v>
                </c:pt>
                <c:pt idx="299">
                  <c:v>60.93</c:v>
                </c:pt>
                <c:pt idx="300">
                  <c:v>60.94</c:v>
                </c:pt>
                <c:pt idx="301">
                  <c:v>60.97</c:v>
                </c:pt>
                <c:pt idx="302">
                  <c:v>60.99</c:v>
                </c:pt>
                <c:pt idx="303">
                  <c:v>61.01</c:v>
                </c:pt>
                <c:pt idx="304">
                  <c:v>61.02</c:v>
                </c:pt>
                <c:pt idx="305">
                  <c:v>61.04</c:v>
                </c:pt>
                <c:pt idx="306">
                  <c:v>61.08</c:v>
                </c:pt>
                <c:pt idx="307">
                  <c:v>61.09</c:v>
                </c:pt>
                <c:pt idx="308">
                  <c:v>61.1</c:v>
                </c:pt>
                <c:pt idx="309">
                  <c:v>61.11</c:v>
                </c:pt>
                <c:pt idx="310">
                  <c:v>61.13</c:v>
                </c:pt>
                <c:pt idx="311">
                  <c:v>61.15</c:v>
                </c:pt>
                <c:pt idx="312">
                  <c:v>61.18</c:v>
                </c:pt>
                <c:pt idx="313">
                  <c:v>61.2</c:v>
                </c:pt>
                <c:pt idx="314">
                  <c:v>61.2</c:v>
                </c:pt>
                <c:pt idx="315">
                  <c:v>61.21</c:v>
                </c:pt>
                <c:pt idx="316">
                  <c:v>61.24</c:v>
                </c:pt>
                <c:pt idx="317">
                  <c:v>61.24</c:v>
                </c:pt>
                <c:pt idx="318">
                  <c:v>61.25</c:v>
                </c:pt>
                <c:pt idx="319">
                  <c:v>61.44</c:v>
                </c:pt>
                <c:pt idx="320">
                  <c:v>61.49</c:v>
                </c:pt>
                <c:pt idx="321">
                  <c:v>61.51</c:v>
                </c:pt>
                <c:pt idx="322">
                  <c:v>61.52</c:v>
                </c:pt>
                <c:pt idx="323">
                  <c:v>61.57</c:v>
                </c:pt>
                <c:pt idx="324">
                  <c:v>61.61</c:v>
                </c:pt>
                <c:pt idx="325">
                  <c:v>61.64</c:v>
                </c:pt>
                <c:pt idx="326">
                  <c:v>61.67</c:v>
                </c:pt>
                <c:pt idx="327">
                  <c:v>61.68</c:v>
                </c:pt>
                <c:pt idx="328">
                  <c:v>61.69</c:v>
                </c:pt>
                <c:pt idx="329">
                  <c:v>61.74</c:v>
                </c:pt>
                <c:pt idx="330">
                  <c:v>61.74</c:v>
                </c:pt>
                <c:pt idx="331">
                  <c:v>61.8</c:v>
                </c:pt>
                <c:pt idx="332">
                  <c:v>61.81</c:v>
                </c:pt>
                <c:pt idx="333">
                  <c:v>61.86</c:v>
                </c:pt>
                <c:pt idx="334">
                  <c:v>61.9</c:v>
                </c:pt>
                <c:pt idx="335">
                  <c:v>61.9</c:v>
                </c:pt>
                <c:pt idx="336">
                  <c:v>61.91</c:v>
                </c:pt>
                <c:pt idx="337">
                  <c:v>61.98</c:v>
                </c:pt>
                <c:pt idx="338">
                  <c:v>62.14</c:v>
                </c:pt>
                <c:pt idx="339">
                  <c:v>62.28</c:v>
                </c:pt>
                <c:pt idx="340">
                  <c:v>62.4</c:v>
                </c:pt>
                <c:pt idx="341">
                  <c:v>62.42</c:v>
                </c:pt>
                <c:pt idx="342">
                  <c:v>62.44</c:v>
                </c:pt>
              </c:numCache>
            </c:numRef>
          </c:xVal>
          <c:yVal>
            <c:numRef>
              <c:f>Sheet1!$B$2:$B$344</c:f>
              <c:numCache>
                <c:formatCode>General</c:formatCode>
                <c:ptCount val="343"/>
                <c:pt idx="0">
                  <c:v>1769.2</c:v>
                </c:pt>
                <c:pt idx="1">
                  <c:v>1787.36</c:v>
                </c:pt>
                <c:pt idx="2">
                  <c:v>1784.67</c:v>
                </c:pt>
                <c:pt idx="3">
                  <c:v>1745.98</c:v>
                </c:pt>
                <c:pt idx="4">
                  <c:v>1744.02</c:v>
                </c:pt>
                <c:pt idx="5">
                  <c:v>1762.65</c:v>
                </c:pt>
                <c:pt idx="6">
                  <c:v>1745.49</c:v>
                </c:pt>
                <c:pt idx="7">
                  <c:v>1717.54</c:v>
                </c:pt>
                <c:pt idx="8">
                  <c:v>1753.98</c:v>
                </c:pt>
                <c:pt idx="9">
                  <c:v>1689.03</c:v>
                </c:pt>
                <c:pt idx="10">
                  <c:v>1714.24</c:v>
                </c:pt>
                <c:pt idx="11">
                  <c:v>1722.84</c:v>
                </c:pt>
                <c:pt idx="12">
                  <c:v>1702.66</c:v>
                </c:pt>
                <c:pt idx="13">
                  <c:v>1710.7</c:v>
                </c:pt>
                <c:pt idx="14">
                  <c:v>1717.51</c:v>
                </c:pt>
                <c:pt idx="15">
                  <c:v>1684.29</c:v>
                </c:pt>
                <c:pt idx="16">
                  <c:v>1704.39</c:v>
                </c:pt>
                <c:pt idx="17">
                  <c:v>1673.23</c:v>
                </c:pt>
                <c:pt idx="18">
                  <c:v>1695.01</c:v>
                </c:pt>
                <c:pt idx="19">
                  <c:v>1696.23</c:v>
                </c:pt>
                <c:pt idx="20">
                  <c:v>1727.38</c:v>
                </c:pt>
                <c:pt idx="21">
                  <c:v>1722.01</c:v>
                </c:pt>
                <c:pt idx="22">
                  <c:v>1684.78</c:v>
                </c:pt>
                <c:pt idx="23">
                  <c:v>1671.3</c:v>
                </c:pt>
                <c:pt idx="24">
                  <c:v>1708.61</c:v>
                </c:pt>
                <c:pt idx="25">
                  <c:v>1681.49</c:v>
                </c:pt>
                <c:pt idx="26">
                  <c:v>1691.89</c:v>
                </c:pt>
                <c:pt idx="27">
                  <c:v>1687.55</c:v>
                </c:pt>
                <c:pt idx="28">
                  <c:v>1666.94</c:v>
                </c:pt>
                <c:pt idx="29">
                  <c:v>1702.97</c:v>
                </c:pt>
                <c:pt idx="30">
                  <c:v>1709.81</c:v>
                </c:pt>
                <c:pt idx="31">
                  <c:v>1703.96</c:v>
                </c:pt>
                <c:pt idx="32">
                  <c:v>1654.19</c:v>
                </c:pt>
                <c:pt idx="33">
                  <c:v>1683.59</c:v>
                </c:pt>
                <c:pt idx="34">
                  <c:v>1673.04</c:v>
                </c:pt>
                <c:pt idx="35">
                  <c:v>1692.19</c:v>
                </c:pt>
                <c:pt idx="36">
                  <c:v>1671.72</c:v>
                </c:pt>
                <c:pt idx="37">
                  <c:v>1642.38</c:v>
                </c:pt>
                <c:pt idx="38">
                  <c:v>1625.24</c:v>
                </c:pt>
                <c:pt idx="39">
                  <c:v>1648.44</c:v>
                </c:pt>
                <c:pt idx="40">
                  <c:v>1667.2</c:v>
                </c:pt>
                <c:pt idx="41">
                  <c:v>1648.93</c:v>
                </c:pt>
                <c:pt idx="42">
                  <c:v>1679.67</c:v>
                </c:pt>
                <c:pt idx="43">
                  <c:v>1625.43</c:v>
                </c:pt>
                <c:pt idx="44">
                  <c:v>1619.34</c:v>
                </c:pt>
                <c:pt idx="45">
                  <c:v>1652.93</c:v>
                </c:pt>
                <c:pt idx="46">
                  <c:v>1623.8</c:v>
                </c:pt>
                <c:pt idx="47">
                  <c:v>1661.88</c:v>
                </c:pt>
                <c:pt idx="48">
                  <c:v>1668.87</c:v>
                </c:pt>
                <c:pt idx="49">
                  <c:v>1628.5</c:v>
                </c:pt>
                <c:pt idx="50">
                  <c:v>1652.3</c:v>
                </c:pt>
                <c:pt idx="51">
                  <c:v>1645.13</c:v>
                </c:pt>
                <c:pt idx="52">
                  <c:v>1606.38</c:v>
                </c:pt>
                <c:pt idx="53">
                  <c:v>1588.32</c:v>
                </c:pt>
                <c:pt idx="54">
                  <c:v>1635.96</c:v>
                </c:pt>
                <c:pt idx="55">
                  <c:v>1627.02</c:v>
                </c:pt>
                <c:pt idx="56">
                  <c:v>1629.9</c:v>
                </c:pt>
                <c:pt idx="57">
                  <c:v>1594.55</c:v>
                </c:pt>
                <c:pt idx="58">
                  <c:v>1619.31</c:v>
                </c:pt>
                <c:pt idx="59">
                  <c:v>1647.97</c:v>
                </c:pt>
                <c:pt idx="60">
                  <c:v>1673.48</c:v>
                </c:pt>
                <c:pt idx="61">
                  <c:v>1638.3</c:v>
                </c:pt>
                <c:pt idx="62">
                  <c:v>1614.19</c:v>
                </c:pt>
                <c:pt idx="63">
                  <c:v>1650.37</c:v>
                </c:pt>
                <c:pt idx="64">
                  <c:v>1623.32</c:v>
                </c:pt>
                <c:pt idx="65">
                  <c:v>1676.2</c:v>
                </c:pt>
                <c:pt idx="66">
                  <c:v>1650.48</c:v>
                </c:pt>
                <c:pt idx="67">
                  <c:v>1538.39</c:v>
                </c:pt>
                <c:pt idx="68">
                  <c:v>1622.45</c:v>
                </c:pt>
                <c:pt idx="69">
                  <c:v>1593.54</c:v>
                </c:pt>
                <c:pt idx="70">
                  <c:v>1618.59</c:v>
                </c:pt>
                <c:pt idx="71">
                  <c:v>1604.85</c:v>
                </c:pt>
                <c:pt idx="72">
                  <c:v>1612.44</c:v>
                </c:pt>
                <c:pt idx="73">
                  <c:v>1656.31</c:v>
                </c:pt>
                <c:pt idx="74">
                  <c:v>1564.87</c:v>
                </c:pt>
                <c:pt idx="75">
                  <c:v>1633.6</c:v>
                </c:pt>
                <c:pt idx="76">
                  <c:v>1637.69</c:v>
                </c:pt>
                <c:pt idx="77">
                  <c:v>1618.84</c:v>
                </c:pt>
                <c:pt idx="78">
                  <c:v>1635.7</c:v>
                </c:pt>
                <c:pt idx="79">
                  <c:v>1559.4</c:v>
                </c:pt>
                <c:pt idx="80">
                  <c:v>1591.6</c:v>
                </c:pt>
                <c:pt idx="81">
                  <c:v>1663.99</c:v>
                </c:pt>
                <c:pt idx="82">
                  <c:v>1600.13</c:v>
                </c:pt>
                <c:pt idx="83">
                  <c:v>1600.83</c:v>
                </c:pt>
                <c:pt idx="84">
                  <c:v>1583.19</c:v>
                </c:pt>
                <c:pt idx="85">
                  <c:v>1604.05</c:v>
                </c:pt>
                <c:pt idx="86">
                  <c:v>1614.64</c:v>
                </c:pt>
                <c:pt idx="87">
                  <c:v>1595.45</c:v>
                </c:pt>
                <c:pt idx="88">
                  <c:v>1623.36</c:v>
                </c:pt>
                <c:pt idx="89">
                  <c:v>1605.04</c:v>
                </c:pt>
                <c:pt idx="90">
                  <c:v>1561.46</c:v>
                </c:pt>
                <c:pt idx="91">
                  <c:v>1601.44</c:v>
                </c:pt>
                <c:pt idx="92">
                  <c:v>1652.4</c:v>
                </c:pt>
                <c:pt idx="93">
                  <c:v>1595.54</c:v>
                </c:pt>
                <c:pt idx="94">
                  <c:v>1602.53</c:v>
                </c:pt>
                <c:pt idx="95">
                  <c:v>1575.37</c:v>
                </c:pt>
                <c:pt idx="96">
                  <c:v>1591.03</c:v>
                </c:pt>
                <c:pt idx="97">
                  <c:v>1590.64</c:v>
                </c:pt>
                <c:pt idx="98">
                  <c:v>1586.87</c:v>
                </c:pt>
                <c:pt idx="99">
                  <c:v>1604.04</c:v>
                </c:pt>
                <c:pt idx="100">
                  <c:v>1580.37</c:v>
                </c:pt>
                <c:pt idx="101">
                  <c:v>1575.79</c:v>
                </c:pt>
                <c:pt idx="102">
                  <c:v>1615.5</c:v>
                </c:pt>
                <c:pt idx="103">
                  <c:v>1515.26</c:v>
                </c:pt>
                <c:pt idx="104">
                  <c:v>1589.02</c:v>
                </c:pt>
                <c:pt idx="105">
                  <c:v>1592.67</c:v>
                </c:pt>
                <c:pt idx="106">
                  <c:v>1556.71</c:v>
                </c:pt>
                <c:pt idx="107">
                  <c:v>1590.89</c:v>
                </c:pt>
                <c:pt idx="108">
                  <c:v>1599.39</c:v>
                </c:pt>
                <c:pt idx="109">
                  <c:v>1606.02</c:v>
                </c:pt>
                <c:pt idx="110">
                  <c:v>1534.18</c:v>
                </c:pt>
                <c:pt idx="111">
                  <c:v>1558.53</c:v>
                </c:pt>
                <c:pt idx="112">
                  <c:v>1589.12</c:v>
                </c:pt>
                <c:pt idx="113">
                  <c:v>1551.01</c:v>
                </c:pt>
                <c:pt idx="114">
                  <c:v>1543.68</c:v>
                </c:pt>
                <c:pt idx="115">
                  <c:v>1616.48</c:v>
                </c:pt>
                <c:pt idx="116">
                  <c:v>1576.43</c:v>
                </c:pt>
                <c:pt idx="117">
                  <c:v>1583.39</c:v>
                </c:pt>
                <c:pt idx="118">
                  <c:v>1594.1</c:v>
                </c:pt>
                <c:pt idx="119">
                  <c:v>1580.42</c:v>
                </c:pt>
                <c:pt idx="120">
                  <c:v>1536.28</c:v>
                </c:pt>
                <c:pt idx="121">
                  <c:v>1575.91</c:v>
                </c:pt>
                <c:pt idx="122">
                  <c:v>1585.99</c:v>
                </c:pt>
                <c:pt idx="123">
                  <c:v>1578.07</c:v>
                </c:pt>
                <c:pt idx="124">
                  <c:v>1608.02</c:v>
                </c:pt>
                <c:pt idx="125">
                  <c:v>1607.68</c:v>
                </c:pt>
                <c:pt idx="126">
                  <c:v>1591.5</c:v>
                </c:pt>
                <c:pt idx="127">
                  <c:v>1670.06</c:v>
                </c:pt>
                <c:pt idx="128">
                  <c:v>1583.84</c:v>
                </c:pt>
                <c:pt idx="129">
                  <c:v>1599.37</c:v>
                </c:pt>
                <c:pt idx="130">
                  <c:v>1579.44</c:v>
                </c:pt>
                <c:pt idx="131">
                  <c:v>1578.63</c:v>
                </c:pt>
                <c:pt idx="132">
                  <c:v>1567.57</c:v>
                </c:pt>
                <c:pt idx="133">
                  <c:v>1622.74</c:v>
                </c:pt>
                <c:pt idx="134">
                  <c:v>1586.82</c:v>
                </c:pt>
                <c:pt idx="135">
                  <c:v>1564.1</c:v>
                </c:pt>
                <c:pt idx="136">
                  <c:v>1557.56</c:v>
                </c:pt>
                <c:pt idx="137">
                  <c:v>1559.55</c:v>
                </c:pt>
                <c:pt idx="138">
                  <c:v>1578.91</c:v>
                </c:pt>
                <c:pt idx="139">
                  <c:v>1583.87</c:v>
                </c:pt>
                <c:pt idx="140">
                  <c:v>1621.93</c:v>
                </c:pt>
                <c:pt idx="141">
                  <c:v>1580.53</c:v>
                </c:pt>
                <c:pt idx="142">
                  <c:v>1523.76</c:v>
                </c:pt>
                <c:pt idx="143">
                  <c:v>1605.39</c:v>
                </c:pt>
                <c:pt idx="144">
                  <c:v>1494.85</c:v>
                </c:pt>
                <c:pt idx="145">
                  <c:v>1602.09</c:v>
                </c:pt>
                <c:pt idx="146">
                  <c:v>1562.94</c:v>
                </c:pt>
                <c:pt idx="147">
                  <c:v>1590.76</c:v>
                </c:pt>
                <c:pt idx="148">
                  <c:v>1571.19</c:v>
                </c:pt>
                <c:pt idx="149">
                  <c:v>1545.57</c:v>
                </c:pt>
                <c:pt idx="150">
                  <c:v>1593.41</c:v>
                </c:pt>
                <c:pt idx="151">
                  <c:v>1547.31</c:v>
                </c:pt>
                <c:pt idx="152">
                  <c:v>1592.46</c:v>
                </c:pt>
                <c:pt idx="153">
                  <c:v>1558.35</c:v>
                </c:pt>
                <c:pt idx="154">
                  <c:v>1546.01</c:v>
                </c:pt>
                <c:pt idx="155">
                  <c:v>1538.15</c:v>
                </c:pt>
                <c:pt idx="156">
                  <c:v>1557.57</c:v>
                </c:pt>
                <c:pt idx="157">
                  <c:v>1552.69</c:v>
                </c:pt>
                <c:pt idx="158">
                  <c:v>1559.74</c:v>
                </c:pt>
                <c:pt idx="159">
                  <c:v>1554.86</c:v>
                </c:pt>
                <c:pt idx="160">
                  <c:v>1561.32</c:v>
                </c:pt>
                <c:pt idx="161">
                  <c:v>1576.39</c:v>
                </c:pt>
                <c:pt idx="162">
                  <c:v>1565.27</c:v>
                </c:pt>
                <c:pt idx="163">
                  <c:v>1546.36</c:v>
                </c:pt>
                <c:pt idx="164">
                  <c:v>1536.23</c:v>
                </c:pt>
                <c:pt idx="165">
                  <c:v>1566.26</c:v>
                </c:pt>
                <c:pt idx="166">
                  <c:v>1592.8</c:v>
                </c:pt>
                <c:pt idx="167">
                  <c:v>1597.53</c:v>
                </c:pt>
                <c:pt idx="168">
                  <c:v>1545.19</c:v>
                </c:pt>
                <c:pt idx="169">
                  <c:v>1591.17</c:v>
                </c:pt>
                <c:pt idx="170">
                  <c:v>1596.44</c:v>
                </c:pt>
                <c:pt idx="171">
                  <c:v>1545.71</c:v>
                </c:pt>
                <c:pt idx="172">
                  <c:v>1565.97</c:v>
                </c:pt>
                <c:pt idx="173">
                  <c:v>1598.24</c:v>
                </c:pt>
                <c:pt idx="174">
                  <c:v>1553.92</c:v>
                </c:pt>
                <c:pt idx="175">
                  <c:v>1559.3</c:v>
                </c:pt>
                <c:pt idx="176">
                  <c:v>1559.78</c:v>
                </c:pt>
                <c:pt idx="177">
                  <c:v>1584.61</c:v>
                </c:pt>
                <c:pt idx="178">
                  <c:v>1575.27</c:v>
                </c:pt>
                <c:pt idx="179">
                  <c:v>1553.82</c:v>
                </c:pt>
                <c:pt idx="180">
                  <c:v>1527.42</c:v>
                </c:pt>
                <c:pt idx="181">
                  <c:v>1566.54</c:v>
                </c:pt>
                <c:pt idx="182">
                  <c:v>1539.96</c:v>
                </c:pt>
                <c:pt idx="183">
                  <c:v>1558.81</c:v>
                </c:pt>
                <c:pt idx="184">
                  <c:v>1563.75</c:v>
                </c:pt>
                <c:pt idx="185">
                  <c:v>1534.26</c:v>
                </c:pt>
                <c:pt idx="186">
                  <c:v>1572.9</c:v>
                </c:pt>
                <c:pt idx="187">
                  <c:v>1540.89</c:v>
                </c:pt>
                <c:pt idx="188">
                  <c:v>1573.59</c:v>
                </c:pt>
                <c:pt idx="189">
                  <c:v>1557.73</c:v>
                </c:pt>
                <c:pt idx="190">
                  <c:v>1522.56</c:v>
                </c:pt>
                <c:pt idx="191">
                  <c:v>1545.94</c:v>
                </c:pt>
                <c:pt idx="192">
                  <c:v>1574.43</c:v>
                </c:pt>
                <c:pt idx="193">
                  <c:v>1510.25</c:v>
                </c:pt>
                <c:pt idx="194">
                  <c:v>1565.98</c:v>
                </c:pt>
                <c:pt idx="195">
                  <c:v>1512.88</c:v>
                </c:pt>
                <c:pt idx="196">
                  <c:v>1566.98</c:v>
                </c:pt>
                <c:pt idx="197">
                  <c:v>1575.09</c:v>
                </c:pt>
                <c:pt idx="198">
                  <c:v>1578.17</c:v>
                </c:pt>
                <c:pt idx="199">
                  <c:v>1518.95</c:v>
                </c:pt>
                <c:pt idx="200">
                  <c:v>1530.62</c:v>
                </c:pt>
                <c:pt idx="201">
                  <c:v>1541.67</c:v>
                </c:pt>
                <c:pt idx="202">
                  <c:v>1539.31</c:v>
                </c:pt>
                <c:pt idx="203">
                  <c:v>1547.99</c:v>
                </c:pt>
                <c:pt idx="204">
                  <c:v>1549.33</c:v>
                </c:pt>
                <c:pt idx="205">
                  <c:v>1559.69</c:v>
                </c:pt>
                <c:pt idx="206">
                  <c:v>1544.47</c:v>
                </c:pt>
                <c:pt idx="207">
                  <c:v>1559.5</c:v>
                </c:pt>
                <c:pt idx="208">
                  <c:v>1531.21</c:v>
                </c:pt>
                <c:pt idx="209">
                  <c:v>1540.68</c:v>
                </c:pt>
                <c:pt idx="210">
                  <c:v>1530.2</c:v>
                </c:pt>
                <c:pt idx="211">
                  <c:v>1552.51</c:v>
                </c:pt>
                <c:pt idx="212">
                  <c:v>1542.88</c:v>
                </c:pt>
                <c:pt idx="213">
                  <c:v>1540.61</c:v>
                </c:pt>
                <c:pt idx="214">
                  <c:v>1549.11</c:v>
                </c:pt>
                <c:pt idx="215">
                  <c:v>1536.61</c:v>
                </c:pt>
                <c:pt idx="216">
                  <c:v>1548.73</c:v>
                </c:pt>
                <c:pt idx="217">
                  <c:v>1540.6</c:v>
                </c:pt>
                <c:pt idx="218">
                  <c:v>1546.91</c:v>
                </c:pt>
                <c:pt idx="219">
                  <c:v>1535.38</c:v>
                </c:pt>
                <c:pt idx="220">
                  <c:v>1520.7</c:v>
                </c:pt>
                <c:pt idx="221">
                  <c:v>1509.68</c:v>
                </c:pt>
                <c:pt idx="222">
                  <c:v>1552.11</c:v>
                </c:pt>
                <c:pt idx="223">
                  <c:v>1536.37</c:v>
                </c:pt>
                <c:pt idx="224">
                  <c:v>1542.66</c:v>
                </c:pt>
                <c:pt idx="225">
                  <c:v>1540.99</c:v>
                </c:pt>
                <c:pt idx="226">
                  <c:v>1566.92</c:v>
                </c:pt>
                <c:pt idx="227">
                  <c:v>1542.07</c:v>
                </c:pt>
                <c:pt idx="228">
                  <c:v>1489.8</c:v>
                </c:pt>
                <c:pt idx="229">
                  <c:v>1545.6</c:v>
                </c:pt>
                <c:pt idx="230">
                  <c:v>1556.93</c:v>
                </c:pt>
                <c:pt idx="231">
                  <c:v>1575.72</c:v>
                </c:pt>
                <c:pt idx="232">
                  <c:v>1550.75</c:v>
                </c:pt>
                <c:pt idx="233">
                  <c:v>1551.43</c:v>
                </c:pt>
                <c:pt idx="234">
                  <c:v>1522.08</c:v>
                </c:pt>
                <c:pt idx="235">
                  <c:v>1575.04</c:v>
                </c:pt>
                <c:pt idx="236">
                  <c:v>1540.62</c:v>
                </c:pt>
                <c:pt idx="237">
                  <c:v>1539.78</c:v>
                </c:pt>
                <c:pt idx="238">
                  <c:v>1569.5</c:v>
                </c:pt>
                <c:pt idx="239">
                  <c:v>1532.03</c:v>
                </c:pt>
                <c:pt idx="240">
                  <c:v>1549.29</c:v>
                </c:pt>
                <c:pt idx="241">
                  <c:v>1544.49</c:v>
                </c:pt>
                <c:pt idx="242">
                  <c:v>1556.36</c:v>
                </c:pt>
                <c:pt idx="243">
                  <c:v>1533.36</c:v>
                </c:pt>
                <c:pt idx="244">
                  <c:v>1537.99</c:v>
                </c:pt>
                <c:pt idx="245">
                  <c:v>1545.08</c:v>
                </c:pt>
                <c:pt idx="246">
                  <c:v>1567.37</c:v>
                </c:pt>
                <c:pt idx="247">
                  <c:v>1516.9</c:v>
                </c:pt>
                <c:pt idx="248">
                  <c:v>1558.8</c:v>
                </c:pt>
                <c:pt idx="249">
                  <c:v>1530.81</c:v>
                </c:pt>
                <c:pt idx="250">
                  <c:v>1567.09</c:v>
                </c:pt>
                <c:pt idx="251">
                  <c:v>1548.89</c:v>
                </c:pt>
                <c:pt idx="252">
                  <c:v>1516.95</c:v>
                </c:pt>
                <c:pt idx="253">
                  <c:v>1545.04</c:v>
                </c:pt>
                <c:pt idx="254">
                  <c:v>1507.04</c:v>
                </c:pt>
                <c:pt idx="255">
                  <c:v>1488.45</c:v>
                </c:pt>
                <c:pt idx="256">
                  <c:v>1493.05</c:v>
                </c:pt>
                <c:pt idx="257">
                  <c:v>1482.55</c:v>
                </c:pt>
                <c:pt idx="258">
                  <c:v>1542.2</c:v>
                </c:pt>
                <c:pt idx="259">
                  <c:v>1545.31</c:v>
                </c:pt>
                <c:pt idx="260">
                  <c:v>1516.37</c:v>
                </c:pt>
                <c:pt idx="261">
                  <c:v>1519.84</c:v>
                </c:pt>
                <c:pt idx="262">
                  <c:v>1550.74</c:v>
                </c:pt>
                <c:pt idx="263">
                  <c:v>1548.49</c:v>
                </c:pt>
                <c:pt idx="264">
                  <c:v>1536.72</c:v>
                </c:pt>
                <c:pt idx="265">
                  <c:v>1537.6</c:v>
                </c:pt>
                <c:pt idx="266">
                  <c:v>1490.93</c:v>
                </c:pt>
                <c:pt idx="267">
                  <c:v>1544.94</c:v>
                </c:pt>
                <c:pt idx="268">
                  <c:v>1532.99</c:v>
                </c:pt>
                <c:pt idx="269">
                  <c:v>1527.45</c:v>
                </c:pt>
                <c:pt idx="270">
                  <c:v>1520.33</c:v>
                </c:pt>
                <c:pt idx="271">
                  <c:v>1546.3</c:v>
                </c:pt>
                <c:pt idx="272">
                  <c:v>1538.71</c:v>
                </c:pt>
                <c:pt idx="273">
                  <c:v>1522.56</c:v>
                </c:pt>
                <c:pt idx="274">
                  <c:v>1508.55</c:v>
                </c:pt>
                <c:pt idx="275">
                  <c:v>1586.42</c:v>
                </c:pt>
                <c:pt idx="276">
                  <c:v>1530.2</c:v>
                </c:pt>
                <c:pt idx="277">
                  <c:v>1509.71</c:v>
                </c:pt>
                <c:pt idx="278">
                  <c:v>1552.45</c:v>
                </c:pt>
                <c:pt idx="279">
                  <c:v>1515.53</c:v>
                </c:pt>
                <c:pt idx="280">
                  <c:v>1543.38</c:v>
                </c:pt>
                <c:pt idx="281">
                  <c:v>1517.77</c:v>
                </c:pt>
                <c:pt idx="282">
                  <c:v>1525.6</c:v>
                </c:pt>
                <c:pt idx="283">
                  <c:v>1571.37</c:v>
                </c:pt>
                <c:pt idx="284">
                  <c:v>1529.38</c:v>
                </c:pt>
                <c:pt idx="285">
                  <c:v>1537.52</c:v>
                </c:pt>
                <c:pt idx="286">
                  <c:v>1497.5</c:v>
                </c:pt>
                <c:pt idx="287">
                  <c:v>1517</c:v>
                </c:pt>
                <c:pt idx="288">
                  <c:v>1521.98</c:v>
                </c:pt>
                <c:pt idx="289">
                  <c:v>1494.6</c:v>
                </c:pt>
                <c:pt idx="290">
                  <c:v>1546.99</c:v>
                </c:pt>
                <c:pt idx="291">
                  <c:v>1524.65</c:v>
                </c:pt>
                <c:pt idx="292">
                  <c:v>1538.79</c:v>
                </c:pt>
                <c:pt idx="293">
                  <c:v>1519.08</c:v>
                </c:pt>
                <c:pt idx="294">
                  <c:v>1499.81</c:v>
                </c:pt>
                <c:pt idx="295">
                  <c:v>1540.29</c:v>
                </c:pt>
                <c:pt idx="296">
                  <c:v>1528.69</c:v>
                </c:pt>
                <c:pt idx="297">
                  <c:v>1543.01</c:v>
                </c:pt>
                <c:pt idx="298">
                  <c:v>1502.19</c:v>
                </c:pt>
                <c:pt idx="299">
                  <c:v>1523.59</c:v>
                </c:pt>
                <c:pt idx="300">
                  <c:v>1552.68</c:v>
                </c:pt>
                <c:pt idx="301">
                  <c:v>1512.89</c:v>
                </c:pt>
                <c:pt idx="302">
                  <c:v>1525.19</c:v>
                </c:pt>
                <c:pt idx="303">
                  <c:v>1549.57</c:v>
                </c:pt>
                <c:pt idx="304">
                  <c:v>1562.79</c:v>
                </c:pt>
                <c:pt idx="305">
                  <c:v>1538.65</c:v>
                </c:pt>
                <c:pt idx="306">
                  <c:v>1549.9</c:v>
                </c:pt>
                <c:pt idx="307">
                  <c:v>1540.95</c:v>
                </c:pt>
                <c:pt idx="308">
                  <c:v>1515.21</c:v>
                </c:pt>
                <c:pt idx="309">
                  <c:v>1528.51</c:v>
                </c:pt>
                <c:pt idx="310">
                  <c:v>1537.18</c:v>
                </c:pt>
                <c:pt idx="311">
                  <c:v>1507.14</c:v>
                </c:pt>
                <c:pt idx="312">
                  <c:v>1525.17</c:v>
                </c:pt>
                <c:pt idx="313">
                  <c:v>1506.18</c:v>
                </c:pt>
                <c:pt idx="314">
                  <c:v>1523.1</c:v>
                </c:pt>
                <c:pt idx="315">
                  <c:v>1521.35</c:v>
                </c:pt>
                <c:pt idx="316">
                  <c:v>1540.86</c:v>
                </c:pt>
                <c:pt idx="317">
                  <c:v>1521.35</c:v>
                </c:pt>
                <c:pt idx="318">
                  <c:v>1524.26</c:v>
                </c:pt>
                <c:pt idx="319">
                  <c:v>1505.82</c:v>
                </c:pt>
                <c:pt idx="320">
                  <c:v>1503.07</c:v>
                </c:pt>
                <c:pt idx="321">
                  <c:v>1487.85</c:v>
                </c:pt>
                <c:pt idx="322">
                  <c:v>1532.6</c:v>
                </c:pt>
                <c:pt idx="323">
                  <c:v>1578.37</c:v>
                </c:pt>
                <c:pt idx="324">
                  <c:v>1547.51</c:v>
                </c:pt>
                <c:pt idx="325">
                  <c:v>1537.04</c:v>
                </c:pt>
                <c:pt idx="326">
                  <c:v>1516.76</c:v>
                </c:pt>
                <c:pt idx="327">
                  <c:v>1537.47</c:v>
                </c:pt>
                <c:pt idx="328">
                  <c:v>1527.03</c:v>
                </c:pt>
                <c:pt idx="329">
                  <c:v>1506.16</c:v>
                </c:pt>
                <c:pt idx="330">
                  <c:v>1528.74</c:v>
                </c:pt>
                <c:pt idx="331">
                  <c:v>1523.96</c:v>
                </c:pt>
                <c:pt idx="332">
                  <c:v>1514.92</c:v>
                </c:pt>
                <c:pt idx="333">
                  <c:v>1494.11</c:v>
                </c:pt>
                <c:pt idx="334">
                  <c:v>1508.29</c:v>
                </c:pt>
                <c:pt idx="335">
                  <c:v>1581.3</c:v>
                </c:pt>
                <c:pt idx="336">
                  <c:v>1492.48</c:v>
                </c:pt>
                <c:pt idx="337">
                  <c:v>1497.33</c:v>
                </c:pt>
                <c:pt idx="338">
                  <c:v>1519.26</c:v>
                </c:pt>
                <c:pt idx="339">
                  <c:v>1547.36</c:v>
                </c:pt>
                <c:pt idx="340">
                  <c:v>1504.87</c:v>
                </c:pt>
                <c:pt idx="341">
                  <c:v>1517.23</c:v>
                </c:pt>
                <c:pt idx="342">
                  <c:v>1505.72</c:v>
                </c:pt>
              </c:numCache>
            </c:numRef>
          </c:yVal>
          <c:smooth val="0"/>
        </c:ser>
        <c:dLbls>
          <c:numFmt formatCode="General" sourceLinked="0"/>
          <c:txPr>
            <a:bodyPr/>
            <a:lstStyle/>
            <a:p>
              <a:pPr>
                <a:defRPr b="0" i="0" strike="noStrike" sz="1100" u="none">
                  <a:solidFill>
                    <a:srgbClr val="1F2933"/>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63"/>
          <c:min val="47"/>
        </c:scaling>
        <c:delete val="0"/>
        <c:axPos val="b"/>
        <c:title>
          <c:tx>
            <c:rich>
              <a:bodyPr/>
              <a:lstStyle/>
              <a:p>
                <a:pPr>
                  <a:defRPr sz="1100" b="0" i="0" u="none" strike="noStrike">
                    <a:solidFill>
                      <a:srgbClr val="56616E"/>
                    </a:solidFill>
                    <a:latin typeface="+mn-lt"/>
                  </a:defRPr>
                </a:pPr>
                <a:r>
                  <a:rPr sz="1100" b="0" i="0" u="none" strike="noStrike">
                    <a:solidFill>
                      <a:srgbClr val="56616E"/>
                    </a:solidFill>
                    <a:latin typeface="+mn-lt"/>
                  </a:rPr>
                  <a:t>Draw, t/day</a:t>
                </a:r>
              </a:p>
            </c:rich>
          </c:tx>
          <c:layout/>
          <c:overlay val="0"/>
        </c:title>
        <c:numFmt formatCode="#,##0" sourceLinked="1"/>
        <c:majorTickMark val="none"/>
        <c:minorTickMark val="none"/>
        <c:tickLblPos val="nextTo"/>
        <c:spPr>
          <a:ln w="12700" cap="flat">
            <a:solidFill>
              <a:srgbClr val="C5CCD5"/>
            </a:solidFill>
            <a:prstDash val="solid"/>
            <a:round/>
          </a:ln>
        </c:spPr>
        <c:txPr>
          <a:bodyPr/>
          <a:lstStyle/>
          <a:p>
            <a:pPr>
              <a:defRPr sz="1100" b="0" i="0" u="none" strike="noStrike">
                <a:solidFill>
                  <a:srgbClr val="56616E"/>
                </a:solidFill>
                <a:latin typeface="+mn-lt"/>
              </a:defRPr>
            </a:pPr>
            <a:endParaRPr lang="en-US"/>
          </a:p>
        </c:txPr>
        <c:crossAx val="2094734552"/>
        <c:crosses val="autoZero"/>
        <c:auto val="1"/>
        <c:lblAlgn val="ctr"/>
        <c:noMultiLvlLbl val="1"/>
      </c:valAx>
      <c:valAx>
        <c:axId val="2094734552"/>
        <c:scaling>
          <c:orientation val="minMax"/>
          <c:max val="1800"/>
          <c:min val="1450"/>
        </c:scaling>
        <c:delete val="0"/>
        <c:axPos val="l"/>
        <c:majorGridlines>
          <c:spPr>
            <a:ln w="9525" cap="flat">
              <a:solidFill>
                <a:srgbClr val="E3E7EC"/>
              </a:solidFill>
              <a:prstDash val="solid"/>
              <a:round/>
            </a:ln>
          </c:spPr>
        </c:majorGridlines>
        <c:title>
          <c:tx>
            <c:rich>
              <a:bodyPr/>
              <a:lstStyle/>
              <a:p>
                <a:pPr>
                  <a:defRPr sz="1100" b="0" i="0" u="none" strike="noStrike">
                    <a:solidFill>
                      <a:srgbClr val="56616E"/>
                    </a:solidFill>
                    <a:latin typeface="+mn-lt"/>
                  </a:defRPr>
                </a:pPr>
                <a:r>
                  <a:rPr sz="1100" b="0" i="0" u="none" strike="noStrike">
                    <a:solidFill>
                      <a:srgbClr val="56616E"/>
                    </a:solidFill>
                    <a:latin typeface="+mn-lt"/>
                  </a:rPr>
                  <a:t>SFC, kcal/kg</a:t>
                </a:r>
              </a:p>
            </c:rich>
          </c:tx>
          <c:layout/>
          <c:overlay val="0"/>
        </c:title>
        <c:numFmt formatCode="#,##0" sourceLinked="0"/>
        <c:majorTickMark val="none"/>
        <c:minorTickMark val="none"/>
        <c:tickLblPos val="nextTo"/>
        <c:spPr>
          <a:ln w="12700" cap="flat">
            <a:noFill/>
            <a:prstDash val="solid"/>
            <a:round/>
          </a:ln>
        </c:spPr>
        <c:txPr>
          <a:bodyPr/>
          <a:lstStyle/>
          <a:p>
            <a:pPr>
              <a:defRPr sz="1100" b="0" i="0" u="none" strike="noStrike">
                <a:solidFill>
                  <a:srgbClr val="56616E"/>
                </a:solidFill>
                <a:latin typeface="+mn-lt"/>
              </a:defRPr>
            </a:pPr>
            <a:endParaRPr lang="en-US"/>
          </a:p>
        </c:txPr>
        <c:crossAx val="2094734554"/>
        <c:crosses val="autoZero"/>
        <c:crossBetween val="midCat"/>
        <c:majorUnit val="50"/>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Average SFC per draw band, kcal/kg</a:t>
            </a:r>
          </a:p>
        </c:rich>
      </c:tx>
      <c:layout/>
      <c:overlay val="0"/>
    </c:title>
    <c:autoTitleDeleted val="0"/>
    <c:plotArea>
      <c:layout/>
      <c:barChart>
        <c:barDir val="col"/>
        <c:grouping val="clustered"/>
        <c:varyColors val="0"/>
        <c:ser>
          <c:idx val="0"/>
          <c:order val="0"/>
          <c:tx>
            <c:strRef>
              <c:f>Sheet1!$B$1</c:f>
              <c:strCache>
                <c:ptCount val="1"/>
                <c:pt idx="0">
                  <c:v>SFC</c:v>
                </c:pt>
              </c:strCache>
            </c:strRef>
          </c:tx>
          <c:spPr>
            <a:solidFill>
              <a:srgbClr val="2A78D6"/>
            </a:solidFill>
            <a:effectLst/>
          </c:spPr>
          <c:invertIfNegative val="0"/>
          <c:dLbls>
            <c:numFmt formatCode="#,##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cat>
            <c:multiLvlStrRef>
              <c:f>Sheet1!$A$2:$A$5</c:f>
              <c:multiLvlStrCache>
                <c:ptCount val="4"/>
                <c:lvl>
                  <c:pt idx="0">
                    <c:v>45-50 t</c:v>
                  </c:pt>
                  <c:pt idx="1">
                    <c:v>50-55 t</c:v>
                  </c:pt>
                  <c:pt idx="2">
                    <c:v>55-60 t</c:v>
                  </c:pt>
                  <c:pt idx="3">
                    <c:v>60-65 t</c:v>
                  </c:pt>
                </c:lvl>
              </c:multiLvlStrCache>
            </c:multiLvlStrRef>
          </c:cat>
          <c:val>
            <c:numRef>
              <c:f>Sheet1!$B$2:$B$5</c:f>
              <c:numCache>
                <c:formatCode>General</c:formatCode>
                <c:ptCount val="4"/>
                <c:pt idx="0">
                  <c:v>1763</c:v>
                </c:pt>
                <c:pt idx="1">
                  <c:v>1668</c:v>
                </c:pt>
                <c:pt idx="2">
                  <c:v>1570</c:v>
                </c:pt>
                <c:pt idx="3">
                  <c:v>1529</c:v>
                </c:pt>
              </c:numCache>
            </c:numRef>
          </c:val>
        </c:ser>
        <c:dLbls>
          <c:numFmt formatCode="#,##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5CCD5"/>
            </a:solidFill>
            <a:prstDash val="solid"/>
            <a:round/>
          </a:ln>
        </c:spPr>
        <c:txPr>
          <a:bodyPr/>
          <a:lstStyle/>
          <a:p>
            <a:pPr>
              <a:defRPr sz="1100" b="0" i="0" u="none" strike="noStrike">
                <a:solidFill>
                  <a:srgbClr val="56616E"/>
                </a:solidFill>
                <a:latin typeface="+mn-lt"/>
              </a:defRPr>
            </a:pPr>
            <a:endParaRPr lang="en-US"/>
          </a:p>
        </c:txPr>
        <c:crossAx val="2094734552"/>
        <c:crosses val="autoZero"/>
        <c:auto val="1"/>
        <c:lblAlgn val="ctr"/>
        <c:noMultiLvlLbl val="1"/>
      </c:catAx>
      <c:valAx>
        <c:axId val="2094734552"/>
        <c:scaling>
          <c:orientation val="minMax"/>
          <c:max val="1800"/>
          <c:min val="1400"/>
        </c:scaling>
        <c:delete val="0"/>
        <c:axPos val="l"/>
        <c:majorGridlines>
          <c:spPr>
            <a:ln w="9525" cap="flat">
              <a:solidFill>
                <a:srgbClr val="E3E7EC"/>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6616E"/>
                </a:solidFill>
                <a:latin typeface="+mn-lt"/>
              </a:defRPr>
            </a:pPr>
            <a:endParaRPr lang="en-US"/>
          </a:p>
        </c:txPr>
        <c:crossAx val="2094734554"/>
        <c:crosses val="autoZero"/>
        <c:crossBetween val="between"/>
        <c:majorUnit val="100"/>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Energy vs baseline model at the same draw and cullet, %</a:t>
            </a:r>
          </a:p>
        </c:rich>
      </c:tx>
      <c:layout/>
      <c:overlay val="0"/>
    </c:title>
    <c:autoTitleDeleted val="0"/>
    <c:plotArea>
      <c:layout/>
      <c:barChart>
        <c:barDir val="col"/>
        <c:grouping val="clustered"/>
        <c:varyColors val="0"/>
        <c:ser>
          <c:idx val="0"/>
          <c:order val="0"/>
          <c:tx>
            <c:strRef>
              <c:f>Sheet1!$B$1</c:f>
              <c:strCache>
                <c:ptCount val="1"/>
                <c:pt idx="0">
                  <c:v>Draw-adjusted</c:v>
                </c:pt>
              </c:strCache>
            </c:strRef>
          </c:tx>
          <c:spPr>
            <a:solidFill>
              <a:srgbClr val="EB6834"/>
            </a:solidFill>
            <a:effectLst/>
          </c:spPr>
          <c:invertIfNegative val="0"/>
          <c:dLbls>
            <c:numFmt formatCode="+0.0;-0.0;0.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EB6834"/>
              </a:solidFill>
              <a:effectLst/>
            </c:spPr>
          </c:dPt>
          <c:dPt>
            <c:idx val="2"/>
            <c:invertIfNegative val="0"/>
            <c:bubble3D val="0"/>
            <c:spPr>
              <a:solidFill>
                <a:srgbClr val="EB6834"/>
              </a:solidFill>
              <a:effectLst/>
            </c:spPr>
          </c:dPt>
          <c:dPt>
            <c:idx val="3"/>
            <c:invertIfNegative val="0"/>
            <c:bubble3D val="0"/>
            <c:spPr>
              <a:solidFill>
                <a:srgbClr val="2A78D6"/>
              </a:solidFill>
              <a:effectLst/>
            </c:spPr>
          </c:dPt>
          <c:dPt>
            <c:idx val="4"/>
            <c:invertIfNegative val="0"/>
            <c:bubble3D val="0"/>
            <c:spPr>
              <a:solidFill>
                <a:srgbClr val="2A78D6"/>
              </a:solidFill>
              <a:effectLst/>
            </c:spPr>
          </c:dPt>
          <c:dPt>
            <c:idx val="5"/>
            <c:invertIfNegative val="0"/>
            <c:bubble3D val="0"/>
            <c:spPr>
              <a:solidFill>
                <a:srgbClr val="EB6834"/>
              </a:solidFill>
              <a:effectLst/>
            </c:spPr>
          </c:dPt>
          <c:dPt>
            <c:idx val="6"/>
            <c:invertIfNegative val="0"/>
            <c:bubble3D val="0"/>
            <c:spPr>
              <a:solidFill>
                <a:srgbClr val="2A78D6"/>
              </a:solidFill>
              <a:effectLst/>
            </c:spPr>
          </c:dPt>
          <c:dPt>
            <c:idx val="7"/>
            <c:invertIfNegative val="0"/>
            <c:bubble3D val="0"/>
            <c:spPr>
              <a:solidFill>
                <a:srgbClr val="EB6834"/>
              </a:solidFill>
              <a:effectLst/>
            </c:spPr>
          </c:dPt>
          <c:dPt>
            <c:idx val="8"/>
            <c:invertIfNegative val="0"/>
            <c:bubble3D val="0"/>
            <c:spPr>
              <a:solidFill>
                <a:srgbClr val="EB6834"/>
              </a:solidFill>
              <a:effectLst/>
            </c:spPr>
          </c:dPt>
          <c:dPt>
            <c:idx val="9"/>
            <c:invertIfNegative val="0"/>
            <c:bubble3D val="0"/>
            <c:spPr>
              <a:solidFill>
                <a:srgbClr val="EB6834"/>
              </a:solidFill>
              <a:effectLst/>
            </c:spPr>
          </c:dPt>
          <c:dPt>
            <c:idx val="10"/>
            <c:invertIfNegative val="0"/>
            <c:bubble3D val="0"/>
            <c:spPr>
              <a:solidFill>
                <a:srgbClr val="EB6834"/>
              </a:solidFill>
              <a:effectLst/>
            </c:spPr>
          </c:dPt>
          <c:dPt>
            <c:idx val="11"/>
            <c:invertIfNegative val="0"/>
            <c:bubble3D val="0"/>
            <c:spPr>
              <a:solidFill>
                <a:srgbClr val="EB6834"/>
              </a:solidFill>
              <a:effectLst/>
            </c:spPr>
          </c:dPt>
          <c:cat>
            <c:multiLvlStrRef>
              <c:f>Sheet1!$A$2:$A$13</c:f>
              <c:multiLvlStrCache>
                <c:ptCount val="12"/>
                <c:lvl>
                  <c:pt idx="0">
                    <c:v>Oct 25</c:v>
                  </c:pt>
                  <c:pt idx="1">
                    <c:v>Nov 25</c:v>
                  </c:pt>
                  <c:pt idx="2">
                    <c:v>Dec 25</c:v>
                  </c:pt>
                  <c:pt idx="3">
                    <c:v>Jan 26</c:v>
                  </c:pt>
                  <c:pt idx="4">
                    <c:v>Feb 26</c:v>
                  </c:pt>
                  <c:pt idx="5">
                    <c:v>Mar 26</c:v>
                  </c:pt>
                  <c:pt idx="6">
                    <c:v>Apr 26</c:v>
                  </c:pt>
                  <c:pt idx="7">
                    <c:v>May 26</c:v>
                  </c:pt>
                  <c:pt idx="8">
                    <c:v>Jun 26</c:v>
                  </c:pt>
                  <c:pt idx="9">
                    <c:v>Jul 26</c:v>
                  </c:pt>
                  <c:pt idx="10">
                    <c:v>Aug 26</c:v>
                  </c:pt>
                  <c:pt idx="11">
                    <c:v>Sep 26</c:v>
                  </c:pt>
                </c:lvl>
              </c:multiLvlStrCache>
            </c:multiLvlStrRef>
          </c:cat>
          <c:val>
            <c:numRef>
              <c:f>Sheet1!$B$2:$B$13</c:f>
              <c:numCache>
                <c:formatCode>General</c:formatCode>
                <c:ptCount val="12"/>
                <c:pt idx="0">
                  <c:v>-2.1</c:v>
                </c:pt>
                <c:pt idx="1">
                  <c:v>0.3</c:v>
                </c:pt>
                <c:pt idx="2">
                  <c:v>0.4</c:v>
                </c:pt>
                <c:pt idx="3">
                  <c:v>-0.3</c:v>
                </c:pt>
                <c:pt idx="4">
                  <c:v>-0.3</c:v>
                </c:pt>
                <c:pt idx="5">
                  <c:v>0.1</c:v>
                </c:pt>
                <c:pt idx="6">
                  <c:v>-0.1</c:v>
                </c:pt>
                <c:pt idx="7">
                  <c:v>0</c:v>
                </c:pt>
                <c:pt idx="8">
                  <c:v>0.4</c:v>
                </c:pt>
                <c:pt idx="9">
                  <c:v>1.2</c:v>
                </c:pt>
                <c:pt idx="10">
                  <c:v>1.8</c:v>
                </c:pt>
                <c:pt idx="11">
                  <c:v>1.7</c:v>
                </c:pt>
              </c:numCache>
            </c:numRef>
          </c:val>
        </c:ser>
        <c:dLbls>
          <c:numFmt formatCode="+0.0;-0.0;0.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5CCD5"/>
            </a:solidFill>
            <a:prstDash val="solid"/>
            <a:round/>
          </a:ln>
        </c:spPr>
        <c:txPr>
          <a:bodyPr/>
          <a:lstStyle/>
          <a:p>
            <a:pPr>
              <a:defRPr sz="1100" b="0" i="0" u="none" strike="noStrike">
                <a:solidFill>
                  <a:srgbClr val="56616E"/>
                </a:solidFill>
                <a:latin typeface="+mn-lt"/>
              </a:defRPr>
            </a:pPr>
            <a:endParaRPr lang="en-US"/>
          </a:p>
        </c:txPr>
        <c:crossAx val="2094734552"/>
        <c:crosses val="autoZero"/>
        <c:auto val="1"/>
        <c:lblAlgn val="ctr"/>
        <c:noMultiLvlLbl val="1"/>
      </c:catAx>
      <c:valAx>
        <c:axId val="2094734552"/>
        <c:scaling>
          <c:orientation val="minMax"/>
          <c:max val="2.5"/>
          <c:min val="-2.5"/>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56616E"/>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Share of the needed NG correction made after an NCV change, %</a:t>
            </a:r>
          </a:p>
        </c:rich>
      </c:tx>
      <c:layout/>
      <c:overlay val="0"/>
    </c:title>
    <c:autoTitleDeleted val="0"/>
    <c:plotArea>
      <c:layout/>
      <c:barChart>
        <c:barDir val="col"/>
        <c:grouping val="clustered"/>
        <c:varyColors val="0"/>
        <c:ser>
          <c:idx val="0"/>
          <c:order val="0"/>
          <c:tx>
            <c:strRef>
              <c:f>Sheet1!$B$1</c:f>
              <c:strCache>
                <c:ptCount val="1"/>
                <c:pt idx="0">
                  <c:v>Correction</c:v>
                </c:pt>
              </c:strCache>
            </c:strRef>
          </c:tx>
          <c:spPr>
            <a:solidFill>
              <a:srgbClr val="2A78D6"/>
            </a:solidFill>
            <a:effectLst/>
          </c:spPr>
          <c:invertIfNegative val="0"/>
          <c:dLbls>
            <c:numFmt formatCode="0&quot;%&quot;"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cat>
            <c:multiLvlStrRef>
              <c:f>Sheet1!$A$2:$A$5</c:f>
              <c:multiLvlStrCache>
                <c:ptCount val="4"/>
                <c:lvl>
                  <c:pt idx="0">
                    <c:v>Same hour</c:v>
                  </c:pt>
                  <c:pt idx="1">
                    <c:v>After 1 h</c:v>
                  </c:pt>
                  <c:pt idx="2">
                    <c:v>After 2 h</c:v>
                  </c:pt>
                  <c:pt idx="3">
                    <c:v>Later</c:v>
                  </c:pt>
                </c:lvl>
              </c:multiLvlStrCache>
            </c:multiLvlStrRef>
          </c:cat>
          <c:val>
            <c:numRef>
              <c:f>Sheet1!$B$2:$B$5</c:f>
              <c:numCache>
                <c:formatCode>General</c:formatCode>
                <c:ptCount val="4"/>
                <c:pt idx="0">
                  <c:v>17</c:v>
                </c:pt>
                <c:pt idx="1">
                  <c:v>73</c:v>
                </c:pt>
                <c:pt idx="2">
                  <c:v>89</c:v>
                </c:pt>
                <c:pt idx="3">
                  <c:v>80</c:v>
                </c:pt>
              </c:numCache>
            </c:numRef>
          </c:val>
        </c:ser>
        <c:dLbls>
          <c:numFmt formatCode="0&quot;%&quot;"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5CCD5"/>
            </a:solidFill>
            <a:prstDash val="solid"/>
            <a:round/>
          </a:ln>
        </c:spPr>
        <c:txPr>
          <a:bodyPr/>
          <a:lstStyle/>
          <a:p>
            <a:pPr>
              <a:defRPr sz="1100" b="0" i="0" u="none" strike="noStrike">
                <a:solidFill>
                  <a:srgbClr val="56616E"/>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E3E7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6616E"/>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MB3 rise after a +100 kWh/h step in barrier boost, °C</a:t>
            </a:r>
          </a:p>
        </c:rich>
      </c:tx>
      <c:layout/>
      <c:overlay val="0"/>
    </c:title>
    <c:autoTitleDeleted val="0"/>
    <c:plotArea>
      <c:layout/>
      <c:lineChart>
        <c:varyColors val="0"/>
        <c:ser>
          <c:idx val="0"/>
          <c:order val="0"/>
          <c:tx>
            <c:strRef>
              <c:f>Sheet1!$B$1</c:f>
              <c:strCache>
                <c:ptCount val="1"/>
                <c:pt idx="0">
                  <c:v>MB3 response</c:v>
                </c:pt>
              </c:strCache>
            </c:strRef>
          </c:tx>
          <c:spPr>
            <a:solidFill>
              <a:srgbClr val="EB6834"/>
            </a:solidFill>
            <a:ln w="38100" cap="flat">
              <a:solidFill>
                <a:srgbClr val="EB6834"/>
              </a:solidFill>
              <a:prstDash val="solid"/>
              <a:round/>
            </a:ln>
            <a:effectLst/>
          </c:spPr>
          <c:invertIfNegative val="0"/>
          <c:dLbls>
            <c:numFmt formatCode="#,##0" sourceLinked="0"/>
            <c:txPr>
              <a:bodyPr/>
              <a:lstStyle/>
              <a:p>
                <a:pPr>
                  <a:defRPr b="0" i="0" strike="noStrike" sz="1100" u="none">
                    <a:solidFill>
                      <a:srgbClr val="1F2933"/>
                    </a:solidFill>
                    <a:latin typeface="+mn-lt"/>
                  </a:defRPr>
                </a:pPr>
              </a:p>
            </c:txPr>
            <c:showLegendKey val="0"/>
            <c:showVal val="0"/>
            <c:showCatName val="0"/>
            <c:showSerName val="0"/>
            <c:showPercent val="0"/>
            <c:showBubbleSize val="0"/>
            <c:showLeaderLines val="0"/>
          </c:dLbls>
          <c:marker>
            <c:symbol val="circle"/>
            <c:size val="7"/>
            <c:spPr>
              <a:solidFill>
                <a:srgbClr val="EB6834"/>
              </a:solidFill>
              <a:ln w="9525" cap="flat">
                <a:solidFill>
                  <a:srgbClr val="EB6834"/>
                </a:solidFill>
                <a:prstDash val="solid"/>
                <a:round/>
              </a:ln>
              <a:effectLst/>
            </c:spPr>
          </c:marker>
          <c:cat>
            <c:multiLvlStrRef>
              <c:f>Sheet1!$A$2:$A$14</c:f>
              <c:multiLvlStrCache>
                <c:ptCount val="13"/>
                <c:lvl>
                  <c:pt idx="0">
                    <c:v>0 h</c:v>
                  </c:pt>
                  <c:pt idx="1">
                    <c:v>1 h</c:v>
                  </c:pt>
                  <c:pt idx="2">
                    <c:v>2 h</c:v>
                  </c:pt>
                  <c:pt idx="3">
                    <c:v>3 h</c:v>
                  </c:pt>
                  <c:pt idx="4">
                    <c:v>4 h</c:v>
                  </c:pt>
                  <c:pt idx="5">
                    <c:v>5 h</c:v>
                  </c:pt>
                  <c:pt idx="6">
                    <c:v>6 h</c:v>
                  </c:pt>
                  <c:pt idx="7">
                    <c:v>7 h</c:v>
                  </c:pt>
                  <c:pt idx="8">
                    <c:v>8 h</c:v>
                  </c:pt>
                  <c:pt idx="9">
                    <c:v>9 h</c:v>
                  </c:pt>
                  <c:pt idx="10">
                    <c:v>10 h</c:v>
                  </c:pt>
                  <c:pt idx="11">
                    <c:v>11 h</c:v>
                  </c:pt>
                  <c:pt idx="12">
                    <c:v>12 h</c:v>
                  </c:pt>
                </c:lvl>
              </c:multiLvlStrCache>
            </c:multiLvlStrRef>
          </c:cat>
          <c:val>
            <c:numRef>
              <c:f>Sheet1!$B$2:$B$14</c:f>
              <c:numCache>
                <c:formatCode>General</c:formatCode>
                <c:ptCount val="13"/>
                <c:pt idx="0">
                  <c:v>0</c:v>
                </c:pt>
                <c:pt idx="1">
                  <c:v>0</c:v>
                </c:pt>
                <c:pt idx="2">
                  <c:v>0.12</c:v>
                </c:pt>
                <c:pt idx="3">
                  <c:v>0.57</c:v>
                </c:pt>
                <c:pt idx="4">
                  <c:v>0.94</c:v>
                </c:pt>
                <c:pt idx="5">
                  <c:v>1.19</c:v>
                </c:pt>
                <c:pt idx="6">
                  <c:v>1.38</c:v>
                </c:pt>
                <c:pt idx="7">
                  <c:v>1.55</c:v>
                </c:pt>
                <c:pt idx="8">
                  <c:v>1.69</c:v>
                </c:pt>
                <c:pt idx="9">
                  <c:v>1.77</c:v>
                </c:pt>
                <c:pt idx="10">
                  <c:v>1.83</c:v>
                </c:pt>
                <c:pt idx="11">
                  <c:v>1.91</c:v>
                </c:pt>
                <c:pt idx="12">
                  <c:v>1.94</c:v>
                </c:pt>
              </c:numCache>
            </c:numRef>
          </c:val>
          <c:smooth val="0"/>
        </c:ser>
        <c:dLbls>
          <c:numFmt formatCode="#,##0" sourceLinked="0"/>
          <c:txPr>
            <a:bodyPr/>
            <a:lstStyle/>
            <a:p>
              <a:pPr>
                <a:defRPr b="0" i="0" strike="noStrike" sz="1100" u="none">
                  <a:solidFill>
                    <a:srgbClr val="1F29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6616E"/>
                    </a:solidFill>
                    <a:latin typeface="+mn-lt"/>
                  </a:defRPr>
                </a:pPr>
                <a:r>
                  <a:rPr sz="1100" b="0" i="0" u="none" strike="noStrike">
                    <a:solidFill>
                      <a:srgbClr val="56616E"/>
                    </a:solidFill>
                    <a:latin typeface="+mn-lt"/>
                  </a:rPr>
                  <a:t>Hours after the step</a:t>
                </a:r>
              </a:p>
            </c:rich>
          </c:tx>
          <c:layout/>
          <c:overlay val="0"/>
        </c:title>
        <c:numFmt formatCode="General" sourceLinked="1"/>
        <c:majorTickMark val="out"/>
        <c:minorTickMark val="none"/>
        <c:tickLblPos val="low"/>
        <c:spPr>
          <a:ln w="12700" cap="flat">
            <a:solidFill>
              <a:srgbClr val="C5CCD5"/>
            </a:solidFill>
            <a:prstDash val="solid"/>
            <a:round/>
          </a:ln>
        </c:spPr>
        <c:txPr>
          <a:bodyPr/>
          <a:lstStyle/>
          <a:p>
            <a:pPr>
              <a:defRPr sz="1100" b="0" i="0" u="none" strike="noStrike">
                <a:solidFill>
                  <a:srgbClr val="56616E"/>
                </a:solidFill>
                <a:latin typeface="+mn-lt"/>
              </a:defRPr>
            </a:pPr>
            <a:endParaRPr lang="en-US"/>
          </a:p>
        </c:txPr>
        <c:crossAx val="2094734552"/>
        <c:crosses val="autoZero"/>
        <c:auto val="1"/>
        <c:lblAlgn val="ctr"/>
        <c:noMultiLvlLbl val="1"/>
      </c:catAx>
      <c:valAx>
        <c:axId val="2094734552"/>
        <c:scaling>
          <c:orientation val="minMax"/>
          <c:max val="2.2"/>
          <c:min val="0"/>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56616E"/>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Energy vs baseline at the same draw, by air per Mcal quarter, %</a:t>
            </a:r>
          </a:p>
        </c:rich>
      </c:tx>
      <c:layout/>
      <c:overlay val="0"/>
    </c:title>
    <c:autoTitleDeleted val="0"/>
    <c:plotArea>
      <c:layout/>
      <c:barChart>
        <c:barDir val="col"/>
        <c:grouping val="clustered"/>
        <c:varyColors val="0"/>
        <c:ser>
          <c:idx val="0"/>
          <c:order val="0"/>
          <c:tx>
            <c:strRef>
              <c:f>Sheet1!$B$1</c:f>
              <c:strCache>
                <c:ptCount val="1"/>
                <c:pt idx="0">
                  <c:v>Draw-adjusted</c:v>
                </c:pt>
              </c:strCache>
            </c:strRef>
          </c:tx>
          <c:spPr>
            <a:solidFill>
              <a:srgbClr val="EB6834"/>
            </a:solidFill>
            <a:effectLst/>
          </c:spPr>
          <c:invertIfNegative val="0"/>
          <c:dLbls>
            <c:numFmt formatCode="+0.00;-0.0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2A78D6"/>
              </a:solidFill>
              <a:effectLst/>
            </c:spPr>
          </c:dPt>
          <c:dPt>
            <c:idx val="2"/>
            <c:invertIfNegative val="0"/>
            <c:bubble3D val="0"/>
            <c:spPr>
              <a:solidFill>
                <a:srgbClr val="EB6834"/>
              </a:solidFill>
              <a:effectLst/>
            </c:spPr>
          </c:dPt>
          <c:dPt>
            <c:idx val="3"/>
            <c:invertIfNegative val="0"/>
            <c:bubble3D val="0"/>
            <c:spPr>
              <a:solidFill>
                <a:srgbClr val="EB6834"/>
              </a:solidFill>
              <a:effectLst/>
            </c:spPr>
          </c:dPt>
          <c:cat>
            <c:multiLvlStrRef>
              <c:f>Sheet1!$A$2:$A$5</c:f>
              <c:multiLvlStrCache>
                <c:ptCount val="4"/>
                <c:lvl>
                  <c:pt idx="0">
                    <c:v>Lowest air
1.247</c:v>
                  </c:pt>
                  <c:pt idx="1">
                    <c:v>Q2
1.263</c:v>
                  </c:pt>
                  <c:pt idx="2">
                    <c:v>Q3
1.272</c:v>
                  </c:pt>
                  <c:pt idx="3">
                    <c:v>Highest air
1.288</c:v>
                  </c:pt>
                </c:lvl>
              </c:multiLvlStrCache>
            </c:multiLvlStrRef>
          </c:cat>
          <c:val>
            <c:numRef>
              <c:f>Sheet1!$B$2:$B$5</c:f>
              <c:numCache>
                <c:formatCode>General</c:formatCode>
                <c:ptCount val="4"/>
                <c:pt idx="0">
                  <c:v>-0.24</c:v>
                </c:pt>
                <c:pt idx="1">
                  <c:v>-0.01</c:v>
                </c:pt>
                <c:pt idx="2">
                  <c:v>0.63</c:v>
                </c:pt>
                <c:pt idx="3">
                  <c:v>0.79</c:v>
                </c:pt>
              </c:numCache>
            </c:numRef>
          </c:val>
        </c:ser>
        <c:dLbls>
          <c:numFmt formatCode="+0.00;-0.0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5CCD5"/>
            </a:solidFill>
            <a:prstDash val="solid"/>
            <a:round/>
          </a:ln>
        </c:spPr>
        <c:txPr>
          <a:bodyPr/>
          <a:lstStyle/>
          <a:p>
            <a:pPr>
              <a:defRPr sz="1100" b="0" i="0" u="none" strike="noStrike">
                <a:solidFill>
                  <a:srgbClr val="56616E"/>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l"/>
        <c:majorGridlines>
          <c:spPr>
            <a:ln w="9525" cap="flat">
              <a:solidFill>
                <a:srgbClr val="E3E7EC"/>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56616E"/>
                </a:solidFill>
                <a:latin typeface="+mn-lt"/>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Days by daily seed count (spec: 30 each)</a:t>
            </a:r>
          </a:p>
        </c:rich>
      </c:tx>
      <c:layout/>
      <c:overlay val="0"/>
    </c:title>
    <c:autoTitleDeleted val="0"/>
    <c:plotArea>
      <c:layout/>
      <c:barChart>
        <c:barDir val="col"/>
        <c:grouping val="clustered"/>
        <c:varyColors val="0"/>
        <c:ser>
          <c:idx val="0"/>
          <c:order val="0"/>
          <c:tx>
            <c:strRef>
              <c:f>Sheet1!$B$1</c:f>
              <c:strCache>
                <c:ptCount val="1"/>
                <c:pt idx="0">
                  <c:v>Days</c:v>
                </c:pt>
              </c:strCache>
            </c:strRef>
          </c:tx>
          <c:spPr>
            <a:solidFill>
              <a:srgbClr val="2A78D6"/>
            </a:solidFill>
            <a:effectLst/>
          </c:spPr>
          <c:invertIfNegative val="0"/>
          <c:dLbls>
            <c:numFmt formatCode="#,##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cat>
            <c:multiLvlStrRef>
              <c:f>Sheet1!$A$2:$A$6</c:f>
              <c:multiLvlStrCache>
                <c:ptCount val="5"/>
                <c:lvl>
                  <c:pt idx="0">
                    <c:v>6–10</c:v>
                  </c:pt>
                  <c:pt idx="1">
                    <c:v>11–15</c:v>
                  </c:pt>
                  <c:pt idx="2">
                    <c:v>16–20</c:v>
                  </c:pt>
                  <c:pt idx="3">
                    <c:v>21–25</c:v>
                  </c:pt>
                  <c:pt idx="4">
                    <c:v>26–30</c:v>
                  </c:pt>
                </c:lvl>
              </c:multiLvlStrCache>
            </c:multiLvlStrRef>
          </c:cat>
          <c:val>
            <c:numRef>
              <c:f>Sheet1!$B$2:$B$6</c:f>
              <c:numCache>
                <c:formatCode>General</c:formatCode>
                <c:ptCount val="5"/>
                <c:pt idx="0">
                  <c:v>40</c:v>
                </c:pt>
                <c:pt idx="1">
                  <c:v>167</c:v>
                </c:pt>
                <c:pt idx="2">
                  <c:v>113</c:v>
                </c:pt>
                <c:pt idx="3">
                  <c:v>21</c:v>
                </c:pt>
                <c:pt idx="4">
                  <c:v>2</c:v>
                </c:pt>
              </c:numCache>
            </c:numRef>
          </c:val>
        </c:ser>
        <c:dLbls>
          <c:numFmt formatCode="#,##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6616E"/>
                    </a:solidFill>
                    <a:latin typeface="+mn-lt"/>
                  </a:defRPr>
                </a:pPr>
                <a:r>
                  <a:rPr sz="1100" b="0" i="0" u="none" strike="noStrike">
                    <a:solidFill>
                      <a:srgbClr val="56616E"/>
                    </a:solidFill>
                    <a:latin typeface="+mn-lt"/>
                  </a:rPr>
                  <a:t>Seeds per sample</a:t>
                </a:r>
              </a:p>
            </c:rich>
          </c:tx>
          <c:layout/>
          <c:overlay val="0"/>
        </c:title>
        <c:numFmt formatCode="General" sourceLinked="1"/>
        <c:majorTickMark val="out"/>
        <c:minorTickMark val="none"/>
        <c:tickLblPos val="low"/>
        <c:spPr>
          <a:ln w="12700" cap="flat">
            <a:solidFill>
              <a:srgbClr val="C5CCD5"/>
            </a:solidFill>
            <a:prstDash val="solid"/>
            <a:round/>
          </a:ln>
        </c:spPr>
        <c:txPr>
          <a:bodyPr/>
          <a:lstStyle/>
          <a:p>
            <a:pPr>
              <a:defRPr sz="1100" b="0" i="0" u="none" strike="noStrike">
                <a:solidFill>
                  <a:srgbClr val="56616E"/>
                </a:solidFill>
                <a:latin typeface="+mn-lt"/>
              </a:defRPr>
            </a:pPr>
            <a:endParaRPr lang="en-US"/>
          </a:p>
        </c:txPr>
        <c:crossAx val="2094734552"/>
        <c:crosses val="autoZero"/>
        <c:auto val="1"/>
        <c:lblAlgn val="ctr"/>
        <c:noMultiLvlLbl val="1"/>
      </c:catAx>
      <c:valAx>
        <c:axId val="2094734552"/>
        <c:scaling>
          <c:orientation val="minMax"/>
          <c:max val="200"/>
          <c:min val="0"/>
        </c:scaling>
        <c:delete val="0"/>
        <c:axPos val="l"/>
        <c:majorGridlines>
          <c:spPr>
            <a:ln w="9525" cap="flat">
              <a:solidFill>
                <a:srgbClr val="E3E7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6616E"/>
                </a:solidFill>
                <a:latin typeface="+mn-lt"/>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Monthly average crown temperature, °C</a:t>
            </a:r>
          </a:p>
        </c:rich>
      </c:tx>
      <c:layout/>
      <c:overlay val="0"/>
    </c:title>
    <c:autoTitleDeleted val="0"/>
    <c:plotArea>
      <c:layout/>
      <c:lineChart>
        <c:varyColors val="0"/>
        <c:ser>
          <c:idx val="0"/>
          <c:order val="0"/>
          <c:tx>
            <c:strRef>
              <c:f>Sheet1!$B$1</c:f>
              <c:strCache>
                <c:ptCount val="1"/>
                <c:pt idx="0">
                  <c:v>Optical crown (manual, hourly)</c:v>
                </c:pt>
              </c:strCache>
            </c:strRef>
          </c:tx>
          <c:spPr>
            <a:solidFill>
              <a:srgbClr val="EB6834"/>
            </a:solidFill>
            <a:ln w="31750" cap="flat">
              <a:solidFill>
                <a:srgbClr val="EB6834"/>
              </a:solidFill>
              <a:prstDash val="solid"/>
              <a:round/>
            </a:ln>
            <a:effectLst/>
          </c:spPr>
          <c:invertIfNegative val="0"/>
          <c:dLbls>
            <c:numFmt formatCode="#,##0" sourceLinked="0"/>
            <c:txPr>
              <a:bodyPr/>
              <a:lstStyle/>
              <a:p>
                <a:pPr>
                  <a:defRPr b="0" i="0" strike="noStrike" sz="1100" u="none">
                    <a:solidFill>
                      <a:srgbClr val="1F2933"/>
                    </a:solidFill>
                    <a:latin typeface="+mn-lt"/>
                  </a:defRPr>
                </a:pPr>
              </a:p>
            </c:txPr>
            <c:showLegendKey val="0"/>
            <c:showVal val="0"/>
            <c:showCatName val="0"/>
            <c:showSerName val="0"/>
            <c:showPercent val="0"/>
            <c:showBubbleSize val="0"/>
            <c:showLeaderLines val="0"/>
          </c:dLbls>
          <c:marker>
            <c:symbol val="circle"/>
            <c:size val="7"/>
            <c:spPr>
              <a:solidFill>
                <a:srgbClr val="EB6834"/>
              </a:solidFill>
              <a:ln w="9525" cap="flat">
                <a:solidFill>
                  <a:srgbClr val="EB6834"/>
                </a:solidFill>
                <a:prstDash val="solid"/>
                <a:round/>
              </a:ln>
              <a:effectLst/>
            </c:spPr>
          </c:marker>
          <c:cat>
            <c:multiLvlStrRef>
              <c:f>Sheet1!$A$2:$A$14</c:f>
              <c:multiLvlStrCache>
                <c:ptCount val="13"/>
                <c:lvl>
                  <c:pt idx="0">
                    <c:v>Sep 25</c:v>
                  </c:pt>
                  <c:pt idx="1">
                    <c:v>Oct 25</c:v>
                  </c:pt>
                  <c:pt idx="2">
                    <c:v>Nov 25</c:v>
                  </c:pt>
                  <c:pt idx="3">
                    <c:v>Dec 25</c:v>
                  </c:pt>
                  <c:pt idx="4">
                    <c:v>Jan 26</c:v>
                  </c:pt>
                  <c:pt idx="5">
                    <c:v>Feb 26</c:v>
                  </c:pt>
                  <c:pt idx="6">
                    <c:v>Mar 26</c:v>
                  </c:pt>
                  <c:pt idx="7">
                    <c:v>Apr 26</c:v>
                  </c:pt>
                  <c:pt idx="8">
                    <c:v>May 26</c:v>
                  </c:pt>
                  <c:pt idx="9">
                    <c:v>Jun 26</c:v>
                  </c:pt>
                  <c:pt idx="10">
                    <c:v>Jul 26</c:v>
                  </c:pt>
                  <c:pt idx="11">
                    <c:v>Aug 26</c:v>
                  </c:pt>
                  <c:pt idx="12">
                    <c:v>Sep 26</c:v>
                  </c:pt>
                </c:lvl>
              </c:multiLvlStrCache>
            </c:multiLvlStrRef>
          </c:cat>
          <c:val>
            <c:numRef>
              <c:f>Sheet1!$B$2:$B$14</c:f>
              <c:numCache>
                <c:formatCode>General</c:formatCode>
                <c:ptCount val="13"/>
                <c:pt idx="0">
                  <c:v>1574.47</c:v>
                </c:pt>
                <c:pt idx="1">
                  <c:v>1574.78</c:v>
                </c:pt>
                <c:pt idx="2">
                  <c:v>1574.73</c:v>
                </c:pt>
                <c:pt idx="3">
                  <c:v>1574.76</c:v>
                </c:pt>
                <c:pt idx="4">
                  <c:v>1574.57</c:v>
                </c:pt>
                <c:pt idx="5">
                  <c:v>1574.41</c:v>
                </c:pt>
                <c:pt idx="6">
                  <c:v>1574.64</c:v>
                </c:pt>
                <c:pt idx="7">
                  <c:v>1574.73</c:v>
                </c:pt>
                <c:pt idx="8">
                  <c:v>1574.83</c:v>
                </c:pt>
                <c:pt idx="9">
                  <c:v>1574.53</c:v>
                </c:pt>
                <c:pt idx="10">
                  <c:v>1574.54</c:v>
                </c:pt>
                <c:pt idx="11">
                  <c:v>1574.26</c:v>
                </c:pt>
                <c:pt idx="12">
                  <c:v>1573.17</c:v>
                </c:pt>
              </c:numCache>
            </c:numRef>
          </c:val>
          <c:smooth val="0"/>
        </c:ser>
        <c:ser>
          <c:idx val="1"/>
          <c:order val="1"/>
          <c:tx>
            <c:strRef>
              <c:f>Sheet1!$C$1</c:f>
              <c:strCache>
                <c:ptCount val="1"/>
                <c:pt idx="0">
                  <c:v>Crown TC MC3 (DCS, 1 min)</c:v>
                </c:pt>
              </c:strCache>
            </c:strRef>
          </c:tx>
          <c:spPr>
            <a:solidFill>
              <a:srgbClr val="2A78D6"/>
            </a:solidFill>
            <a:ln w="31750" cap="flat">
              <a:solidFill>
                <a:srgbClr val="2A78D6"/>
              </a:solidFill>
              <a:prstDash val="solid"/>
              <a:round/>
            </a:ln>
            <a:effectLst/>
          </c:spPr>
          <c:invertIfNegative val="0"/>
          <c:dLbls>
            <c:numFmt formatCode="#,##0" sourceLinked="0"/>
            <c:txPr>
              <a:bodyPr/>
              <a:lstStyle/>
              <a:p>
                <a:pPr>
                  <a:defRPr b="0" i="0" strike="noStrike" sz="1100" u="none">
                    <a:solidFill>
                      <a:srgbClr val="1F2933"/>
                    </a:solidFill>
                    <a:latin typeface="+mn-lt"/>
                  </a:defRPr>
                </a:pPr>
              </a:p>
            </c:txPr>
            <c:showLegendKey val="0"/>
            <c:showVal val="0"/>
            <c:showCatName val="0"/>
            <c:showSerName val="0"/>
            <c:showPercent val="0"/>
            <c:showBubbleSize val="0"/>
            <c:showLeaderLines val="0"/>
          </c:dLbls>
          <c:marker>
            <c:symbol val="circle"/>
            <c:size val="7"/>
            <c:spPr>
              <a:solidFill>
                <a:srgbClr val="2A78D6"/>
              </a:solidFill>
              <a:ln w="9525" cap="flat">
                <a:solidFill>
                  <a:srgbClr val="2A78D6"/>
                </a:solidFill>
                <a:prstDash val="solid"/>
                <a:round/>
              </a:ln>
              <a:effectLst/>
            </c:spPr>
          </c:marker>
          <c:cat>
            <c:multiLvlStrRef>
              <c:f>Sheet1!$A$2:$A$14</c:f>
              <c:multiLvlStrCache>
                <c:ptCount val="13"/>
                <c:lvl>
                  <c:pt idx="0">
                    <c:v>Sep 25</c:v>
                  </c:pt>
                  <c:pt idx="1">
                    <c:v>Oct 25</c:v>
                  </c:pt>
                  <c:pt idx="2">
                    <c:v>Nov 25</c:v>
                  </c:pt>
                  <c:pt idx="3">
                    <c:v>Dec 25</c:v>
                  </c:pt>
                  <c:pt idx="4">
                    <c:v>Jan 26</c:v>
                  </c:pt>
                  <c:pt idx="5">
                    <c:v>Feb 26</c:v>
                  </c:pt>
                  <c:pt idx="6">
                    <c:v>Mar 26</c:v>
                  </c:pt>
                  <c:pt idx="7">
                    <c:v>Apr 26</c:v>
                  </c:pt>
                  <c:pt idx="8">
                    <c:v>May 26</c:v>
                  </c:pt>
                  <c:pt idx="9">
                    <c:v>Jun 26</c:v>
                  </c:pt>
                  <c:pt idx="10">
                    <c:v>Jul 26</c:v>
                  </c:pt>
                  <c:pt idx="11">
                    <c:v>Aug 26</c:v>
                  </c:pt>
                  <c:pt idx="12">
                    <c:v>Sep 26</c:v>
                  </c:pt>
                </c:lvl>
              </c:multiLvlStrCache>
            </c:multiLvlStrRef>
          </c:cat>
          <c:val>
            <c:numRef>
              <c:f>Sheet1!$C$2:$C$14</c:f>
              <c:numCache>
                <c:formatCode>General</c:formatCode>
                <c:ptCount val="13"/>
                <c:pt idx="0">
                  <c:v>1567.62</c:v>
                </c:pt>
                <c:pt idx="1">
                  <c:v>1568</c:v>
                </c:pt>
                <c:pt idx="2">
                  <c:v>1567.86</c:v>
                </c:pt>
                <c:pt idx="3">
                  <c:v>1567.38</c:v>
                </c:pt>
                <c:pt idx="4">
                  <c:v>1567.29</c:v>
                </c:pt>
                <c:pt idx="5">
                  <c:v>1566.99</c:v>
                </c:pt>
                <c:pt idx="6">
                  <c:v>1566.97</c:v>
                </c:pt>
                <c:pt idx="7">
                  <c:v>1566.58</c:v>
                </c:pt>
                <c:pt idx="8">
                  <c:v>1566.98</c:v>
                </c:pt>
                <c:pt idx="9">
                  <c:v>1566.7</c:v>
                </c:pt>
                <c:pt idx="10">
                  <c:v>1566.18</c:v>
                </c:pt>
                <c:pt idx="11">
                  <c:v>1566.07</c:v>
                </c:pt>
                <c:pt idx="12">
                  <c:v>1565.33</c:v>
                </c:pt>
              </c:numCache>
            </c:numRef>
          </c:val>
          <c:smooth val="0"/>
        </c:ser>
        <c:dLbls>
          <c:numFmt formatCode="#,##0" sourceLinked="0"/>
          <c:txPr>
            <a:bodyPr/>
            <a:lstStyle/>
            <a:p>
              <a:pPr>
                <a:defRPr b="0" i="0" strike="noStrike" sz="1100" u="none">
                  <a:solidFill>
                    <a:srgbClr val="1F29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5CCD5"/>
            </a:solidFill>
            <a:prstDash val="solid"/>
            <a:round/>
          </a:ln>
        </c:spPr>
        <c:txPr>
          <a:bodyPr/>
          <a:lstStyle/>
          <a:p>
            <a:pPr>
              <a:defRPr sz="1100" b="0" i="0" u="none" strike="noStrike">
                <a:solidFill>
                  <a:srgbClr val="56616E"/>
                </a:solidFill>
                <a:latin typeface="+mn-lt"/>
              </a:defRPr>
            </a:pPr>
            <a:endParaRPr lang="en-US"/>
          </a:p>
        </c:txPr>
        <c:crossAx val="2094734552"/>
        <c:crosses val="autoZero"/>
        <c:auto val="1"/>
        <c:lblAlgn val="ctr"/>
        <c:noMultiLvlLbl val="1"/>
      </c:catAx>
      <c:valAx>
        <c:axId val="2094734552"/>
        <c:scaling>
          <c:orientation val="minMax"/>
          <c:max val="1578"/>
          <c:min val="1562"/>
        </c:scaling>
        <c:delete val="0"/>
        <c:axPos val="l"/>
        <c:majorGridlines>
          <c:spPr>
            <a:ln w="9525" cap="flat">
              <a:solidFill>
                <a:srgbClr val="E3E7EC"/>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6616E"/>
                </a:solidFill>
                <a:latin typeface="+mn-lt"/>
              </a:defRPr>
            </a:pPr>
            <a:endParaRPr lang="en-US"/>
          </a:p>
        </c:txPr>
        <c:crossAx val="2094734554"/>
        <c:crosses val="autoZero"/>
        <c:crossBetween val="between"/>
        <c:majorUnit val="2"/>
      </c:valAx>
      <c:spPr>
        <a:noFill/>
        <a:ln>
          <a:noFill/>
        </a:ln>
        <a:effectLst/>
      </c:spPr>
    </c:plotArea>
    <c:legend>
      <c:legendPos val="t"/>
      <c:overlay val="0"/>
      <c:txPr>
        <a:bodyPr/>
        <a:lstStyle/>
        <a:p>
          <a:pPr>
            <a:defRPr sz="11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Average SFC, kcal/kg</a:t>
            </a:r>
          </a:p>
        </c:rich>
      </c:tx>
      <c:layout/>
      <c:overlay val="0"/>
    </c:title>
    <c:autoTitleDeleted val="0"/>
    <c:plotArea>
      <c:layout/>
      <c:barChart>
        <c:barDir val="col"/>
        <c:grouping val="clustered"/>
        <c:varyColors val="0"/>
        <c:ser>
          <c:idx val="0"/>
          <c:order val="0"/>
          <c:tx>
            <c:strRef>
              <c:f>Sheet1!$B$1</c:f>
              <c:strCache>
                <c:ptCount val="1"/>
                <c:pt idx="0">
                  <c:v>SFC</c:v>
                </c:pt>
              </c:strCache>
            </c:strRef>
          </c:tx>
          <c:spPr>
            <a:solidFill>
              <a:srgbClr val="9CC3F0"/>
            </a:solidFill>
            <a:effectLst/>
          </c:spPr>
          <c:invertIfNegative val="0"/>
          <c:dLbls>
            <c:numFmt formatCode="#,##0.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9CC3F0"/>
              </a:solidFill>
              <a:effectLst/>
            </c:spPr>
          </c:dPt>
          <c:dPt>
            <c:idx val="1"/>
            <c:invertIfNegative val="0"/>
            <c:bubble3D val="0"/>
            <c:spPr>
              <a:solidFill>
                <a:srgbClr val="2A78D6"/>
              </a:solidFill>
              <a:effectLst/>
            </c:spPr>
          </c:dPt>
          <c:dPt>
            <c:idx val="2"/>
            <c:invertIfNegative val="0"/>
            <c:bubble3D val="0"/>
            <c:spPr>
              <a:solidFill>
                <a:srgbClr val="2A78D6"/>
              </a:solidFill>
              <a:effectLst/>
            </c:spPr>
          </c:dPt>
          <c:dPt>
            <c:idx val="3"/>
            <c:invertIfNegative val="0"/>
            <c:bubble3D val="0"/>
            <c:spPr>
              <a:solidFill>
                <a:srgbClr val="1F9D6B"/>
              </a:solidFill>
              <a:effectLst/>
            </c:spPr>
          </c:dPt>
          <c:cat>
            <c:multiLvlStrRef>
              <c:f>Sheet1!$A$2:$A$5</c:f>
              <c:multiLvlStrCache>
                <c:ptCount val="4"/>
                <c:lvl>
                  <c:pt idx="0">
                    <c:v>Actual operation</c:v>
                  </c:pt>
                  <c:pt idx="1">
                    <c:v>Gas model</c:v>
                  </c:pt>
                  <c:pt idx="2">
                    <c:v>+ Boost controller</c:v>
                  </c:pt>
                  <c:pt idx="3">
                    <c:v>+ Air target</c:v>
                  </c:pt>
                </c:lvl>
              </c:multiLvlStrCache>
            </c:multiLvlStrRef>
          </c:cat>
          <c:val>
            <c:numRef>
              <c:f>Sheet1!$B$2:$B$5</c:f>
              <c:numCache>
                <c:formatCode>General</c:formatCode>
                <c:ptCount val="4"/>
                <c:pt idx="0">
                  <c:v>1605.3</c:v>
                </c:pt>
                <c:pt idx="1">
                  <c:v>1594</c:v>
                </c:pt>
                <c:pt idx="2">
                  <c:v>1587.7</c:v>
                </c:pt>
                <c:pt idx="3">
                  <c:v>1585</c:v>
                </c:pt>
              </c:numCache>
            </c:numRef>
          </c:val>
        </c:ser>
        <c:dLbls>
          <c:numFmt formatCode="#,##0.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5CCD5"/>
            </a:solidFill>
            <a:prstDash val="solid"/>
            <a:round/>
          </a:ln>
        </c:spPr>
        <c:txPr>
          <a:bodyPr/>
          <a:lstStyle/>
          <a:p>
            <a:pPr>
              <a:defRPr sz="1100" b="0" i="0" u="none" strike="noStrike">
                <a:solidFill>
                  <a:srgbClr val="56616E"/>
                </a:solidFill>
                <a:latin typeface="+mn-lt"/>
              </a:defRPr>
            </a:pPr>
            <a:endParaRPr lang="en-US"/>
          </a:p>
        </c:txPr>
        <c:crossAx val="2094734552"/>
        <c:crosses val="autoZero"/>
        <c:auto val="1"/>
        <c:lblAlgn val="ctr"/>
        <c:noMultiLvlLbl val="1"/>
      </c:catAx>
      <c:valAx>
        <c:axId val="2094734552"/>
        <c:scaling>
          <c:orientation val="minMax"/>
          <c:max val="1612"/>
          <c:min val="1560"/>
        </c:scaling>
        <c:delete val="0"/>
        <c:axPos val="l"/>
        <c:majorGridlines>
          <c:spPr>
            <a:ln w="9525" cap="flat">
              <a:solidFill>
                <a:srgbClr val="E3E7EC"/>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6616E"/>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Average SFC by month, kcal/kg</a:t>
            </a:r>
          </a:p>
        </c:rich>
      </c:tx>
      <c:layout/>
      <c:overlay val="0"/>
    </c:title>
    <c:autoTitleDeleted val="0"/>
    <c:plotArea>
      <c:layout/>
      <c:barChart>
        <c:barDir val="col"/>
        <c:grouping val="clustered"/>
        <c:varyColors val="0"/>
        <c:ser>
          <c:idx val="0"/>
          <c:order val="0"/>
          <c:tx>
            <c:strRef>
              <c:f>Sheet1!$B$1</c:f>
              <c:strCache>
                <c:ptCount val="1"/>
                <c:pt idx="0">
                  <c:v>Actual</c:v>
                </c:pt>
              </c:strCache>
            </c:strRef>
          </c:tx>
          <c:spPr>
            <a:solidFill>
              <a:srgbClr val="9CC3F0"/>
            </a:solidFill>
            <a:effectLst/>
          </c:spPr>
          <c:invertIfNegative val="0"/>
          <c:dLbls>
            <c:numFmt formatCode="#,##0" sourceLinked="0"/>
            <c:txPr>
              <a:bodyPr/>
              <a:lstStyle/>
              <a:p>
                <a:pPr>
                  <a:defRPr b="0" i="0" strike="noStrike" sz="1100" u="none">
                    <a:solidFill>
                      <a:srgbClr val="1F2933"/>
                    </a:solidFill>
                    <a:latin typeface="+mn-lt"/>
                  </a:defRPr>
                </a:pPr>
              </a:p>
            </c:txPr>
            <c:showLegendKey val="0"/>
            <c:showVal val="0"/>
            <c:showCatName val="0"/>
            <c:showSerName val="0"/>
            <c:showPercent val="0"/>
            <c:showBubbleSize val="0"/>
            <c:showLeaderLines val="0"/>
          </c:dLbls>
          <c:cat>
            <c:multiLvlStrRef>
              <c:f>Sheet1!$A$2:$A$11</c:f>
              <c:multiLvlStrCache>
                <c:ptCount val="10"/>
                <c:lvl>
                  <c:pt idx="0">
                    <c:v>Dec 25</c:v>
                  </c:pt>
                  <c:pt idx="1">
                    <c:v>Jan 26</c:v>
                  </c:pt>
                  <c:pt idx="2">
                    <c:v>Feb 26</c:v>
                  </c:pt>
                  <c:pt idx="3">
                    <c:v>Mar 26</c:v>
                  </c:pt>
                  <c:pt idx="4">
                    <c:v>Apr 26</c:v>
                  </c:pt>
                  <c:pt idx="5">
                    <c:v>May 26</c:v>
                  </c:pt>
                  <c:pt idx="6">
                    <c:v>Jun 26</c:v>
                  </c:pt>
                  <c:pt idx="7">
                    <c:v>Jul 26</c:v>
                  </c:pt>
                  <c:pt idx="8">
                    <c:v>Aug 26</c:v>
                  </c:pt>
                  <c:pt idx="9">
                    <c:v>Sep 26</c:v>
                  </c:pt>
                </c:lvl>
              </c:multiLvlStrCache>
            </c:multiLvlStrRef>
          </c:cat>
          <c:val>
            <c:numRef>
              <c:f>Sheet1!$B$2:$B$11</c:f>
              <c:numCache>
                <c:formatCode>General</c:formatCode>
                <c:ptCount val="10"/>
                <c:pt idx="0">
                  <c:v>1557</c:v>
                </c:pt>
                <c:pt idx="1">
                  <c:v>1559</c:v>
                </c:pt>
                <c:pt idx="2">
                  <c:v>1597</c:v>
                </c:pt>
                <c:pt idx="3">
                  <c:v>1580</c:v>
                </c:pt>
                <c:pt idx="4">
                  <c:v>1572</c:v>
                </c:pt>
                <c:pt idx="5">
                  <c:v>1553</c:v>
                </c:pt>
                <c:pt idx="6">
                  <c:v>1612</c:v>
                </c:pt>
                <c:pt idx="7">
                  <c:v>1640</c:v>
                </c:pt>
                <c:pt idx="8">
                  <c:v>1570</c:v>
                </c:pt>
                <c:pt idx="9">
                  <c:v>1610</c:v>
                </c:pt>
              </c:numCache>
            </c:numRef>
          </c:val>
        </c:ser>
        <c:ser>
          <c:idx val="1"/>
          <c:order val="1"/>
          <c:tx>
            <c:strRef>
              <c:f>Sheet1!$C$1</c:f>
              <c:strCache>
                <c:ptCount val="1"/>
                <c:pt idx="0">
                  <c:v>Recommended</c:v>
                </c:pt>
              </c:strCache>
            </c:strRef>
          </c:tx>
          <c:spPr>
            <a:solidFill>
              <a:srgbClr val="1F9D6B"/>
            </a:solidFill>
            <a:effectLst/>
          </c:spPr>
          <c:invertIfNegative val="0"/>
          <c:dLbls>
            <c:numFmt formatCode="#,##0" sourceLinked="0"/>
            <c:txPr>
              <a:bodyPr/>
              <a:lstStyle/>
              <a:p>
                <a:pPr>
                  <a:defRPr b="0" i="0" strike="noStrike" sz="1100" u="none">
                    <a:solidFill>
                      <a:srgbClr val="1F2933"/>
                    </a:solidFill>
                    <a:latin typeface="+mn-lt"/>
                  </a:defRPr>
                </a:pPr>
              </a:p>
            </c:txPr>
            <c:showLegendKey val="0"/>
            <c:showVal val="0"/>
            <c:showCatName val="0"/>
            <c:showSerName val="0"/>
            <c:showPercent val="0"/>
            <c:showBubbleSize val="0"/>
            <c:showLeaderLines val="0"/>
          </c:dLbls>
          <c:cat>
            <c:multiLvlStrRef>
              <c:f>Sheet1!$A$2:$A$11</c:f>
              <c:multiLvlStrCache>
                <c:ptCount val="10"/>
                <c:lvl>
                  <c:pt idx="0">
                    <c:v>Dec 25</c:v>
                  </c:pt>
                  <c:pt idx="1">
                    <c:v>Jan 26</c:v>
                  </c:pt>
                  <c:pt idx="2">
                    <c:v>Feb 26</c:v>
                  </c:pt>
                  <c:pt idx="3">
                    <c:v>Mar 26</c:v>
                  </c:pt>
                  <c:pt idx="4">
                    <c:v>Apr 26</c:v>
                  </c:pt>
                  <c:pt idx="5">
                    <c:v>May 26</c:v>
                  </c:pt>
                  <c:pt idx="6">
                    <c:v>Jun 26</c:v>
                  </c:pt>
                  <c:pt idx="7">
                    <c:v>Jul 26</c:v>
                  </c:pt>
                  <c:pt idx="8">
                    <c:v>Aug 26</c:v>
                  </c:pt>
                  <c:pt idx="9">
                    <c:v>Sep 26</c:v>
                  </c:pt>
                </c:lvl>
              </c:multiLvlStrCache>
            </c:multiLvlStrRef>
          </c:cat>
          <c:val>
            <c:numRef>
              <c:f>Sheet1!$C$2:$C$11</c:f>
              <c:numCache>
                <c:formatCode>General</c:formatCode>
                <c:ptCount val="10"/>
                <c:pt idx="0">
                  <c:v>1551</c:v>
                </c:pt>
                <c:pt idx="1">
                  <c:v>1546</c:v>
                </c:pt>
                <c:pt idx="2">
                  <c:v>1567</c:v>
                </c:pt>
                <c:pt idx="3">
                  <c:v>1574</c:v>
                </c:pt>
                <c:pt idx="4">
                  <c:v>1565</c:v>
                </c:pt>
                <c:pt idx="5">
                  <c:v>1545</c:v>
                </c:pt>
                <c:pt idx="6">
                  <c:v>1591</c:v>
                </c:pt>
                <c:pt idx="7">
                  <c:v>1625</c:v>
                </c:pt>
                <c:pt idx="8">
                  <c:v>1545</c:v>
                </c:pt>
                <c:pt idx="9">
                  <c:v>1602</c:v>
                </c:pt>
              </c:numCache>
            </c:numRef>
          </c:val>
        </c:ser>
        <c:dLbls>
          <c:numFmt formatCode="#,##0" sourceLinked="0"/>
          <c:txPr>
            <a:bodyPr/>
            <a:lstStyle/>
            <a:p>
              <a:pPr>
                <a:defRPr b="0" i="0" strike="noStrike" sz="1100" u="none">
                  <a:solidFill>
                    <a:srgbClr val="1F2933"/>
                  </a:solidFill>
                  <a:latin typeface="+mn-lt"/>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5CCD5"/>
            </a:solidFill>
            <a:prstDash val="solid"/>
            <a:round/>
          </a:ln>
        </c:spPr>
        <c:txPr>
          <a:bodyPr/>
          <a:lstStyle/>
          <a:p>
            <a:pPr>
              <a:defRPr sz="1100" b="0" i="0" u="none" strike="noStrike">
                <a:solidFill>
                  <a:srgbClr val="56616E"/>
                </a:solidFill>
                <a:latin typeface="+mn-lt"/>
              </a:defRPr>
            </a:pPr>
            <a:endParaRPr lang="en-US"/>
          </a:p>
        </c:txPr>
        <c:crossAx val="2094734552"/>
        <c:crosses val="autoZero"/>
        <c:auto val="1"/>
        <c:lblAlgn val="ctr"/>
        <c:noMultiLvlLbl val="1"/>
      </c:catAx>
      <c:valAx>
        <c:axId val="2094734552"/>
        <c:scaling>
          <c:orientation val="minMax"/>
          <c:max val="1660"/>
          <c:min val="1500"/>
        </c:scaling>
        <c:delete val="0"/>
        <c:axPos val="l"/>
        <c:majorGridlines>
          <c:spPr>
            <a:ln w="9525" cap="flat">
              <a:solidFill>
                <a:srgbClr val="E3E7EC"/>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6616E"/>
                </a:solidFill>
                <a:latin typeface="+mn-lt"/>
              </a:defRPr>
            </a:pPr>
            <a:endParaRPr lang="en-US"/>
          </a:p>
        </c:txPr>
        <c:crossAx val="2094734554"/>
        <c:crosses val="autoZero"/>
        <c:crossBetween val="between"/>
        <c:majorUnit val="20"/>
      </c:valAx>
      <c:spPr>
        <a:noFill/>
        <a:ln>
          <a:noFill/>
        </a:ln>
        <a:effectLst/>
      </c:spPr>
    </c:plotArea>
    <c:legend>
      <c:legendPos val="t"/>
      <c:overlay val="0"/>
      <c:txPr>
        <a:bodyPr/>
        <a:lstStyle/>
        <a:p>
          <a:pPr>
            <a:defRPr sz="11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engagement: a data-driven recommender for the 60 TPD flint melter that tells operators what NG flow, secondary air and barrier boost to run, with the goal of a 2% lower SFC while seeds and furnace limits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the challenge, what the data told us, how we built and tested the models, what the operator receives, and how the 2% is delivered and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we rebuilt the client baseline from raw data to within 0.3 kcal/kg, the recommended setpoints cut SFC by 1.27% on summer 2026 and beat actual operation in every one of the 10 months replayed. With three trial levers on top, the plan reaches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sources of waste we found in the data: slow NCV compensation, boost used as a heat source, excess air, and ageing. The goal is a 2% lower melter SFC versus the client baseline of 1,576.3 kcal/kg.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plant asked for two models: gas every reversal cycle and barrier boost every hour. Success is −2% per draw band or draw-adjusted, with seeds and limits respected.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formula is the client's. We sum NG times NCV every 15 minutes. Recomputed from raw data, the baseline is 1,576.6 vs the client's 1,576.3. The draw-adjusted yardstick compares each day with what the baseline furnace would have used at the same draw and cullet.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SFC against the client baseline. The months with the highest SFC are the months with low draw, which sets up the first relationship.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Energy is about 54 Gcal per day of fixed losses plus 0.63 Gcal per tonne. Because the fixed part is spread over the tonnes drawn, one more tonne per day cuts SFC by about 1%. This is why every comparison must be draw-adjusted.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Splitting by 5-tonne draw band gives a fair target per band. Band baselines from the client baseline period, target −2%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Draw-adjusted energy month by month. Above zero means more energy than the baseline furnace at the same draw. The trend is about +0.19% per month. The model carries an age term so the targets stay realistic.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NCV changes, the gas flow should change by the inverse ratio. Operators make 17% of that change in the same hour and 73% after one hour. The recommender uses the latest NCV every reversal, so the heat delivered is exact.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Barrier boost is the handle for the bottom temperature MB3. The response builds over 6 to 12 hours. Gas barely moves MB3. This is why the second model controls boost from MB3.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Electric boost is more efficient per unit, but in this furnace one Gcal of boost replaced only 0.77 Gcal of gas once ageing is controlled. So more boost raises total energy. The right policy is the minimum boost that holds MB3.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Secondary air that is not needed for combustion is heated and leaves through the regenerators. Splitting days by air per Mcal shows the lowest quarter used less energy than baseline, the highest quarter more. The recommender targets the 25th percentile of the last 45 days, never below the historical 5th percentile.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Seeds are the quality guard-rail. On usable days the 95th percentile is 21 and the maximum 28, below the spec of 30. Efficient days actually have fewer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optical pyrometer is typed by hand hourly; the crown thermocouple is logged every minute. They agree on the daily level, with a 7.6 degree offset. Because the crown is held flat, it carries no information on energy; we keep it as a guard-rail. A 1–2 degree lower crown setpoint is one of the trial levers.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Orange is positive, blue negative correlation. Draw dominates SFC. Boost follows draw. AFR follows NCV because air is set by heat. Correlations alone are not causal, so each lever was then tested with ageing controlled.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one-page summary of what the data proved. Each finding was tested walk-forward and with ageing controlled before it was used in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Days are ranked by energy after removing draw, cullet and furnace age. The best quarter runs leaner air, a cooler bottom, less melter boost, and keeps the same crown temperature with fewer seeds. This is the golden batch the gas model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SFC extremes are mostly a draw story. The lowest days were high-draw days in October 2025 and January 2026; the highest were the low-draw days at the end of June 2026. This is why we judge operation draw-adjusted,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draw is taken out, the spread is operation. The worst days in August 2026 over-fired both gas and boost while the bottom was already hot. In the walk-forward replay the recommender would have run those days 4–5% 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corrected analytical record, sheet 'result', is the single source for every model. The crown thermocouple file is used for checks. The client baseline workbook is used only to verify our baseline, never as a model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15-minute data is cleaned once in one module and rolled up to hourly for the boost model and daily for the gas target and SFC. The same rules run on live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walk-forward folds for model selection, Sep 2026 held back as an unseen month, and a full day-by-day replay of the final recommender over 292 days. The model never sees the day it predicts.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Pinball loss measures how well a model hits the 25th-percentile efficient target. The quantile model scores slightly lower loss but only 15% of days beat its target, so it would ask too much. The OLS model with ageing and a 45-day efficiency shift is calibrated in every fold and fully transparent.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 the error of a fixed air-fuel ratio is twice that of air per Mcal. Boost: four policies were replayed closed-loop. The integral controller holds MB3 best, moves boost gently, and saves about 0.37 Gcal per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is three equations an engineer can check by hand. Gas: OLS with draw, barrier and melter boost and furnace age, shifted to the efficient quarter of the last 45 days. NG is heat divided by the latest NCV. Air is air per Mcal times heat. Boost is an integral controller on MB3.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was simulated walk-forward. Gas alone saves 0.70%, the boost controller takes it to 1.09%, the air target to 1.27%. In the two most common draw bands, SFC moves from about 1.5% above the band baseline to below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recommender replayed on every usable day from December 2025, each day using only earlier data. It is lower than actual in every month. On the unseen September 2026 the gas model stayed calibrated.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Job 01 retrains daily after SAP draw arrives and releases the model only if the checks pass. Job 02 loads the released model, reads the latest plant values, checks limits and data freshness, and e-mails the operator via the plant's Logic App, logging each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operator receives four numbers. NG, air and AFR every reversal, ready by minute 15. Barrier boost every hour. Inputs are mostly automatic; the operator only confirms draw, cullet and the optical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operator sees: each setpoint with its historical P1–P99 range and median. On 19 August at 10:00 the furnace ran NG and air above their historical P99 and boost at its maximum while MB3 was already hot. The recommendation sits inside history and would have cut that day's SFC by 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proven part, 1.31%, comes from running the recommended gas, air and boost. Three trial levers add the rest, each kept inside the furnace's own history: MB3 target at its historical P25, air per Mcal at its historical P25 with an O2 spot check, and a 1-2 degree lower crown setpoint. Draw and maintenance add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trial starts in shadow mode so operators see the recommendations before using them. Gas and air come first, then boost, then the levers one at a time. Every day is measured with the client formula and the draw-adjusted yardstick; 30 days give a ±0.74% confidence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recommender is built, tested on 13 months of data, packaged in Databricks and ready for the shadow phase. What we need from the plant: October data, official limits, an O2/CO analyser for lever B, and a start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3294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8778240" cy="173736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3" name="Text 0"/>
          <p:cNvSpPr/>
          <p:nvPr>
            <p:ph idx="101" type="body" hasCustomPrompt="1"/>
          </p:nvPr>
        </p:nvSpPr>
        <p:spPr>
          <a:xfrm>
            <a:off x="731520" y="3931920"/>
            <a:ext cx="8412480" cy="914400"/>
          </a:xfrm>
          <a:prstGeom prst="rect">
            <a:avLst/>
          </a:prstGeom>
          <a:noFill/>
          <a:ln/>
        </p:spPr>
        <p:txBody>
          <a:bodyPr wrap="square" rtlCol="0"/>
          <a:lstStyle>
            <a:lvl1pPr algn="l" indent="0" marL="0">
              <a:buNone/>
              <a:defRPr lang="en-US" sz="1800" dirty="0">
                <a:solidFill>
                  <a:srgbClr val="C9D3E0"/>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3294B"/>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2743200" cy="822960"/>
          </a:xfrm>
          <a:prstGeom prst="rect">
            <a:avLst/>
          </a:prstGeom>
          <a:noFill/>
          <a:ln/>
        </p:spPr>
        <p:txBody>
          <a:bodyPr wrap="square" rtlCol="0"/>
          <a:lstStyle>
            <a:lvl1pPr indent="0" marL="0">
              <a:buNone/>
              <a:defRPr lang="en-US" sz="2800" b="1" dirty="0">
                <a:solidFill>
                  <a:schemeClr val="accent2"/>
                </a:solidFill>
              </a:defRPr>
            </a:lvl1pPr>
          </a:lstStyle>
          <a:p>
            <a:pPr indent="0" marL="0">
              <a:buNone/>
            </a:pPr>
            <a:endParaRPr lang="en-US" sz="2800" dirty="0"/>
          </a:p>
        </p:txBody>
      </p:sp>
      <p:sp>
        <p:nvSpPr>
          <p:cNvPr id="3" name="Text 0"/>
          <p:cNvSpPr/>
          <p:nvPr>
            <p:ph idx="101" type="title" hasCustomPrompt="1"/>
          </p:nvPr>
        </p:nvSpPr>
        <p:spPr>
          <a:xfrm>
            <a:off x="822960" y="2651760"/>
            <a:ext cx="10241280" cy="109728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4" name="Text 0"/>
          <p:cNvSpPr/>
          <p:nvPr>
            <p:ph idx="102" type="body" hasCustomPrompt="1"/>
          </p:nvPr>
        </p:nvSpPr>
        <p:spPr>
          <a:xfrm>
            <a:off x="822960" y="3840480"/>
            <a:ext cx="10241280" cy="822960"/>
          </a:xfrm>
          <a:prstGeom prst="rect">
            <a:avLst/>
          </a:prstGeom>
          <a:noFill/>
          <a:ln/>
        </p:spPr>
        <p:txBody>
          <a:bodyPr wrap="square" rtlCol="0"/>
          <a:lstStyle>
            <a:lvl1pPr indent="0" marL="0">
              <a:buNone/>
              <a:defRPr lang="en-US" sz="1800" dirty="0">
                <a:solidFill>
                  <a:srgbClr val="C9D3E0"/>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rtlCol="0"/>
          <a:lstStyle>
            <a:lvl1pPr algn="l" indent="0" marL="0">
              <a:buNone/>
              <a:defRPr lang="en-US" sz="3000" b="1" dirty="0">
                <a:solidFill>
                  <a:schemeClr val="tx2"/>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rtlCol="0"/>
          <a:lstStyle>
            <a:lvl1pPr indent="0" marL="0">
              <a:buNone/>
              <a:defRPr lang="en-US" sz="1600" dirty="0">
                <a:solidFill>
                  <a:schemeClr val="accent4"/>
                </a:solidFill>
              </a:defRPr>
            </a:lvl1pPr>
          </a:lstStyle>
          <a:p>
            <a:pPr indent="0" marL="0">
              <a:buNone/>
            </a:pPr>
            <a:endParaRPr lang="en-US" sz="1600" dirty="0"/>
          </a:p>
        </p:txBody>
      </p:sp>
      <p:sp>
        <p:nvSpPr>
          <p:cNvPr id="4" name="Text 0"/>
          <p:cNvSpPr/>
          <p:nvPr/>
        </p:nvSpPr>
        <p:spPr>
          <a:xfrm>
            <a:off x="548640" y="6428232"/>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60 TPD Flint Melter  |  SFC Optimisation</a:t>
            </a:r>
            <a:endParaRPr lang="en-US" sz="10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slideLayout" Target="../slideLayouts/slideLayout4.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4.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4.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slideLayout" Target="../slideLayouts/slideLayout4.xml"/><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4.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8778240" cy="1737360"/>
          </a:xfrm>
          <a:prstGeom prst="rect">
            <a:avLst/>
          </a:prstGeom>
          <a:noFill/>
          <a:ln/>
        </p:spPr>
        <p:txBody>
          <a:bodyPr wrap="square" rtlCol="0" anchor="b"/>
          <a:lstStyle/>
          <a:p>
            <a:pPr algn="l" indent="0" marL="0">
              <a:buNone/>
            </a:pPr>
            <a:r>
              <a:rPr lang="en-US" sz="4000" b="1" dirty="0">
                <a:solidFill>
                  <a:schemeClr val="bg1"/>
                </a:solidFill>
                <a:latin typeface="Arial" pitchFamily="34" charset="0"/>
                <a:ea typeface="Arial" pitchFamily="34" charset="-122"/>
                <a:cs typeface="Arial" pitchFamily="34" charset="-120"/>
              </a:rPr>
              <a:t>Lowering Melter SFC</a:t>
            </a:r>
            <a:endParaRPr lang="en-US" sz="4000" dirty="0"/>
          </a:p>
          <a:p>
            <a:pPr algn="l" indent="0" marL="0">
              <a:buNone/>
            </a:pPr>
            <a:r>
              <a:rPr lang="en-US" sz="4000" b="1" dirty="0">
                <a:solidFill>
                  <a:schemeClr val="bg1"/>
                </a:solidFill>
                <a:latin typeface="Arial" pitchFamily="34" charset="0"/>
                <a:ea typeface="Arial" pitchFamily="34" charset="-122"/>
                <a:cs typeface="Arial" pitchFamily="34" charset="-120"/>
              </a:rPr>
              <a:t>with Data-Driven Setpoints</a:t>
            </a:r>
            <a:endParaRPr lang="en-US" sz="4000" dirty="0"/>
          </a:p>
        </p:txBody>
      </p:sp>
      <p:sp>
        <p:nvSpPr>
          <p:cNvPr id="3" name="Text 0"/>
          <p:cNvSpPr/>
          <p:nvPr>
            <p:ph idx="101" type="body" hasCustomPrompt="1"/>
          </p:nvPr>
        </p:nvSpPr>
        <p:spPr>
          <a:xfrm>
            <a:off x="731520" y="3931920"/>
            <a:ext cx="8412480" cy="914400"/>
          </a:xfrm>
          <a:prstGeom prst="rect">
            <a:avLst/>
          </a:prstGeom>
          <a:noFill/>
          <a:ln/>
        </p:spPr>
        <p:txBody>
          <a:bodyPr wrap="square" rtlCol="0" anchor="t"/>
          <a:lstStyle/>
          <a:p>
            <a:pPr algn="l" indent="0" marL="0">
              <a:buNone/>
            </a:pPr>
            <a:r>
              <a:rPr lang="en-US" sz="1800" dirty="0">
                <a:solidFill>
                  <a:srgbClr val="C9D3E0"/>
                </a:solidFill>
              </a:rPr>
              <a:t>60 TPD flint melter  |  Gas + barrier-boost recommender  |  October 2026</a:t>
            </a:r>
            <a:endParaRPr lang="en-US" sz="1800" dirty="0"/>
          </a:p>
        </p:txBody>
      </p:sp>
      <p:sp>
        <p:nvSpPr>
          <p:cNvPr id="4" name="glow outer"/>
          <p:cNvSpPr/>
          <p:nvPr/>
        </p:nvSpPr>
        <p:spPr>
          <a:xfrm>
            <a:off x="9326880" y="1463040"/>
            <a:ext cx="4206240" cy="4206240"/>
          </a:xfrm>
          <a:prstGeom prst="ellipse">
            <a:avLst/>
          </a:prstGeom>
          <a:solidFill>
            <a:schemeClr val="accent2">
              <a:alpha val="18000"/>
            </a:schemeClr>
          </a:solidFill>
          <a:ln/>
        </p:spPr>
      </p:sp>
      <p:sp>
        <p:nvSpPr>
          <p:cNvPr id="5" name="glow inner"/>
          <p:cNvSpPr/>
          <p:nvPr/>
        </p:nvSpPr>
        <p:spPr>
          <a:xfrm>
            <a:off x="9966960" y="2103120"/>
            <a:ext cx="2926080" cy="2926080"/>
          </a:xfrm>
          <a:prstGeom prst="ellipse">
            <a:avLst/>
          </a:prstGeom>
          <a:solidFill>
            <a:schemeClr val="accent2">
              <a:alpha val="40000"/>
            </a:schemeClr>
          </a:solidFill>
          <a:ln/>
        </p:spPr>
      </p:sp>
      <p:pic>
        <p:nvPicPr>
          <p:cNvPr id="6" name="Image 0" descr="flame">    </p:cNvPr>
          <p:cNvPicPr>
            <a:picLocks noChangeAspect="1"/>
          </p:cNvPicPr>
          <p:nvPr/>
        </p:nvPicPr>
        <p:blipFill>
          <a:blip r:embed="rId1"/>
          <a:stretch>
            <a:fillRect/>
          </a:stretch>
        </p:blipFill>
        <p:spPr>
          <a:xfrm>
            <a:off x="10835640" y="2971800"/>
            <a:ext cx="1188720" cy="1188720"/>
          </a:xfrm>
          <a:prstGeom prst="rect">
            <a:avLst/>
          </a:prstGeom>
        </p:spPr>
      </p:pic>
      <p:sp>
        <p:nvSpPr>
          <p:cNvPr id="7" name="Text 4"/>
          <p:cNvSpPr txBox="1"/>
          <p:nvPr/>
        </p:nvSpPr>
        <p:spPr>
          <a:xfrm>
            <a:off x="731520" y="5120640"/>
            <a:ext cx="8229600" cy="365760"/>
          </a:xfrm>
          <a:prstGeom prst="rect">
            <a:avLst/>
          </a:prstGeom>
          <a:noFill/>
          <a:ln/>
        </p:spPr>
        <p:txBody>
          <a:bodyPr wrap="square" lIns="0" tIns="0" rIns="0" bIns="0" rtlCol="0" anchor="t"/>
          <a:lstStyle/>
          <a:p>
            <a:pPr indent="0" marL="0">
              <a:buNone/>
            </a:pPr>
            <a:r>
              <a:rPr lang="en-US" sz="1400" i="1" dirty="0">
                <a:solidFill>
                  <a:srgbClr val="F6B49A"/>
                </a:solidFill>
              </a:rPr>
              <a:t>Target: 2% lower specific fuel consumption (SFC), glass quality held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Agenda</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From the plant's question to setpoints the operator can run</a:t>
            </a:r>
            <a:endParaRPr lang="en-US" sz="1600" dirty="0"/>
          </a:p>
        </p:txBody>
      </p:sp>
      <p:sp>
        <p:nvSpPr>
          <p:cNvPr id="4" name="icon circle"/>
          <p:cNvSpPr/>
          <p:nvPr/>
        </p:nvSpPr>
        <p:spPr>
          <a:xfrm>
            <a:off x="548640" y="1691640"/>
            <a:ext cx="640080" cy="640080"/>
          </a:xfrm>
          <a:prstGeom prst="ellipse">
            <a:avLst/>
          </a:prstGeom>
          <a:solidFill>
            <a:schemeClr val="accent1"/>
          </a:solidFill>
          <a:ln/>
        </p:spPr>
      </p:sp>
      <p:pic>
        <p:nvPicPr>
          <p:cNvPr id="5" name="Image 0" descr="FaBullseye">    </p:cNvPr>
          <p:cNvPicPr>
            <a:picLocks noChangeAspect="1"/>
          </p:cNvPicPr>
          <p:nvPr/>
        </p:nvPicPr>
        <p:blipFill>
          <a:blip r:embed="rId1"/>
          <a:stretch>
            <a:fillRect/>
          </a:stretch>
        </p:blipFill>
        <p:spPr>
          <a:xfrm>
            <a:off x="715061" y="1858061"/>
            <a:ext cx="307238" cy="307238"/>
          </a:xfrm>
          <a:prstGeom prst="rect">
            <a:avLst/>
          </a:prstGeom>
        </p:spPr>
      </p:pic>
      <p:sp>
        <p:nvSpPr>
          <p:cNvPr id="6" name="Text 3"/>
          <p:cNvSpPr txBox="1"/>
          <p:nvPr/>
        </p:nvSpPr>
        <p:spPr>
          <a:xfrm>
            <a:off x="1417320" y="1737360"/>
            <a:ext cx="548640" cy="548640"/>
          </a:xfrm>
          <a:prstGeom prst="rect">
            <a:avLst/>
          </a:prstGeom>
          <a:noFill/>
          <a:ln/>
        </p:spPr>
        <p:txBody>
          <a:bodyPr wrap="square" lIns="0" tIns="0" rIns="0" bIns="0" rtlCol="0" anchor="ctr"/>
          <a:lstStyle/>
          <a:p>
            <a:pPr indent="0" marL="0">
              <a:buNone/>
            </a:pPr>
            <a:r>
              <a:rPr lang="en-US" sz="2200" b="1" dirty="0">
                <a:solidFill>
                  <a:schemeClr val="accent4"/>
                </a:solidFill>
              </a:rPr>
              <a:t>01</a:t>
            </a:r>
            <a:endParaRPr lang="en-US" sz="2200" dirty="0"/>
          </a:p>
        </p:txBody>
      </p:sp>
      <p:sp>
        <p:nvSpPr>
          <p:cNvPr id="7" name="Text 4"/>
          <p:cNvSpPr txBox="1"/>
          <p:nvPr/>
        </p:nvSpPr>
        <p:spPr>
          <a:xfrm>
            <a:off x="2011680" y="1709928"/>
            <a:ext cx="4572000" cy="365760"/>
          </a:xfrm>
          <a:prstGeom prst="rect">
            <a:avLst/>
          </a:prstGeom>
          <a:noFill/>
          <a:ln/>
        </p:spPr>
        <p:txBody>
          <a:bodyPr wrap="square" lIns="0" tIns="0" rIns="0" bIns="0" rtlCol="0" anchor="t"/>
          <a:lstStyle/>
          <a:p>
            <a:pPr indent="0" marL="0">
              <a:buNone/>
            </a:pPr>
            <a:r>
              <a:rPr lang="en-US" sz="2000" b="1" dirty="0">
                <a:solidFill>
                  <a:schemeClr val="tx2"/>
                </a:solidFill>
              </a:rPr>
              <a:t>The challenge</a:t>
            </a:r>
            <a:endParaRPr lang="en-US" sz="2000" dirty="0"/>
          </a:p>
        </p:txBody>
      </p:sp>
      <p:sp>
        <p:nvSpPr>
          <p:cNvPr id="8" name="Text 5"/>
          <p:cNvSpPr txBox="1"/>
          <p:nvPr/>
        </p:nvSpPr>
        <p:spPr>
          <a:xfrm>
            <a:off x="2011680" y="2075688"/>
            <a:ext cx="8686800" cy="320040"/>
          </a:xfrm>
          <a:prstGeom prst="rect">
            <a:avLst/>
          </a:prstGeom>
          <a:noFill/>
          <a:ln/>
        </p:spPr>
        <p:txBody>
          <a:bodyPr wrap="square" lIns="0" tIns="0" rIns="0" bIns="0" rtlCol="0" anchor="t"/>
          <a:lstStyle/>
          <a:p>
            <a:pPr indent="0" marL="0">
              <a:buNone/>
            </a:pPr>
            <a:r>
              <a:rPr lang="en-US" sz="1400" dirty="0">
                <a:solidFill>
                  <a:schemeClr val="accent4"/>
                </a:solidFill>
              </a:rPr>
              <a:t>Problem statement, acceptance criteria, SFC formula</a:t>
            </a:r>
            <a:endParaRPr lang="en-US" sz="1400" dirty="0"/>
          </a:p>
        </p:txBody>
      </p:sp>
      <p:sp>
        <p:nvSpPr>
          <p:cNvPr id="9" name="icon circle"/>
          <p:cNvSpPr/>
          <p:nvPr/>
        </p:nvSpPr>
        <p:spPr>
          <a:xfrm>
            <a:off x="548640" y="2587752"/>
            <a:ext cx="640080" cy="640080"/>
          </a:xfrm>
          <a:prstGeom prst="ellipse">
            <a:avLst/>
          </a:prstGeom>
          <a:solidFill>
            <a:schemeClr val="accent1"/>
          </a:solidFill>
          <a:ln/>
        </p:spPr>
      </p:sp>
      <p:pic>
        <p:nvPicPr>
          <p:cNvPr id="10" name="Image 1" descr="FaChartLine">    </p:cNvPr>
          <p:cNvPicPr>
            <a:picLocks noChangeAspect="1"/>
          </p:cNvPicPr>
          <p:nvPr/>
        </p:nvPicPr>
        <p:blipFill>
          <a:blip r:embed="rId2"/>
          <a:stretch>
            <a:fillRect/>
          </a:stretch>
        </p:blipFill>
        <p:spPr>
          <a:xfrm>
            <a:off x="715061" y="2754173"/>
            <a:ext cx="307238" cy="307238"/>
          </a:xfrm>
          <a:prstGeom prst="rect">
            <a:avLst/>
          </a:prstGeom>
        </p:spPr>
      </p:pic>
      <p:sp>
        <p:nvSpPr>
          <p:cNvPr id="11" name="Text 7"/>
          <p:cNvSpPr txBox="1"/>
          <p:nvPr/>
        </p:nvSpPr>
        <p:spPr>
          <a:xfrm>
            <a:off x="1417320" y="2633472"/>
            <a:ext cx="548640" cy="548640"/>
          </a:xfrm>
          <a:prstGeom prst="rect">
            <a:avLst/>
          </a:prstGeom>
          <a:noFill/>
          <a:ln/>
        </p:spPr>
        <p:txBody>
          <a:bodyPr wrap="square" lIns="0" tIns="0" rIns="0" bIns="0" rtlCol="0" anchor="ctr"/>
          <a:lstStyle/>
          <a:p>
            <a:pPr indent="0" marL="0">
              <a:buNone/>
            </a:pPr>
            <a:r>
              <a:rPr lang="en-US" sz="2200" b="1" dirty="0">
                <a:solidFill>
                  <a:schemeClr val="accent4"/>
                </a:solidFill>
              </a:rPr>
              <a:t>02</a:t>
            </a:r>
            <a:endParaRPr lang="en-US" sz="2200" dirty="0"/>
          </a:p>
        </p:txBody>
      </p:sp>
      <p:sp>
        <p:nvSpPr>
          <p:cNvPr id="12" name="Text 8"/>
          <p:cNvSpPr txBox="1"/>
          <p:nvPr/>
        </p:nvSpPr>
        <p:spPr>
          <a:xfrm>
            <a:off x="2011680" y="2606040"/>
            <a:ext cx="4572000" cy="365760"/>
          </a:xfrm>
          <a:prstGeom prst="rect">
            <a:avLst/>
          </a:prstGeom>
          <a:noFill/>
          <a:ln/>
        </p:spPr>
        <p:txBody>
          <a:bodyPr wrap="square" lIns="0" tIns="0" rIns="0" bIns="0" rtlCol="0" anchor="t"/>
          <a:lstStyle/>
          <a:p>
            <a:pPr indent="0" marL="0">
              <a:buNone/>
            </a:pPr>
            <a:r>
              <a:rPr lang="en-US" sz="2000" b="1" dirty="0">
                <a:solidFill>
                  <a:schemeClr val="tx2"/>
                </a:solidFill>
              </a:rPr>
              <a:t>What the data says</a:t>
            </a:r>
            <a:endParaRPr lang="en-US" sz="2000" dirty="0"/>
          </a:p>
        </p:txBody>
      </p:sp>
      <p:sp>
        <p:nvSpPr>
          <p:cNvPr id="13" name="Text 9"/>
          <p:cNvSpPr txBox="1"/>
          <p:nvPr/>
        </p:nvSpPr>
        <p:spPr>
          <a:xfrm>
            <a:off x="2011680" y="2971800"/>
            <a:ext cx="8686800" cy="320040"/>
          </a:xfrm>
          <a:prstGeom prst="rect">
            <a:avLst/>
          </a:prstGeom>
          <a:noFill/>
          <a:ln/>
        </p:spPr>
        <p:txBody>
          <a:bodyPr wrap="square" lIns="0" tIns="0" rIns="0" bIns="0" rtlCol="0" anchor="t"/>
          <a:lstStyle/>
          <a:p>
            <a:pPr indent="0" marL="0">
              <a:buNone/>
            </a:pPr>
            <a:r>
              <a:rPr lang="en-US" sz="1400" dirty="0">
                <a:solidFill>
                  <a:schemeClr val="accent4"/>
                </a:solidFill>
              </a:rPr>
              <a:t>10 relationship studies, heat map, golden batch, best and worst days</a:t>
            </a:r>
            <a:endParaRPr lang="en-US" sz="1400" dirty="0"/>
          </a:p>
        </p:txBody>
      </p:sp>
      <p:sp>
        <p:nvSpPr>
          <p:cNvPr id="14" name="icon circle"/>
          <p:cNvSpPr/>
          <p:nvPr/>
        </p:nvSpPr>
        <p:spPr>
          <a:xfrm>
            <a:off x="548640" y="3483864"/>
            <a:ext cx="640080" cy="640080"/>
          </a:xfrm>
          <a:prstGeom prst="ellipse">
            <a:avLst/>
          </a:prstGeom>
          <a:solidFill>
            <a:schemeClr val="accent1"/>
          </a:solidFill>
          <a:ln/>
        </p:spPr>
      </p:sp>
      <p:pic>
        <p:nvPicPr>
          <p:cNvPr id="15" name="Image 2" descr="FaCogs">    </p:cNvPr>
          <p:cNvPicPr>
            <a:picLocks noChangeAspect="1"/>
          </p:cNvPicPr>
          <p:nvPr/>
        </p:nvPicPr>
        <p:blipFill>
          <a:blip r:embed="rId3"/>
          <a:stretch>
            <a:fillRect/>
          </a:stretch>
        </p:blipFill>
        <p:spPr>
          <a:xfrm>
            <a:off x="715061" y="3650285"/>
            <a:ext cx="307238" cy="307238"/>
          </a:xfrm>
          <a:prstGeom prst="rect">
            <a:avLst/>
          </a:prstGeom>
        </p:spPr>
      </p:pic>
      <p:sp>
        <p:nvSpPr>
          <p:cNvPr id="16" name="Text 11"/>
          <p:cNvSpPr txBox="1"/>
          <p:nvPr/>
        </p:nvSpPr>
        <p:spPr>
          <a:xfrm>
            <a:off x="1417320" y="3529584"/>
            <a:ext cx="548640" cy="548640"/>
          </a:xfrm>
          <a:prstGeom prst="rect">
            <a:avLst/>
          </a:prstGeom>
          <a:noFill/>
          <a:ln/>
        </p:spPr>
        <p:txBody>
          <a:bodyPr wrap="square" lIns="0" tIns="0" rIns="0" bIns="0" rtlCol="0" anchor="ctr"/>
          <a:lstStyle/>
          <a:p>
            <a:pPr indent="0" marL="0">
              <a:buNone/>
            </a:pPr>
            <a:r>
              <a:rPr lang="en-US" sz="2200" b="1" dirty="0">
                <a:solidFill>
                  <a:schemeClr val="accent4"/>
                </a:solidFill>
              </a:rPr>
              <a:t>03</a:t>
            </a:r>
            <a:endParaRPr lang="en-US" sz="2200" dirty="0"/>
          </a:p>
        </p:txBody>
      </p:sp>
      <p:sp>
        <p:nvSpPr>
          <p:cNvPr id="17" name="Text 12"/>
          <p:cNvSpPr txBox="1"/>
          <p:nvPr/>
        </p:nvSpPr>
        <p:spPr>
          <a:xfrm>
            <a:off x="2011680" y="3502152"/>
            <a:ext cx="4572000" cy="365760"/>
          </a:xfrm>
          <a:prstGeom prst="rect">
            <a:avLst/>
          </a:prstGeom>
          <a:noFill/>
          <a:ln/>
        </p:spPr>
        <p:txBody>
          <a:bodyPr wrap="square" lIns="0" tIns="0" rIns="0" bIns="0" rtlCol="0" anchor="t"/>
          <a:lstStyle/>
          <a:p>
            <a:pPr indent="0" marL="0">
              <a:buNone/>
            </a:pPr>
            <a:r>
              <a:rPr lang="en-US" sz="2000" b="1" dirty="0">
                <a:solidFill>
                  <a:schemeClr val="tx2"/>
                </a:solidFill>
              </a:rPr>
              <a:t>How we built the models</a:t>
            </a:r>
            <a:endParaRPr lang="en-US" sz="2000" dirty="0"/>
          </a:p>
        </p:txBody>
      </p:sp>
      <p:sp>
        <p:nvSpPr>
          <p:cNvPr id="18" name="Text 13"/>
          <p:cNvSpPr txBox="1"/>
          <p:nvPr/>
        </p:nvSpPr>
        <p:spPr>
          <a:xfrm>
            <a:off x="2011680" y="3867912"/>
            <a:ext cx="8686800" cy="320040"/>
          </a:xfrm>
          <a:prstGeom prst="rect">
            <a:avLst/>
          </a:prstGeom>
          <a:noFill/>
          <a:ln/>
        </p:spPr>
        <p:txBody>
          <a:bodyPr wrap="square" lIns="0" tIns="0" rIns="0" bIns="0" rtlCol="0" anchor="t"/>
          <a:lstStyle/>
          <a:p>
            <a:pPr indent="0" marL="0">
              <a:buNone/>
            </a:pPr>
            <a:r>
              <a:rPr lang="en-US" sz="1400" dirty="0">
                <a:solidFill>
                  <a:schemeClr val="accent4"/>
                </a:solidFill>
              </a:rPr>
              <a:t>Input data, split method, models compared, best model, evaluation, Databricks</a:t>
            </a:r>
            <a:endParaRPr lang="en-US" sz="1400" dirty="0"/>
          </a:p>
        </p:txBody>
      </p:sp>
      <p:sp>
        <p:nvSpPr>
          <p:cNvPr id="19" name="icon circle"/>
          <p:cNvSpPr/>
          <p:nvPr/>
        </p:nvSpPr>
        <p:spPr>
          <a:xfrm>
            <a:off x="548640" y="4379976"/>
            <a:ext cx="640080" cy="640080"/>
          </a:xfrm>
          <a:prstGeom prst="ellipse">
            <a:avLst/>
          </a:prstGeom>
          <a:solidFill>
            <a:schemeClr val="accent1"/>
          </a:solidFill>
          <a:ln/>
        </p:spPr>
      </p:sp>
      <p:pic>
        <p:nvPicPr>
          <p:cNvPr id="20" name="Image 3" descr="FaSlidersH">    </p:cNvPr>
          <p:cNvPicPr>
            <a:picLocks noChangeAspect="1"/>
          </p:cNvPicPr>
          <p:nvPr/>
        </p:nvPicPr>
        <p:blipFill>
          <a:blip r:embed="rId4"/>
          <a:stretch>
            <a:fillRect/>
          </a:stretch>
        </p:blipFill>
        <p:spPr>
          <a:xfrm>
            <a:off x="715061" y="4546397"/>
            <a:ext cx="307238" cy="307238"/>
          </a:xfrm>
          <a:prstGeom prst="rect">
            <a:avLst/>
          </a:prstGeom>
        </p:spPr>
      </p:pic>
      <p:sp>
        <p:nvSpPr>
          <p:cNvPr id="21" name="Text 15"/>
          <p:cNvSpPr txBox="1"/>
          <p:nvPr/>
        </p:nvSpPr>
        <p:spPr>
          <a:xfrm>
            <a:off x="1417320" y="4425696"/>
            <a:ext cx="548640" cy="548640"/>
          </a:xfrm>
          <a:prstGeom prst="rect">
            <a:avLst/>
          </a:prstGeom>
          <a:noFill/>
          <a:ln/>
        </p:spPr>
        <p:txBody>
          <a:bodyPr wrap="square" lIns="0" tIns="0" rIns="0" bIns="0" rtlCol="0" anchor="ctr"/>
          <a:lstStyle/>
          <a:p>
            <a:pPr indent="0" marL="0">
              <a:buNone/>
            </a:pPr>
            <a:r>
              <a:rPr lang="en-US" sz="2200" b="1" dirty="0">
                <a:solidFill>
                  <a:schemeClr val="accent4"/>
                </a:solidFill>
              </a:rPr>
              <a:t>04</a:t>
            </a:r>
            <a:endParaRPr lang="en-US" sz="2200" dirty="0"/>
          </a:p>
        </p:txBody>
      </p:sp>
      <p:sp>
        <p:nvSpPr>
          <p:cNvPr id="22" name="Text 16"/>
          <p:cNvSpPr txBox="1"/>
          <p:nvPr/>
        </p:nvSpPr>
        <p:spPr>
          <a:xfrm>
            <a:off x="2011680" y="4398264"/>
            <a:ext cx="4572000" cy="365760"/>
          </a:xfrm>
          <a:prstGeom prst="rect">
            <a:avLst/>
          </a:prstGeom>
          <a:noFill/>
          <a:ln/>
        </p:spPr>
        <p:txBody>
          <a:bodyPr wrap="square" lIns="0" tIns="0" rIns="0" bIns="0" rtlCol="0" anchor="t"/>
          <a:lstStyle/>
          <a:p>
            <a:pPr indent="0" marL="0">
              <a:buNone/>
            </a:pPr>
            <a:r>
              <a:rPr lang="en-US" sz="2000" b="1" dirty="0">
                <a:solidFill>
                  <a:schemeClr val="tx2"/>
                </a:solidFill>
              </a:rPr>
              <a:t>What the operator gets</a:t>
            </a:r>
            <a:endParaRPr lang="en-US" sz="2000" dirty="0"/>
          </a:p>
        </p:txBody>
      </p:sp>
      <p:sp>
        <p:nvSpPr>
          <p:cNvPr id="23" name="Text 17"/>
          <p:cNvSpPr txBox="1"/>
          <p:nvPr/>
        </p:nvSpPr>
        <p:spPr>
          <a:xfrm>
            <a:off x="2011680" y="4764024"/>
            <a:ext cx="8686800" cy="320040"/>
          </a:xfrm>
          <a:prstGeom prst="rect">
            <a:avLst/>
          </a:prstGeom>
          <a:noFill/>
          <a:ln/>
        </p:spPr>
        <p:txBody>
          <a:bodyPr wrap="square" lIns="0" tIns="0" rIns="0" bIns="0" rtlCol="0" anchor="t"/>
          <a:lstStyle/>
          <a:p>
            <a:pPr indent="0" marL="0">
              <a:buNone/>
            </a:pPr>
            <a:r>
              <a:rPr lang="en-US" sz="1400" dirty="0">
                <a:solidFill>
                  <a:schemeClr val="accent4"/>
                </a:solidFill>
              </a:rPr>
              <a:t>Setpoints with historical ranges, every reversal cycle and every hour</a:t>
            </a:r>
            <a:endParaRPr lang="en-US" sz="1400" dirty="0"/>
          </a:p>
        </p:txBody>
      </p:sp>
      <p:sp>
        <p:nvSpPr>
          <p:cNvPr id="24" name="icon circle"/>
          <p:cNvSpPr/>
          <p:nvPr/>
        </p:nvSpPr>
        <p:spPr>
          <a:xfrm>
            <a:off x="548640" y="5276088"/>
            <a:ext cx="640080" cy="640080"/>
          </a:xfrm>
          <a:prstGeom prst="ellipse">
            <a:avLst/>
          </a:prstGeom>
          <a:solidFill>
            <a:schemeClr val="accent2"/>
          </a:solidFill>
          <a:ln/>
        </p:spPr>
      </p:sp>
      <p:pic>
        <p:nvPicPr>
          <p:cNvPr id="25" name="Image 4" descr="FaFlagCheckered">    </p:cNvPr>
          <p:cNvPicPr>
            <a:picLocks noChangeAspect="1"/>
          </p:cNvPicPr>
          <p:nvPr/>
        </p:nvPicPr>
        <p:blipFill>
          <a:blip r:embed="rId5"/>
          <a:stretch>
            <a:fillRect/>
          </a:stretch>
        </p:blipFill>
        <p:spPr>
          <a:xfrm>
            <a:off x="715061" y="5442509"/>
            <a:ext cx="307238" cy="307238"/>
          </a:xfrm>
          <a:prstGeom prst="rect">
            <a:avLst/>
          </a:prstGeom>
        </p:spPr>
      </p:pic>
      <p:sp>
        <p:nvSpPr>
          <p:cNvPr id="26" name="Text 19"/>
          <p:cNvSpPr txBox="1"/>
          <p:nvPr/>
        </p:nvSpPr>
        <p:spPr>
          <a:xfrm>
            <a:off x="1417320" y="5321808"/>
            <a:ext cx="548640" cy="548640"/>
          </a:xfrm>
          <a:prstGeom prst="rect">
            <a:avLst/>
          </a:prstGeom>
          <a:noFill/>
          <a:ln/>
        </p:spPr>
        <p:txBody>
          <a:bodyPr wrap="square" lIns="0" tIns="0" rIns="0" bIns="0" rtlCol="0" anchor="ctr"/>
          <a:lstStyle/>
          <a:p>
            <a:pPr indent="0" marL="0">
              <a:buNone/>
            </a:pPr>
            <a:r>
              <a:rPr lang="en-US" sz="2200" b="1" dirty="0">
                <a:solidFill>
                  <a:schemeClr val="accent4"/>
                </a:solidFill>
              </a:rPr>
              <a:t>05</a:t>
            </a:r>
            <a:endParaRPr lang="en-US" sz="2200" dirty="0"/>
          </a:p>
        </p:txBody>
      </p:sp>
      <p:sp>
        <p:nvSpPr>
          <p:cNvPr id="27" name="Text 20"/>
          <p:cNvSpPr txBox="1"/>
          <p:nvPr/>
        </p:nvSpPr>
        <p:spPr>
          <a:xfrm>
            <a:off x="2011680" y="5294376"/>
            <a:ext cx="4572000" cy="365760"/>
          </a:xfrm>
          <a:prstGeom prst="rect">
            <a:avLst/>
          </a:prstGeom>
          <a:noFill/>
          <a:ln/>
        </p:spPr>
        <p:txBody>
          <a:bodyPr wrap="square" lIns="0" tIns="0" rIns="0" bIns="0" rtlCol="0" anchor="t"/>
          <a:lstStyle/>
          <a:p>
            <a:pPr indent="0" marL="0">
              <a:buNone/>
            </a:pPr>
            <a:r>
              <a:rPr lang="en-US" sz="2000" b="1" dirty="0">
                <a:solidFill>
                  <a:schemeClr val="tx2"/>
                </a:solidFill>
              </a:rPr>
              <a:t>Delivering the 2%</a:t>
            </a:r>
            <a:endParaRPr lang="en-US" sz="2000" dirty="0"/>
          </a:p>
        </p:txBody>
      </p:sp>
      <p:sp>
        <p:nvSpPr>
          <p:cNvPr id="28" name="Text 21"/>
          <p:cNvSpPr txBox="1"/>
          <p:nvPr/>
        </p:nvSpPr>
        <p:spPr>
          <a:xfrm>
            <a:off x="2011680" y="5660136"/>
            <a:ext cx="8686800" cy="320040"/>
          </a:xfrm>
          <a:prstGeom prst="rect">
            <a:avLst/>
          </a:prstGeom>
          <a:noFill/>
          <a:ln/>
        </p:spPr>
        <p:txBody>
          <a:bodyPr wrap="square" lIns="0" tIns="0" rIns="0" bIns="0" rtlCol="0" anchor="t"/>
          <a:lstStyle/>
          <a:p>
            <a:pPr indent="0" marL="0">
              <a:buNone/>
            </a:pPr>
            <a:r>
              <a:rPr lang="en-US" sz="1400" dirty="0">
                <a:solidFill>
                  <a:schemeClr val="accent4"/>
                </a:solidFill>
              </a:rPr>
              <a:t>Path to target, trial plan, measurement and verification</a:t>
            </a:r>
            <a:endParaRPr lang="en-US" sz="14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Executive summary</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Run the recommended setpoints and SFC comes down, every month we tested</a:t>
            </a:r>
            <a:endParaRPr lang="en-US" sz="1600" dirty="0"/>
          </a:p>
        </p:txBody>
      </p:sp>
      <p:sp>
        <p:nvSpPr>
          <p:cNvPr id="4" name="card"/>
          <p:cNvSpPr/>
          <p:nvPr/>
        </p:nvSpPr>
        <p:spPr>
          <a:xfrm>
            <a:off x="548640" y="1691640"/>
            <a:ext cx="2615184" cy="2057400"/>
          </a:xfrm>
          <a:prstGeom prst="roundRect">
            <a:avLst>
              <a:gd name="adj" fmla="val 3556"/>
            </a:avLst>
          </a:prstGeom>
          <a:solidFill>
            <a:schemeClr val="bg2"/>
          </a:solidFill>
          <a:ln/>
        </p:spPr>
      </p:sp>
      <p:sp>
        <p:nvSpPr>
          <p:cNvPr id="5" name="Text 3"/>
          <p:cNvSpPr txBox="1"/>
          <p:nvPr/>
        </p:nvSpPr>
        <p:spPr>
          <a:xfrm>
            <a:off x="777240" y="1828800"/>
            <a:ext cx="2194560" cy="777240"/>
          </a:xfrm>
          <a:prstGeom prst="rect">
            <a:avLst/>
          </a:prstGeom>
          <a:noFill/>
          <a:ln/>
        </p:spPr>
        <p:txBody>
          <a:bodyPr wrap="square" lIns="0" tIns="0" rIns="0" bIns="0" rtlCol="0" anchor="b"/>
          <a:lstStyle/>
          <a:p>
            <a:pPr indent="0" marL="0">
              <a:buNone/>
            </a:pPr>
            <a:r>
              <a:rPr lang="en-US" sz="4000" b="1" dirty="0">
                <a:solidFill>
                  <a:schemeClr val="tx2"/>
                </a:solidFill>
                <a:latin typeface="Arial" pitchFamily="34" charset="0"/>
                <a:ea typeface="Arial" pitchFamily="34" charset="-122"/>
                <a:cs typeface="Arial" pitchFamily="34" charset="-120"/>
              </a:rPr>
              <a:t>1,576.6</a:t>
            </a:r>
            <a:endParaRPr lang="en-US" sz="4000" dirty="0"/>
          </a:p>
        </p:txBody>
      </p:sp>
      <p:sp>
        <p:nvSpPr>
          <p:cNvPr id="6" name="Text 4"/>
          <p:cNvSpPr txBox="1"/>
          <p:nvPr/>
        </p:nvSpPr>
        <p:spPr>
          <a:xfrm>
            <a:off x="777240" y="2697480"/>
            <a:ext cx="2194560" cy="960120"/>
          </a:xfrm>
          <a:prstGeom prst="rect">
            <a:avLst/>
          </a:prstGeom>
          <a:noFill/>
          <a:ln/>
        </p:spPr>
        <p:txBody>
          <a:bodyPr wrap="square" lIns="0" tIns="0" rIns="0" bIns="0" rtlCol="0" anchor="t"/>
          <a:lstStyle/>
          <a:p>
            <a:pPr indent="0" marL="0">
              <a:buNone/>
            </a:pPr>
            <a:r>
              <a:rPr lang="en-US" sz="1300" dirty="0">
                <a:solidFill>
                  <a:schemeClr val="tx1"/>
                </a:solidFill>
              </a:rPr>
              <a:t>kcal/kg baseline rebuilt from raw 15-min data (client: 1,576.3)</a:t>
            </a:r>
            <a:endParaRPr lang="en-US" sz="1300" dirty="0"/>
          </a:p>
        </p:txBody>
      </p:sp>
      <p:sp>
        <p:nvSpPr>
          <p:cNvPr id="7" name="card"/>
          <p:cNvSpPr/>
          <p:nvPr/>
        </p:nvSpPr>
        <p:spPr>
          <a:xfrm>
            <a:off x="3364992" y="1691640"/>
            <a:ext cx="2615184" cy="2057400"/>
          </a:xfrm>
          <a:prstGeom prst="roundRect">
            <a:avLst>
              <a:gd name="adj" fmla="val 3556"/>
            </a:avLst>
          </a:prstGeom>
          <a:solidFill>
            <a:schemeClr val="bg2"/>
          </a:solidFill>
          <a:ln/>
        </p:spPr>
      </p:sp>
      <p:sp>
        <p:nvSpPr>
          <p:cNvPr id="8" name="Text 6"/>
          <p:cNvSpPr txBox="1"/>
          <p:nvPr/>
        </p:nvSpPr>
        <p:spPr>
          <a:xfrm>
            <a:off x="3593592" y="1828800"/>
            <a:ext cx="2194560" cy="777240"/>
          </a:xfrm>
          <a:prstGeom prst="rect">
            <a:avLst/>
          </a:prstGeom>
          <a:noFill/>
          <a:ln/>
        </p:spPr>
        <p:txBody>
          <a:bodyPr wrap="square" lIns="0" tIns="0" rIns="0" bIns="0" rtlCol="0" anchor="b"/>
          <a:lstStyle/>
          <a:p>
            <a:pPr indent="0" marL="0">
              <a:buNone/>
            </a:pPr>
            <a:r>
              <a:rPr lang="en-US" sz="4000" b="1" dirty="0">
                <a:solidFill>
                  <a:schemeClr val="accent3"/>
                </a:solidFill>
                <a:latin typeface="Arial" pitchFamily="34" charset="0"/>
                <a:ea typeface="Arial" pitchFamily="34" charset="-122"/>
                <a:cs typeface="Arial" pitchFamily="34" charset="-120"/>
              </a:rPr>
              <a:t>−1.27%</a:t>
            </a:r>
            <a:endParaRPr lang="en-US" sz="4000" dirty="0"/>
          </a:p>
        </p:txBody>
      </p:sp>
      <p:sp>
        <p:nvSpPr>
          <p:cNvPr id="9" name="Text 7"/>
          <p:cNvSpPr txBox="1"/>
          <p:nvPr/>
        </p:nvSpPr>
        <p:spPr>
          <a:xfrm>
            <a:off x="3593592" y="2697480"/>
            <a:ext cx="2194560" cy="960120"/>
          </a:xfrm>
          <a:prstGeom prst="rect">
            <a:avLst/>
          </a:prstGeom>
          <a:noFill/>
          <a:ln/>
        </p:spPr>
        <p:txBody>
          <a:bodyPr wrap="square" lIns="0" tIns="0" rIns="0" bIns="0" rtlCol="0" anchor="t"/>
          <a:lstStyle/>
          <a:p>
            <a:pPr indent="0" marL="0">
              <a:buNone/>
            </a:pPr>
            <a:r>
              <a:rPr lang="en-US" sz="1300" dirty="0">
                <a:solidFill>
                  <a:schemeClr val="tx1"/>
                </a:solidFill>
              </a:rPr>
              <a:t>SFC with the recommended setpoints, Jun–Aug 2026 (1,605 → 1,585 kcal/kg)</a:t>
            </a:r>
            <a:endParaRPr lang="en-US" sz="1300" dirty="0"/>
          </a:p>
        </p:txBody>
      </p:sp>
      <p:sp>
        <p:nvSpPr>
          <p:cNvPr id="10" name="card"/>
          <p:cNvSpPr/>
          <p:nvPr/>
        </p:nvSpPr>
        <p:spPr>
          <a:xfrm>
            <a:off x="6181344" y="1691640"/>
            <a:ext cx="2615184" cy="2057400"/>
          </a:xfrm>
          <a:prstGeom prst="roundRect">
            <a:avLst>
              <a:gd name="adj" fmla="val 3556"/>
            </a:avLst>
          </a:prstGeom>
          <a:solidFill>
            <a:schemeClr val="bg2"/>
          </a:solidFill>
          <a:ln/>
        </p:spPr>
      </p:sp>
      <p:sp>
        <p:nvSpPr>
          <p:cNvPr id="11" name="Text 9"/>
          <p:cNvSpPr txBox="1"/>
          <p:nvPr/>
        </p:nvSpPr>
        <p:spPr>
          <a:xfrm>
            <a:off x="6409944" y="1828800"/>
            <a:ext cx="2194560" cy="777240"/>
          </a:xfrm>
          <a:prstGeom prst="rect">
            <a:avLst/>
          </a:prstGeom>
          <a:noFill/>
          <a:ln/>
        </p:spPr>
        <p:txBody>
          <a:bodyPr wrap="square" lIns="0" tIns="0" rIns="0" bIns="0" rtlCol="0" anchor="b"/>
          <a:lstStyle/>
          <a:p>
            <a:pPr indent="0" marL="0">
              <a:buNone/>
            </a:pPr>
            <a:r>
              <a:rPr lang="en-US" sz="4000" b="1" dirty="0">
                <a:solidFill>
                  <a:schemeClr val="accent1"/>
                </a:solidFill>
                <a:latin typeface="Arial" pitchFamily="34" charset="0"/>
                <a:ea typeface="Arial" pitchFamily="34" charset="-122"/>
                <a:cs typeface="Arial" pitchFamily="34" charset="-120"/>
              </a:rPr>
              <a:t>10 / 10</a:t>
            </a:r>
            <a:endParaRPr lang="en-US" sz="4000" dirty="0"/>
          </a:p>
        </p:txBody>
      </p:sp>
      <p:sp>
        <p:nvSpPr>
          <p:cNvPr id="12" name="Text 10"/>
          <p:cNvSpPr txBox="1"/>
          <p:nvPr/>
        </p:nvSpPr>
        <p:spPr>
          <a:xfrm>
            <a:off x="6409944" y="2697480"/>
            <a:ext cx="2194560" cy="960120"/>
          </a:xfrm>
          <a:prstGeom prst="rect">
            <a:avLst/>
          </a:prstGeom>
          <a:noFill/>
          <a:ln/>
        </p:spPr>
        <p:txBody>
          <a:bodyPr wrap="square" lIns="0" tIns="0" rIns="0" bIns="0" rtlCol="0" anchor="t"/>
          <a:lstStyle/>
          <a:p>
            <a:pPr indent="0" marL="0">
              <a:buNone/>
            </a:pPr>
            <a:r>
              <a:rPr lang="en-US" sz="1300" dirty="0">
                <a:solidFill>
                  <a:schemeClr val="tx1"/>
                </a:solidFill>
              </a:rPr>
              <a:t>months where the recommender beat actual operation (292 days replayed)</a:t>
            </a:r>
            <a:endParaRPr lang="en-US" sz="1300" dirty="0"/>
          </a:p>
        </p:txBody>
      </p:sp>
      <p:sp>
        <p:nvSpPr>
          <p:cNvPr id="13" name="card"/>
          <p:cNvSpPr/>
          <p:nvPr/>
        </p:nvSpPr>
        <p:spPr>
          <a:xfrm>
            <a:off x="8997696" y="1691640"/>
            <a:ext cx="2615184" cy="2057400"/>
          </a:xfrm>
          <a:prstGeom prst="roundRect">
            <a:avLst>
              <a:gd name="adj" fmla="val 3556"/>
            </a:avLst>
          </a:prstGeom>
          <a:solidFill>
            <a:schemeClr val="bg2"/>
          </a:solidFill>
          <a:ln/>
        </p:spPr>
      </p:sp>
      <p:sp>
        <p:nvSpPr>
          <p:cNvPr id="14" name="Text 12"/>
          <p:cNvSpPr txBox="1"/>
          <p:nvPr/>
        </p:nvSpPr>
        <p:spPr>
          <a:xfrm>
            <a:off x="9226296" y="1828800"/>
            <a:ext cx="2194560" cy="777240"/>
          </a:xfrm>
          <a:prstGeom prst="rect">
            <a:avLst/>
          </a:prstGeom>
          <a:noFill/>
          <a:ln/>
        </p:spPr>
        <p:txBody>
          <a:bodyPr wrap="square" lIns="0" tIns="0" rIns="0" bIns="0" rtlCol="0" anchor="b"/>
          <a:lstStyle/>
          <a:p>
            <a:pPr indent="0" marL="0">
              <a:buNone/>
            </a:pPr>
            <a:r>
              <a:rPr lang="en-US" sz="4000" b="1" dirty="0">
                <a:solidFill>
                  <a:schemeClr val="accent2"/>
                </a:solidFill>
                <a:latin typeface="Arial" pitchFamily="34" charset="0"/>
                <a:ea typeface="Arial" pitchFamily="34" charset="-122"/>
                <a:cs typeface="Arial" pitchFamily="34" charset="-120"/>
              </a:rPr>
              <a:t>−2%</a:t>
            </a:r>
            <a:endParaRPr lang="en-US" sz="4000" dirty="0"/>
          </a:p>
        </p:txBody>
      </p:sp>
      <p:sp>
        <p:nvSpPr>
          <p:cNvPr id="15" name="Text 13"/>
          <p:cNvSpPr txBox="1"/>
          <p:nvPr/>
        </p:nvSpPr>
        <p:spPr>
          <a:xfrm>
            <a:off x="9226296" y="2697480"/>
            <a:ext cx="2194560" cy="960120"/>
          </a:xfrm>
          <a:prstGeom prst="rect">
            <a:avLst/>
          </a:prstGeom>
          <a:noFill/>
          <a:ln/>
        </p:spPr>
        <p:txBody>
          <a:bodyPr wrap="square" lIns="0" tIns="0" rIns="0" bIns="0" rtlCol="0" anchor="t"/>
          <a:lstStyle/>
          <a:p>
            <a:pPr indent="0" marL="0">
              <a:buNone/>
            </a:pPr>
            <a:r>
              <a:rPr lang="en-US" sz="1300" dirty="0">
                <a:solidFill>
                  <a:schemeClr val="tx1"/>
                </a:solidFill>
              </a:rPr>
              <a:t>SFC reached by adding three trial levers on top of the recommender</a:t>
            </a:r>
            <a:endParaRPr lang="en-US" sz="1300" dirty="0"/>
          </a:p>
        </p:txBody>
      </p:sp>
      <p:sp>
        <p:nvSpPr>
          <p:cNvPr id="16" name="Text 14"/>
          <p:cNvSpPr txBox="1"/>
          <p:nvPr/>
        </p:nvSpPr>
        <p:spPr>
          <a:xfrm>
            <a:off x="548640" y="3977640"/>
            <a:ext cx="11094415" cy="2194560"/>
          </a:xfrm>
          <a:prstGeom prst="rect">
            <a:avLst/>
          </a:prstGeom>
          <a:noFill/>
          <a:ln/>
        </p:spPr>
        <p:txBody>
          <a:bodyPr wrap="square" lIns="0" tIns="0" rIns="0" bIns="0" rtlCol="0" anchor="t"/>
          <a:lstStyle/>
          <a:p>
            <a:pPr marL="190500" indent="-190500">
              <a:spcAft>
                <a:spcPts val="600"/>
              </a:spcAft>
              <a:buSzPct val="100000"/>
              <a:buChar char="•"/>
            </a:pPr>
            <a:r>
              <a:rPr lang="en-US" sz="1500" b="1" dirty="0">
                <a:solidFill>
                  <a:schemeClr val="tx1"/>
                </a:solidFill>
              </a:rPr>
              <a:t>Draw, furnace age and how gas, air and boost are set decide SFC. </a:t>
            </a:r>
            <a:endParaRPr lang="en-US" sz="1500" dirty="0"/>
          </a:p>
          <a:p>
            <a:pPr marL="190500" indent="-190500">
              <a:spcAft>
                <a:spcPts val="600"/>
              </a:spcAft>
              <a:buSzPct val="100000"/>
              <a:buChar char="•"/>
            </a:pPr>
            <a:r>
              <a:rPr lang="en-US" sz="1500" dirty="0">
                <a:solidFill>
                  <a:schemeClr val="tx1"/>
                </a:solidFill>
              </a:rPr>
              <a:t>We control the third: the recommender delivers the exact heat the furnace needs, compensates every NCV change instantly, and uses barrier boost only as much as the bottom temperature needs.</a:t>
            </a:r>
            <a:endParaRPr lang="en-US" sz="1500" dirty="0"/>
          </a:p>
          <a:p>
            <a:pPr marL="190500" indent="-190500">
              <a:spcAft>
                <a:spcPts val="600"/>
              </a:spcAft>
              <a:buSzPct val="100000"/>
              <a:buChar char="•"/>
            </a:pPr>
            <a:r>
              <a:rPr lang="en-US" sz="1500" dirty="0">
                <a:solidFill>
                  <a:schemeClr val="tx1"/>
                </a:solidFill>
              </a:rPr>
              <a:t>Every number was tested walk-forward (the model only ever saw earlier days) and every setpoint stays inside the furnace's own historical P1–P99 range.</a:t>
            </a:r>
            <a:endParaRPr lang="en-US" sz="1500" dirty="0"/>
          </a:p>
          <a:p>
            <a:pPr marL="190500" indent="-190500">
              <a:spcAft>
                <a:spcPts val="600"/>
              </a:spcAft>
              <a:buSzPct val="100000"/>
              <a:buChar char="•"/>
            </a:pPr>
            <a:r>
              <a:rPr lang="en-US" sz="1500" dirty="0">
                <a:solidFill>
                  <a:schemeClr val="tx1"/>
                </a:solidFill>
              </a:rPr>
              <a:t>Two models run in Databricks: gas + secondary air every 20-min reversal cycle, barrier boost every hour, delivered to the operator with the historical range beside each value.</a:t>
            </a:r>
            <a:endParaRPr lang="en-US" sz="15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2743200" cy="822960"/>
          </a:xfrm>
          <a:prstGeom prst="rect">
            <a:avLst/>
          </a:prstGeom>
          <a:noFill/>
          <a:ln/>
        </p:spPr>
        <p:txBody>
          <a:bodyPr wrap="square" rtlCol="0"/>
          <a:lstStyle/>
          <a:p>
            <a:pPr indent="0" marL="0">
              <a:buNone/>
            </a:pPr>
            <a:r>
              <a:rPr lang="en-US" sz="2800" b="1" dirty="0">
                <a:solidFill>
                  <a:schemeClr val="accent2"/>
                </a:solidFill>
              </a:rPr>
              <a:t>01</a:t>
            </a:r>
            <a:endParaRPr lang="en-US" sz="2800" dirty="0"/>
          </a:p>
        </p:txBody>
      </p:sp>
      <p:sp>
        <p:nvSpPr>
          <p:cNvPr id="3" name="Text 0"/>
          <p:cNvSpPr/>
          <p:nvPr>
            <p:ph idx="101" type="title" hasCustomPrompt="1"/>
          </p:nvPr>
        </p:nvSpPr>
        <p:spPr>
          <a:xfrm>
            <a:off x="822960" y="2651760"/>
            <a:ext cx="10241280" cy="1097280"/>
          </a:xfrm>
          <a:prstGeom prst="rect">
            <a:avLst/>
          </a:prstGeom>
          <a:noFill/>
          <a:ln/>
        </p:spPr>
        <p:txBody>
          <a:bodyPr wrap="square" rtlCol="0" anchor="t"/>
          <a:lstStyle/>
          <a:p>
            <a:pPr algn="l" indent="0" marL="0">
              <a:buNone/>
            </a:pPr>
            <a:r>
              <a:rPr lang="en-US" sz="4000" b="1" dirty="0">
                <a:solidFill>
                  <a:schemeClr val="bg1"/>
                </a:solidFill>
                <a:latin typeface="Arial" pitchFamily="34" charset="0"/>
                <a:ea typeface="Arial" pitchFamily="34" charset="-122"/>
                <a:cs typeface="Arial" pitchFamily="34" charset="-120"/>
              </a:rPr>
              <a:t>The challenge</a:t>
            </a:r>
            <a:endParaRPr lang="en-US" sz="4000" dirty="0"/>
          </a:p>
        </p:txBody>
      </p:sp>
      <p:sp>
        <p:nvSpPr>
          <p:cNvPr id="4" name="Text 0"/>
          <p:cNvSpPr/>
          <p:nvPr>
            <p:ph idx="102" type="body" hasCustomPrompt="1"/>
          </p:nvPr>
        </p:nvSpPr>
        <p:spPr>
          <a:xfrm>
            <a:off x="822960" y="3840480"/>
            <a:ext cx="10241280" cy="822960"/>
          </a:xfrm>
          <a:prstGeom prst="rect">
            <a:avLst/>
          </a:prstGeom>
          <a:noFill/>
          <a:ln/>
        </p:spPr>
        <p:txBody>
          <a:bodyPr wrap="square" rtlCol="0" anchor="t"/>
          <a:lstStyle/>
          <a:p>
            <a:pPr indent="0" marL="0">
              <a:buNone/>
            </a:pPr>
            <a:r>
              <a:rPr lang="en-US" sz="1800" dirty="0">
                <a:solidFill>
                  <a:srgbClr val="C9D3E0"/>
                </a:solidFill>
              </a:rPr>
              <a:t>What the plant asked for and how success is measured</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Problem statement</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Energy is set by experience today; gas quality and furnace state change faster than manual adjustments</a:t>
            </a:r>
            <a:endParaRPr lang="en-US" sz="1600" dirty="0"/>
          </a:p>
        </p:txBody>
      </p:sp>
      <p:sp>
        <p:nvSpPr>
          <p:cNvPr id="4" name="card"/>
          <p:cNvSpPr/>
          <p:nvPr/>
        </p:nvSpPr>
        <p:spPr>
          <a:xfrm>
            <a:off x="548640" y="1691640"/>
            <a:ext cx="3611880" cy="2057400"/>
          </a:xfrm>
          <a:prstGeom prst="roundRect">
            <a:avLst>
              <a:gd name="adj" fmla="val 3556"/>
            </a:avLst>
          </a:prstGeom>
          <a:solidFill>
            <a:schemeClr val="bg2"/>
          </a:solidFill>
          <a:ln/>
        </p:spPr>
      </p:sp>
      <p:sp>
        <p:nvSpPr>
          <p:cNvPr id="5" name="icon circle"/>
          <p:cNvSpPr/>
          <p:nvPr/>
        </p:nvSpPr>
        <p:spPr>
          <a:xfrm>
            <a:off x="777240" y="1920240"/>
            <a:ext cx="548640" cy="548640"/>
          </a:xfrm>
          <a:prstGeom prst="ellipse">
            <a:avLst/>
          </a:prstGeom>
          <a:solidFill>
            <a:schemeClr val="accent2"/>
          </a:solidFill>
          <a:ln/>
        </p:spPr>
      </p:sp>
      <p:pic>
        <p:nvPicPr>
          <p:cNvPr id="6" name="Image 0" descr="FaGasPump">    </p:cNvPr>
          <p:cNvPicPr>
            <a:picLocks noChangeAspect="1"/>
          </p:cNvPicPr>
          <p:nvPr/>
        </p:nvPicPr>
        <p:blipFill>
          <a:blip r:embed="rId1"/>
          <a:stretch>
            <a:fillRect/>
          </a:stretch>
        </p:blipFill>
        <p:spPr>
          <a:xfrm>
            <a:off x="919886" y="2062886"/>
            <a:ext cx="263347" cy="263347"/>
          </a:xfrm>
          <a:prstGeom prst="rect">
            <a:avLst/>
          </a:prstGeom>
        </p:spPr>
      </p:pic>
      <p:sp>
        <p:nvSpPr>
          <p:cNvPr id="7" name="Text 4"/>
          <p:cNvSpPr txBox="1"/>
          <p:nvPr/>
        </p:nvSpPr>
        <p:spPr>
          <a:xfrm>
            <a:off x="1463040" y="1965960"/>
            <a:ext cx="2560320" cy="457200"/>
          </a:xfrm>
          <a:prstGeom prst="rect">
            <a:avLst/>
          </a:prstGeom>
          <a:noFill/>
          <a:ln/>
        </p:spPr>
        <p:txBody>
          <a:bodyPr wrap="square" lIns="0" tIns="0" rIns="0" bIns="0" rtlCol="0" anchor="ctr"/>
          <a:lstStyle/>
          <a:p>
            <a:pPr indent="0" marL="0">
              <a:buNone/>
            </a:pPr>
            <a:r>
              <a:rPr lang="en-US" sz="1700" b="1" dirty="0">
                <a:solidFill>
                  <a:schemeClr val="tx2"/>
                </a:solidFill>
              </a:rPr>
              <a:t>Gas quality swings</a:t>
            </a:r>
            <a:endParaRPr lang="en-US" sz="1700" dirty="0"/>
          </a:p>
        </p:txBody>
      </p:sp>
      <p:sp>
        <p:nvSpPr>
          <p:cNvPr id="8" name="Text 5"/>
          <p:cNvSpPr txBox="1"/>
          <p:nvPr/>
        </p:nvSpPr>
        <p:spPr>
          <a:xfrm>
            <a:off x="777240" y="2606040"/>
            <a:ext cx="3200400" cy="1051560"/>
          </a:xfrm>
          <a:prstGeom prst="rect">
            <a:avLst/>
          </a:prstGeom>
          <a:noFill/>
          <a:ln/>
        </p:spPr>
        <p:txBody>
          <a:bodyPr wrap="square" lIns="0" tIns="0" rIns="0" bIns="0" rtlCol="0" anchor="t"/>
          <a:lstStyle/>
          <a:p>
            <a:pPr indent="0" marL="0">
              <a:buNone/>
            </a:pPr>
            <a:r>
              <a:rPr lang="en-US" sz="1300" dirty="0">
                <a:solidFill>
                  <a:schemeClr val="tx1"/>
                </a:solidFill>
              </a:rPr>
              <a:t>NCV moves between 8,969 and 10,253 kcal/SCM (P5–P95), a 14% swing. Operators correct only 17% of the needed NG change in the same hour.</a:t>
            </a:r>
            <a:endParaRPr lang="en-US" sz="1300" dirty="0"/>
          </a:p>
        </p:txBody>
      </p:sp>
      <p:sp>
        <p:nvSpPr>
          <p:cNvPr id="9" name="card"/>
          <p:cNvSpPr/>
          <p:nvPr/>
        </p:nvSpPr>
        <p:spPr>
          <a:xfrm>
            <a:off x="4343400" y="1691640"/>
            <a:ext cx="3611880" cy="2057400"/>
          </a:xfrm>
          <a:prstGeom prst="roundRect">
            <a:avLst>
              <a:gd name="adj" fmla="val 3556"/>
            </a:avLst>
          </a:prstGeom>
          <a:solidFill>
            <a:schemeClr val="bg2"/>
          </a:solidFill>
          <a:ln/>
        </p:spPr>
      </p:sp>
      <p:sp>
        <p:nvSpPr>
          <p:cNvPr id="10" name="icon circle"/>
          <p:cNvSpPr/>
          <p:nvPr/>
        </p:nvSpPr>
        <p:spPr>
          <a:xfrm>
            <a:off x="4572000" y="1920240"/>
            <a:ext cx="548640" cy="548640"/>
          </a:xfrm>
          <a:prstGeom prst="ellipse">
            <a:avLst/>
          </a:prstGeom>
          <a:solidFill>
            <a:schemeClr val="accent2"/>
          </a:solidFill>
          <a:ln/>
        </p:spPr>
      </p:sp>
      <p:pic>
        <p:nvPicPr>
          <p:cNvPr id="11" name="Image 1" descr="FaBolt">    </p:cNvPr>
          <p:cNvPicPr>
            <a:picLocks noChangeAspect="1"/>
          </p:cNvPicPr>
          <p:nvPr/>
        </p:nvPicPr>
        <p:blipFill>
          <a:blip r:embed="rId2"/>
          <a:stretch>
            <a:fillRect/>
          </a:stretch>
        </p:blipFill>
        <p:spPr>
          <a:xfrm>
            <a:off x="4714646" y="2062886"/>
            <a:ext cx="263347" cy="263347"/>
          </a:xfrm>
          <a:prstGeom prst="rect">
            <a:avLst/>
          </a:prstGeom>
        </p:spPr>
      </p:pic>
      <p:sp>
        <p:nvSpPr>
          <p:cNvPr id="12" name="Text 8"/>
          <p:cNvSpPr txBox="1"/>
          <p:nvPr/>
        </p:nvSpPr>
        <p:spPr>
          <a:xfrm>
            <a:off x="5257800" y="1965960"/>
            <a:ext cx="2560320" cy="457200"/>
          </a:xfrm>
          <a:prstGeom prst="rect">
            <a:avLst/>
          </a:prstGeom>
          <a:noFill/>
          <a:ln/>
        </p:spPr>
        <p:txBody>
          <a:bodyPr wrap="square" lIns="0" tIns="0" rIns="0" bIns="0" rtlCol="0" anchor="ctr"/>
          <a:lstStyle/>
          <a:p>
            <a:pPr indent="0" marL="0">
              <a:buNone/>
            </a:pPr>
            <a:r>
              <a:rPr lang="en-US" sz="1700" b="1" dirty="0">
                <a:solidFill>
                  <a:schemeClr val="tx2"/>
                </a:solidFill>
              </a:rPr>
              <a:t>Boost set by feel</a:t>
            </a:r>
            <a:endParaRPr lang="en-US" sz="1700" dirty="0"/>
          </a:p>
        </p:txBody>
      </p:sp>
      <p:sp>
        <p:nvSpPr>
          <p:cNvPr id="13" name="Text 9"/>
          <p:cNvSpPr txBox="1"/>
          <p:nvPr/>
        </p:nvSpPr>
        <p:spPr>
          <a:xfrm>
            <a:off x="4572000" y="2606040"/>
            <a:ext cx="3200400" cy="1051560"/>
          </a:xfrm>
          <a:prstGeom prst="rect">
            <a:avLst/>
          </a:prstGeom>
          <a:noFill/>
          <a:ln/>
        </p:spPr>
        <p:txBody>
          <a:bodyPr wrap="square" lIns="0" tIns="0" rIns="0" bIns="0" rtlCol="0" anchor="t"/>
          <a:lstStyle/>
          <a:p>
            <a:pPr indent="0" marL="0">
              <a:buNone/>
            </a:pPr>
            <a:r>
              <a:rPr lang="en-US" sz="1300" dirty="0">
                <a:solidFill>
                  <a:schemeClr val="tx1"/>
                </a:solidFill>
              </a:rPr>
              <a:t>Barrier boost is used as a heat source, but 1 Gcal of boost replaces only 0.77 Gcal of gas. More boost than the bottom needs raises SFC.</a:t>
            </a:r>
            <a:endParaRPr lang="en-US" sz="1300" dirty="0"/>
          </a:p>
        </p:txBody>
      </p:sp>
      <p:sp>
        <p:nvSpPr>
          <p:cNvPr id="14" name="card"/>
          <p:cNvSpPr/>
          <p:nvPr/>
        </p:nvSpPr>
        <p:spPr>
          <a:xfrm>
            <a:off x="548640" y="3931920"/>
            <a:ext cx="3611880" cy="2057400"/>
          </a:xfrm>
          <a:prstGeom prst="roundRect">
            <a:avLst>
              <a:gd name="adj" fmla="val 3556"/>
            </a:avLst>
          </a:prstGeom>
          <a:solidFill>
            <a:schemeClr val="bg2"/>
          </a:solidFill>
          <a:ln/>
        </p:spPr>
      </p:sp>
      <p:sp>
        <p:nvSpPr>
          <p:cNvPr id="15" name="icon circle"/>
          <p:cNvSpPr/>
          <p:nvPr/>
        </p:nvSpPr>
        <p:spPr>
          <a:xfrm>
            <a:off x="777240" y="4160520"/>
            <a:ext cx="548640" cy="548640"/>
          </a:xfrm>
          <a:prstGeom prst="ellipse">
            <a:avLst/>
          </a:prstGeom>
          <a:solidFill>
            <a:schemeClr val="accent2"/>
          </a:solidFill>
          <a:ln/>
        </p:spPr>
      </p:sp>
      <p:pic>
        <p:nvPicPr>
          <p:cNvPr id="16" name="Image 2" descr="FaWind">    </p:cNvPr>
          <p:cNvPicPr>
            <a:picLocks noChangeAspect="1"/>
          </p:cNvPicPr>
          <p:nvPr/>
        </p:nvPicPr>
        <p:blipFill>
          <a:blip r:embed="rId3"/>
          <a:stretch>
            <a:fillRect/>
          </a:stretch>
        </p:blipFill>
        <p:spPr>
          <a:xfrm>
            <a:off x="919886" y="4303166"/>
            <a:ext cx="263347" cy="263347"/>
          </a:xfrm>
          <a:prstGeom prst="rect">
            <a:avLst/>
          </a:prstGeom>
        </p:spPr>
      </p:pic>
      <p:sp>
        <p:nvSpPr>
          <p:cNvPr id="17" name="Text 12"/>
          <p:cNvSpPr txBox="1"/>
          <p:nvPr/>
        </p:nvSpPr>
        <p:spPr>
          <a:xfrm>
            <a:off x="1463040" y="4206240"/>
            <a:ext cx="2560320" cy="457200"/>
          </a:xfrm>
          <a:prstGeom prst="rect">
            <a:avLst/>
          </a:prstGeom>
          <a:noFill/>
          <a:ln/>
        </p:spPr>
        <p:txBody>
          <a:bodyPr wrap="square" lIns="0" tIns="0" rIns="0" bIns="0" rtlCol="0" anchor="ctr"/>
          <a:lstStyle/>
          <a:p>
            <a:pPr indent="0" marL="0">
              <a:buNone/>
            </a:pPr>
            <a:r>
              <a:rPr lang="en-US" sz="1700" b="1" dirty="0">
                <a:solidFill>
                  <a:schemeClr val="tx2"/>
                </a:solidFill>
              </a:rPr>
              <a:t>Excess air</a:t>
            </a:r>
            <a:endParaRPr lang="en-US" sz="1700" dirty="0"/>
          </a:p>
        </p:txBody>
      </p:sp>
      <p:sp>
        <p:nvSpPr>
          <p:cNvPr id="18" name="Text 13"/>
          <p:cNvSpPr txBox="1"/>
          <p:nvPr/>
        </p:nvSpPr>
        <p:spPr>
          <a:xfrm>
            <a:off x="777240" y="4846320"/>
            <a:ext cx="3200400" cy="1051560"/>
          </a:xfrm>
          <a:prstGeom prst="rect">
            <a:avLst/>
          </a:prstGeom>
          <a:noFill/>
          <a:ln/>
        </p:spPr>
        <p:txBody>
          <a:bodyPr wrap="square" lIns="0" tIns="0" rIns="0" bIns="0" rtlCol="0" anchor="t"/>
          <a:lstStyle/>
          <a:p>
            <a:pPr indent="0" marL="0">
              <a:buNone/>
            </a:pPr>
            <a:r>
              <a:rPr lang="en-US" sz="1300" dirty="0">
                <a:solidFill>
                  <a:schemeClr val="tx1"/>
                </a:solidFill>
              </a:rPr>
              <a:t>Every extra 0.01 SCM of air per Mcal costs ≈ 0.13 Gcal/day; the heat leaves through the regenerators.</a:t>
            </a:r>
            <a:endParaRPr lang="en-US" sz="1300" dirty="0"/>
          </a:p>
        </p:txBody>
      </p:sp>
      <p:sp>
        <p:nvSpPr>
          <p:cNvPr id="19" name="card"/>
          <p:cNvSpPr/>
          <p:nvPr/>
        </p:nvSpPr>
        <p:spPr>
          <a:xfrm>
            <a:off x="4343400" y="3931920"/>
            <a:ext cx="3611880" cy="2057400"/>
          </a:xfrm>
          <a:prstGeom prst="roundRect">
            <a:avLst>
              <a:gd name="adj" fmla="val 3556"/>
            </a:avLst>
          </a:prstGeom>
          <a:solidFill>
            <a:schemeClr val="bg2"/>
          </a:solidFill>
          <a:ln/>
        </p:spPr>
      </p:sp>
      <p:sp>
        <p:nvSpPr>
          <p:cNvPr id="20" name="icon circle"/>
          <p:cNvSpPr/>
          <p:nvPr/>
        </p:nvSpPr>
        <p:spPr>
          <a:xfrm>
            <a:off x="4572000" y="4160520"/>
            <a:ext cx="548640" cy="548640"/>
          </a:xfrm>
          <a:prstGeom prst="ellipse">
            <a:avLst/>
          </a:prstGeom>
          <a:solidFill>
            <a:schemeClr val="accent2"/>
          </a:solidFill>
          <a:ln/>
        </p:spPr>
      </p:sp>
      <p:pic>
        <p:nvPicPr>
          <p:cNvPr id="21" name="Image 3" descr="FaHourglassHalf">    </p:cNvPr>
          <p:cNvPicPr>
            <a:picLocks noChangeAspect="1"/>
          </p:cNvPicPr>
          <p:nvPr/>
        </p:nvPicPr>
        <p:blipFill>
          <a:blip r:embed="rId4"/>
          <a:stretch>
            <a:fillRect/>
          </a:stretch>
        </p:blipFill>
        <p:spPr>
          <a:xfrm>
            <a:off x="4714646" y="4303166"/>
            <a:ext cx="263347" cy="263347"/>
          </a:xfrm>
          <a:prstGeom prst="rect">
            <a:avLst/>
          </a:prstGeom>
        </p:spPr>
      </p:pic>
      <p:sp>
        <p:nvSpPr>
          <p:cNvPr id="22" name="Text 16"/>
          <p:cNvSpPr txBox="1"/>
          <p:nvPr/>
        </p:nvSpPr>
        <p:spPr>
          <a:xfrm>
            <a:off x="5257800" y="4206240"/>
            <a:ext cx="2560320" cy="457200"/>
          </a:xfrm>
          <a:prstGeom prst="rect">
            <a:avLst/>
          </a:prstGeom>
          <a:noFill/>
          <a:ln/>
        </p:spPr>
        <p:txBody>
          <a:bodyPr wrap="square" lIns="0" tIns="0" rIns="0" bIns="0" rtlCol="0" anchor="ctr"/>
          <a:lstStyle/>
          <a:p>
            <a:pPr indent="0" marL="0">
              <a:buNone/>
            </a:pPr>
            <a:r>
              <a:rPr lang="en-US" sz="1700" b="1" dirty="0">
                <a:solidFill>
                  <a:schemeClr val="tx2"/>
                </a:solidFill>
              </a:rPr>
              <a:t>Furnace ageing</a:t>
            </a:r>
            <a:endParaRPr lang="en-US" sz="1700" dirty="0"/>
          </a:p>
        </p:txBody>
      </p:sp>
      <p:sp>
        <p:nvSpPr>
          <p:cNvPr id="23" name="Text 17"/>
          <p:cNvSpPr txBox="1"/>
          <p:nvPr/>
        </p:nvSpPr>
        <p:spPr>
          <a:xfrm>
            <a:off x="4572000" y="4846320"/>
            <a:ext cx="3200400" cy="1051560"/>
          </a:xfrm>
          <a:prstGeom prst="rect">
            <a:avLst/>
          </a:prstGeom>
          <a:noFill/>
          <a:ln/>
        </p:spPr>
        <p:txBody>
          <a:bodyPr wrap="square" lIns="0" tIns="0" rIns="0" bIns="0" rtlCol="0" anchor="t"/>
          <a:lstStyle/>
          <a:p>
            <a:pPr indent="0" marL="0">
              <a:buNone/>
            </a:pPr>
            <a:r>
              <a:rPr lang="en-US" sz="1300" dirty="0">
                <a:solidFill>
                  <a:schemeClr val="tx1"/>
                </a:solidFill>
              </a:rPr>
              <a:t>Energy at the same draw rises ≈ 0.19% per month, so standing still means SFC creeps up.</a:t>
            </a:r>
            <a:endParaRPr lang="en-US" sz="1300" dirty="0"/>
          </a:p>
        </p:txBody>
      </p:sp>
      <p:sp>
        <p:nvSpPr>
          <p:cNvPr id="24" name="card"/>
          <p:cNvSpPr/>
          <p:nvPr/>
        </p:nvSpPr>
        <p:spPr>
          <a:xfrm>
            <a:off x="8275320" y="1691640"/>
            <a:ext cx="3364992" cy="4297680"/>
          </a:xfrm>
          <a:prstGeom prst="roundRect">
            <a:avLst>
              <a:gd name="adj" fmla="val 2174"/>
            </a:avLst>
          </a:prstGeom>
          <a:solidFill>
            <a:schemeClr val="tx2"/>
          </a:solidFill>
          <a:ln/>
        </p:spPr>
      </p:sp>
      <p:sp>
        <p:nvSpPr>
          <p:cNvPr id="25" name="Text 19"/>
          <p:cNvSpPr txBox="1"/>
          <p:nvPr/>
        </p:nvSpPr>
        <p:spPr>
          <a:xfrm>
            <a:off x="8549640" y="1874520"/>
            <a:ext cx="2834640" cy="365760"/>
          </a:xfrm>
          <a:prstGeom prst="rect">
            <a:avLst/>
          </a:prstGeom>
          <a:noFill/>
          <a:ln/>
        </p:spPr>
        <p:txBody>
          <a:bodyPr wrap="square" lIns="0" tIns="0" rIns="0" bIns="0" rtlCol="0" anchor="t"/>
          <a:lstStyle/>
          <a:p>
            <a:pPr indent="0" marL="0">
              <a:buNone/>
            </a:pPr>
            <a:r>
              <a:rPr lang="en-US" sz="1700" b="1" dirty="0">
                <a:solidFill>
                  <a:schemeClr val="accent6"/>
                </a:solidFill>
              </a:rPr>
              <a:t>The goal</a:t>
            </a:r>
            <a:endParaRPr lang="en-US" sz="1700" dirty="0"/>
          </a:p>
        </p:txBody>
      </p:sp>
      <p:sp>
        <p:nvSpPr>
          <p:cNvPr id="26" name="Text 20"/>
          <p:cNvSpPr txBox="1"/>
          <p:nvPr/>
        </p:nvSpPr>
        <p:spPr>
          <a:xfrm>
            <a:off x="8549640" y="2286000"/>
            <a:ext cx="2834640" cy="914400"/>
          </a:xfrm>
          <a:prstGeom prst="rect">
            <a:avLst/>
          </a:prstGeom>
          <a:noFill/>
          <a:ln/>
        </p:spPr>
        <p:txBody>
          <a:bodyPr wrap="square" lIns="0" tIns="0" rIns="0" bIns="0" rtlCol="0" anchor="t"/>
          <a:lstStyle/>
          <a:p>
            <a:pPr indent="0" marL="0">
              <a:buNone/>
            </a:pPr>
            <a:r>
              <a:rPr lang="en-US" sz="6000" b="1" dirty="0">
                <a:solidFill>
                  <a:schemeClr val="bg1"/>
                </a:solidFill>
                <a:latin typeface="Arial" pitchFamily="34" charset="0"/>
                <a:ea typeface="Arial" pitchFamily="34" charset="-122"/>
                <a:cs typeface="Arial" pitchFamily="34" charset="-120"/>
              </a:rPr>
              <a:t>−2%</a:t>
            </a:r>
            <a:endParaRPr lang="en-US" sz="6000" dirty="0"/>
          </a:p>
        </p:txBody>
      </p:sp>
      <p:sp>
        <p:nvSpPr>
          <p:cNvPr id="27" name="Text 21"/>
          <p:cNvSpPr txBox="1"/>
          <p:nvPr/>
        </p:nvSpPr>
        <p:spPr>
          <a:xfrm>
            <a:off x="8549640" y="3291840"/>
            <a:ext cx="2834640" cy="731520"/>
          </a:xfrm>
          <a:prstGeom prst="rect">
            <a:avLst/>
          </a:prstGeom>
          <a:noFill/>
          <a:ln/>
        </p:spPr>
        <p:txBody>
          <a:bodyPr wrap="square" lIns="0" tIns="0" rIns="0" bIns="0" rtlCol="0" anchor="t"/>
          <a:lstStyle/>
          <a:p>
            <a:pPr indent="0" marL="0">
              <a:buNone/>
            </a:pPr>
            <a:r>
              <a:rPr lang="en-US" sz="1300" dirty="0">
                <a:solidFill>
                  <a:srgbClr val="C9D3E0"/>
                </a:solidFill>
              </a:rPr>
              <a:t>SFC of the melter (NG + melter boost + barrier boost), forehearths excluded</a:t>
            </a:r>
            <a:endParaRPr lang="en-US" sz="1300" dirty="0"/>
          </a:p>
        </p:txBody>
      </p:sp>
      <p:sp>
        <p:nvSpPr>
          <p:cNvPr id="28" name="Text 22"/>
          <p:cNvSpPr txBox="1"/>
          <p:nvPr/>
        </p:nvSpPr>
        <p:spPr>
          <a:xfrm>
            <a:off x="8549640" y="4160520"/>
            <a:ext cx="2834640" cy="457200"/>
          </a:xfrm>
          <a:prstGeom prst="rect">
            <a:avLst/>
          </a:prstGeom>
          <a:noFill/>
          <a:ln/>
        </p:spPr>
        <p:txBody>
          <a:bodyPr wrap="square" lIns="0" tIns="0" rIns="0" bIns="0" rtlCol="0" anchor="t"/>
          <a:lstStyle/>
          <a:p>
            <a:pPr indent="0" marL="0">
              <a:buNone/>
            </a:pPr>
            <a:r>
              <a:rPr lang="en-US" sz="2400" b="1" dirty="0">
                <a:solidFill>
                  <a:schemeClr val="accent5"/>
                </a:solidFill>
              </a:rPr>
              <a:t>1,576.3 → 1,544.8</a:t>
            </a:r>
            <a:endParaRPr lang="en-US" sz="2400" dirty="0"/>
          </a:p>
        </p:txBody>
      </p:sp>
      <p:sp>
        <p:nvSpPr>
          <p:cNvPr id="29" name="Text 23"/>
          <p:cNvSpPr txBox="1"/>
          <p:nvPr/>
        </p:nvSpPr>
        <p:spPr>
          <a:xfrm>
            <a:off x="8549640" y="4663440"/>
            <a:ext cx="2834640" cy="914400"/>
          </a:xfrm>
          <a:prstGeom prst="rect">
            <a:avLst/>
          </a:prstGeom>
          <a:noFill/>
          <a:ln/>
        </p:spPr>
        <p:txBody>
          <a:bodyPr wrap="square" lIns="0" tIns="0" rIns="0" bIns="0" rtlCol="0" anchor="t"/>
          <a:lstStyle/>
          <a:p>
            <a:pPr indent="0" marL="0">
              <a:buNone/>
            </a:pPr>
            <a:r>
              <a:rPr lang="en-US" sz="1300" dirty="0">
                <a:solidFill>
                  <a:srgbClr val="C9D3E0"/>
                </a:solidFill>
              </a:rPr>
              <a:t>kcal/kg, baseline 1 Sep 2025 – 31 Jul 2026. Seeds and furnace limits must hold.</a:t>
            </a:r>
            <a:endParaRPr lang="en-US" sz="13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Acceptance criteria</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Two recommenders, one success yardstick, quality and furnace limits as hard guard-rails</a:t>
            </a:r>
            <a:endParaRPr lang="en-US" sz="1600" dirty="0"/>
          </a:p>
        </p:txBody>
      </p:sp>
      <p:sp>
        <p:nvSpPr>
          <p:cNvPr id="4" name="card"/>
          <p:cNvSpPr/>
          <p:nvPr/>
        </p:nvSpPr>
        <p:spPr>
          <a:xfrm>
            <a:off x="548640" y="1691640"/>
            <a:ext cx="3657600" cy="4297680"/>
          </a:xfrm>
          <a:prstGeom prst="roundRect">
            <a:avLst>
              <a:gd name="adj" fmla="val 2000"/>
            </a:avLst>
          </a:prstGeom>
          <a:solidFill>
            <a:schemeClr val="bg2"/>
          </a:solidFill>
          <a:ln/>
        </p:spPr>
      </p:sp>
      <p:sp>
        <p:nvSpPr>
          <p:cNvPr id="5" name="icon circle"/>
          <p:cNvSpPr/>
          <p:nvPr/>
        </p:nvSpPr>
        <p:spPr>
          <a:xfrm>
            <a:off x="777240" y="1874520"/>
            <a:ext cx="548640" cy="548640"/>
          </a:xfrm>
          <a:prstGeom prst="ellipse">
            <a:avLst/>
          </a:prstGeom>
          <a:solidFill>
            <a:schemeClr val="accent2"/>
          </a:solidFill>
          <a:ln/>
        </p:spPr>
      </p:sp>
      <p:pic>
        <p:nvPicPr>
          <p:cNvPr id="6" name="Image 0" descr="FaFire">    </p:cNvPr>
          <p:cNvPicPr>
            <a:picLocks noChangeAspect="1"/>
          </p:cNvPicPr>
          <p:nvPr/>
        </p:nvPicPr>
        <p:blipFill>
          <a:blip r:embed="rId1"/>
          <a:stretch>
            <a:fillRect/>
          </a:stretch>
        </p:blipFill>
        <p:spPr>
          <a:xfrm>
            <a:off x="919886" y="2017166"/>
            <a:ext cx="263347" cy="263347"/>
          </a:xfrm>
          <a:prstGeom prst="rect">
            <a:avLst/>
          </a:prstGeom>
        </p:spPr>
      </p:pic>
      <p:sp>
        <p:nvSpPr>
          <p:cNvPr id="7" name="Text 4"/>
          <p:cNvSpPr txBox="1"/>
          <p:nvPr/>
        </p:nvSpPr>
        <p:spPr>
          <a:xfrm>
            <a:off x="1463040" y="1874520"/>
            <a:ext cx="2651760" cy="548640"/>
          </a:xfrm>
          <a:prstGeom prst="rect">
            <a:avLst/>
          </a:prstGeom>
          <a:noFill/>
          <a:ln/>
        </p:spPr>
        <p:txBody>
          <a:bodyPr wrap="square" lIns="0" tIns="0" rIns="0" bIns="0" rtlCol="0" anchor="ctr"/>
          <a:lstStyle/>
          <a:p>
            <a:pPr indent="0" marL="0">
              <a:buNone/>
            </a:pPr>
            <a:r>
              <a:rPr lang="en-US" sz="1700" b="1" dirty="0">
                <a:solidFill>
                  <a:schemeClr val="tx2"/>
                </a:solidFill>
              </a:rPr>
              <a:t>Model 1: Gas recommender</a:t>
            </a:r>
            <a:endParaRPr lang="en-US" sz="1700" dirty="0"/>
          </a:p>
        </p:txBody>
      </p:sp>
      <p:sp>
        <p:nvSpPr>
          <p:cNvPr id="8" name="Text 5"/>
          <p:cNvSpPr txBox="1"/>
          <p:nvPr/>
        </p:nvSpPr>
        <p:spPr>
          <a:xfrm>
            <a:off x="777240" y="2606040"/>
            <a:ext cx="3200400" cy="320040"/>
          </a:xfrm>
          <a:prstGeom prst="rect">
            <a:avLst/>
          </a:prstGeom>
          <a:noFill/>
          <a:ln/>
        </p:spPr>
        <p:txBody>
          <a:bodyPr wrap="square" lIns="0" tIns="0" rIns="0" bIns="0" rtlCol="0" anchor="t"/>
          <a:lstStyle/>
          <a:p>
            <a:pPr indent="0" marL="0">
              <a:buNone/>
            </a:pPr>
            <a:r>
              <a:rPr lang="en-US" sz="1300" b="1" dirty="0">
                <a:solidFill>
                  <a:schemeClr val="accent2"/>
                </a:solidFill>
              </a:rPr>
              <a:t>Every 20-min reversal (ready by minute 15)</a:t>
            </a:r>
            <a:endParaRPr lang="en-US" sz="1300" dirty="0"/>
          </a:p>
        </p:txBody>
      </p:sp>
      <p:sp>
        <p:nvSpPr>
          <p:cNvPr id="9" name="Text 6"/>
          <p:cNvSpPr txBox="1"/>
          <p:nvPr/>
        </p:nvSpPr>
        <p:spPr>
          <a:xfrm>
            <a:off x="777240" y="3017520"/>
            <a:ext cx="3246120" cy="283464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tx1"/>
                </a:solidFill>
              </a:rPr>
              <a:t>Inputs: NCV (UEMS, 15 min), draw and cullet (day), actual boost (DB)</a:t>
            </a:r>
            <a:endParaRPr lang="en-US" sz="1400" dirty="0"/>
          </a:p>
          <a:p>
            <a:pPr marL="190500" indent="-190500">
              <a:spcAft>
                <a:spcPts val="600"/>
              </a:spcAft>
              <a:buSzPct val="100000"/>
              <a:buChar char="•"/>
            </a:pPr>
            <a:r>
              <a:rPr lang="en-US" sz="1400" dirty="0">
                <a:solidFill>
                  <a:schemeClr val="tx1"/>
                </a:solidFill>
              </a:rPr>
              <a:t>Recommends: NG flow (one value for both ports), secondary air, air-fuel ratio</a:t>
            </a:r>
            <a:endParaRPr lang="en-US" sz="1400" dirty="0"/>
          </a:p>
          <a:p>
            <a:pPr marL="190500" indent="-190500">
              <a:spcAft>
                <a:spcPts val="600"/>
              </a:spcAft>
              <a:buSzPct val="100000"/>
              <a:buChar char="•"/>
            </a:pPr>
            <a:r>
              <a:rPr lang="en-US" sz="1400" dirty="0">
                <a:solidFill>
                  <a:schemeClr val="tx1"/>
                </a:solidFill>
              </a:rPr>
              <a:t>Unit = workbook unit, so the operator types the value directly</a:t>
            </a:r>
            <a:endParaRPr lang="en-US" sz="1400" dirty="0"/>
          </a:p>
        </p:txBody>
      </p:sp>
      <p:sp>
        <p:nvSpPr>
          <p:cNvPr id="10" name="card"/>
          <p:cNvSpPr/>
          <p:nvPr/>
        </p:nvSpPr>
        <p:spPr>
          <a:xfrm>
            <a:off x="4389120" y="1691640"/>
            <a:ext cx="3657600" cy="4297680"/>
          </a:xfrm>
          <a:prstGeom prst="roundRect">
            <a:avLst>
              <a:gd name="adj" fmla="val 2000"/>
            </a:avLst>
          </a:prstGeom>
          <a:solidFill>
            <a:schemeClr val="bg2"/>
          </a:solidFill>
          <a:ln/>
        </p:spPr>
      </p:sp>
      <p:sp>
        <p:nvSpPr>
          <p:cNvPr id="11" name="icon circle"/>
          <p:cNvSpPr/>
          <p:nvPr/>
        </p:nvSpPr>
        <p:spPr>
          <a:xfrm>
            <a:off x="4617720" y="1874520"/>
            <a:ext cx="548640" cy="548640"/>
          </a:xfrm>
          <a:prstGeom prst="ellipse">
            <a:avLst/>
          </a:prstGeom>
          <a:solidFill>
            <a:schemeClr val="accent1"/>
          </a:solidFill>
          <a:ln/>
        </p:spPr>
      </p:sp>
      <p:pic>
        <p:nvPicPr>
          <p:cNvPr id="12" name="Image 1" descr="FaBolt">    </p:cNvPr>
          <p:cNvPicPr>
            <a:picLocks noChangeAspect="1"/>
          </p:cNvPicPr>
          <p:nvPr/>
        </p:nvPicPr>
        <p:blipFill>
          <a:blip r:embed="rId2"/>
          <a:stretch>
            <a:fillRect/>
          </a:stretch>
        </p:blipFill>
        <p:spPr>
          <a:xfrm>
            <a:off x="4760366" y="2017166"/>
            <a:ext cx="263347" cy="263347"/>
          </a:xfrm>
          <a:prstGeom prst="rect">
            <a:avLst/>
          </a:prstGeom>
        </p:spPr>
      </p:pic>
      <p:sp>
        <p:nvSpPr>
          <p:cNvPr id="13" name="Text 9"/>
          <p:cNvSpPr txBox="1"/>
          <p:nvPr/>
        </p:nvSpPr>
        <p:spPr>
          <a:xfrm>
            <a:off x="5303520" y="1874520"/>
            <a:ext cx="2651760" cy="548640"/>
          </a:xfrm>
          <a:prstGeom prst="rect">
            <a:avLst/>
          </a:prstGeom>
          <a:noFill/>
          <a:ln/>
        </p:spPr>
        <p:txBody>
          <a:bodyPr wrap="square" lIns="0" tIns="0" rIns="0" bIns="0" rtlCol="0" anchor="ctr"/>
          <a:lstStyle/>
          <a:p>
            <a:pPr indent="0" marL="0">
              <a:buNone/>
            </a:pPr>
            <a:r>
              <a:rPr lang="en-US" sz="1700" b="1" dirty="0">
                <a:solidFill>
                  <a:schemeClr val="tx2"/>
                </a:solidFill>
              </a:rPr>
              <a:t>Model 2: Barrier-boost recommender</a:t>
            </a:r>
            <a:endParaRPr lang="en-US" sz="1700" dirty="0"/>
          </a:p>
        </p:txBody>
      </p:sp>
      <p:sp>
        <p:nvSpPr>
          <p:cNvPr id="14" name="Text 10"/>
          <p:cNvSpPr txBox="1"/>
          <p:nvPr/>
        </p:nvSpPr>
        <p:spPr>
          <a:xfrm>
            <a:off x="4617720" y="2606040"/>
            <a:ext cx="3200400" cy="320040"/>
          </a:xfrm>
          <a:prstGeom prst="rect">
            <a:avLst/>
          </a:prstGeom>
          <a:noFill/>
          <a:ln/>
        </p:spPr>
        <p:txBody>
          <a:bodyPr wrap="square" lIns="0" tIns="0" rIns="0" bIns="0" rtlCol="0" anchor="t"/>
          <a:lstStyle/>
          <a:p>
            <a:pPr indent="0" marL="0">
              <a:buNone/>
            </a:pPr>
            <a:r>
              <a:rPr lang="en-US" sz="1300" b="1" dirty="0">
                <a:solidFill>
                  <a:schemeClr val="accent1"/>
                </a:solidFill>
              </a:rPr>
              <a:t>Every hour</a:t>
            </a:r>
            <a:endParaRPr lang="en-US" sz="1300" dirty="0"/>
          </a:p>
        </p:txBody>
      </p:sp>
      <p:sp>
        <p:nvSpPr>
          <p:cNvPr id="15" name="Text 11"/>
          <p:cNvSpPr txBox="1"/>
          <p:nvPr/>
        </p:nvSpPr>
        <p:spPr>
          <a:xfrm>
            <a:off x="4617720" y="3017520"/>
            <a:ext cx="3246120" cy="283464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tx1"/>
                </a:solidFill>
              </a:rPr>
              <a:t>Input: MB3 bottom temperature (DCS) and last hour's boost</a:t>
            </a:r>
            <a:endParaRPr lang="en-US" sz="1400" dirty="0"/>
          </a:p>
          <a:p>
            <a:pPr marL="190500" indent="-190500">
              <a:spcAft>
                <a:spcPts val="600"/>
              </a:spcAft>
              <a:buSzPct val="100000"/>
              <a:buChar char="•"/>
            </a:pPr>
            <a:r>
              <a:rPr lang="en-US" sz="1400" dirty="0">
                <a:solidFill>
                  <a:schemeClr val="tx1"/>
                </a:solidFill>
              </a:rPr>
              <a:t>Recommends: barrier boost (kWh/h) that holds MB3 at its target</a:t>
            </a:r>
            <a:endParaRPr lang="en-US" sz="1400" dirty="0"/>
          </a:p>
          <a:p>
            <a:pPr marL="190500" indent="-190500">
              <a:spcAft>
                <a:spcPts val="600"/>
              </a:spcAft>
              <a:buSzPct val="100000"/>
              <a:buChar char="•"/>
            </a:pPr>
            <a:r>
              <a:rPr lang="en-US" sz="1400" dirty="0">
                <a:solidFill>
                  <a:schemeClr val="tx1"/>
                </a:solidFill>
              </a:rPr>
              <a:t>Melter boost stays on its fixed levels (known input)</a:t>
            </a:r>
            <a:endParaRPr lang="en-US" sz="1400" dirty="0"/>
          </a:p>
        </p:txBody>
      </p:sp>
      <p:sp>
        <p:nvSpPr>
          <p:cNvPr id="16" name="card"/>
          <p:cNvSpPr/>
          <p:nvPr/>
        </p:nvSpPr>
        <p:spPr>
          <a:xfrm>
            <a:off x="8229600" y="1691640"/>
            <a:ext cx="3410712" cy="4297680"/>
          </a:xfrm>
          <a:prstGeom prst="roundRect">
            <a:avLst>
              <a:gd name="adj" fmla="val 2145"/>
            </a:avLst>
          </a:prstGeom>
          <a:solidFill>
            <a:schemeClr val="bg2"/>
          </a:solidFill>
          <a:ln/>
        </p:spPr>
      </p:sp>
      <p:sp>
        <p:nvSpPr>
          <p:cNvPr id="17" name="Text 13"/>
          <p:cNvSpPr txBox="1"/>
          <p:nvPr/>
        </p:nvSpPr>
        <p:spPr>
          <a:xfrm>
            <a:off x="8458200" y="1874520"/>
            <a:ext cx="3017520" cy="365760"/>
          </a:xfrm>
          <a:prstGeom prst="rect">
            <a:avLst/>
          </a:prstGeom>
          <a:noFill/>
          <a:ln/>
        </p:spPr>
        <p:txBody>
          <a:bodyPr wrap="square" lIns="0" tIns="0" rIns="0" bIns="0" rtlCol="0" anchor="t"/>
          <a:lstStyle/>
          <a:p>
            <a:pPr indent="0" marL="0">
              <a:buNone/>
            </a:pPr>
            <a:r>
              <a:rPr lang="en-US" sz="1700" b="1" dirty="0">
                <a:solidFill>
                  <a:schemeClr val="tx2"/>
                </a:solidFill>
              </a:rPr>
              <a:t>Success is accepted when</a:t>
            </a:r>
            <a:endParaRPr lang="en-US" sz="1700" dirty="0"/>
          </a:p>
        </p:txBody>
      </p:sp>
      <p:sp>
        <p:nvSpPr>
          <p:cNvPr id="18" name="Text 14"/>
          <p:cNvSpPr txBox="1"/>
          <p:nvPr/>
        </p:nvSpPr>
        <p:spPr>
          <a:xfrm>
            <a:off x="8458200" y="2377440"/>
            <a:ext cx="3017520" cy="3474720"/>
          </a:xfrm>
          <a:prstGeom prst="rect">
            <a:avLst/>
          </a:prstGeom>
          <a:noFill/>
          <a:ln/>
        </p:spPr>
        <p:txBody>
          <a:bodyPr wrap="square" lIns="0" tIns="0" rIns="0" bIns="0" rtlCol="0" anchor="t"/>
          <a:lstStyle/>
          <a:p>
            <a:pPr marL="190500" indent="-190500">
              <a:spcAft>
                <a:spcPts val="600"/>
              </a:spcAft>
              <a:buSzPct val="100000"/>
              <a:buChar char="•"/>
            </a:pPr>
            <a:r>
              <a:rPr lang="en-US" sz="1400" b="1" dirty="0">
                <a:solidFill>
                  <a:schemeClr val="tx1"/>
                </a:solidFill>
              </a:rPr>
              <a:t>−2% per 5-t draw band, or</a:t>
            </a:r>
            <a:endParaRPr lang="en-US" sz="1400" dirty="0"/>
          </a:p>
          <a:p>
            <a:pPr marL="190500" indent="-190500">
              <a:spcAft>
                <a:spcPts val="600"/>
              </a:spcAft>
              <a:buSzPct val="100000"/>
              <a:buChar char="•"/>
            </a:pPr>
            <a:r>
              <a:rPr lang="en-US" sz="1400" b="1" dirty="0">
                <a:solidFill>
                  <a:schemeClr val="tx1"/>
                </a:solidFill>
              </a:rPr>
              <a:t>−2% draw-adjusted vs the baseline model at the same draw and cullet</a:t>
            </a:r>
            <a:endParaRPr lang="en-US" sz="1400" dirty="0"/>
          </a:p>
          <a:p>
            <a:pPr marL="190500" indent="-190500">
              <a:spcAft>
                <a:spcPts val="600"/>
              </a:spcAft>
              <a:buSzPct val="100000"/>
              <a:buChar char="•"/>
            </a:pPr>
            <a:r>
              <a:rPr lang="en-US" sz="1400" dirty="0">
                <a:solidFill>
                  <a:schemeClr val="tx1"/>
                </a:solidFill>
              </a:rPr>
              <a:t>Seeds within spec (≤ 30) every day</a:t>
            </a:r>
            <a:endParaRPr lang="en-US" sz="1400" dirty="0"/>
          </a:p>
          <a:p>
            <a:pPr marL="190500" indent="-190500">
              <a:spcAft>
                <a:spcPts val="600"/>
              </a:spcAft>
              <a:buSzPct val="100000"/>
              <a:buChar char="•"/>
            </a:pPr>
            <a:r>
              <a:rPr lang="en-US" sz="1400" dirty="0">
                <a:solidFill>
                  <a:schemeClr val="tx1"/>
                </a:solidFill>
              </a:rPr>
              <a:t>All setpoints inside the historical P1–P99 limits until the plant issues official ones</a:t>
            </a:r>
            <a:endParaRPr lang="en-US" sz="1400" dirty="0"/>
          </a:p>
          <a:p>
            <a:pPr marL="190500" indent="-190500">
              <a:spcAft>
                <a:spcPts val="600"/>
              </a:spcAft>
              <a:buSzPct val="100000"/>
              <a:buChar char="•"/>
            </a:pPr>
            <a:r>
              <a:rPr lang="en-US" sz="1400" dirty="0">
                <a:solidFill>
                  <a:schemeClr val="tx1"/>
                </a:solidFill>
              </a:rPr>
              <a:t>Optical crown temperature monitored as a guard-rail (1,568–1,578 °C)</a:t>
            </a:r>
            <a:endParaRPr lang="en-US" sz="14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SFC formula and baseline</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We use the client formula exactly, and rebuilt the client baseline from raw data</a:t>
            </a:r>
            <a:endParaRPr lang="en-US" sz="1600" dirty="0"/>
          </a:p>
        </p:txBody>
      </p:sp>
      <p:sp>
        <p:nvSpPr>
          <p:cNvPr id="4" name="card"/>
          <p:cNvSpPr/>
          <p:nvPr/>
        </p:nvSpPr>
        <p:spPr>
          <a:xfrm>
            <a:off x="548640" y="1691640"/>
            <a:ext cx="11094415" cy="1325880"/>
          </a:xfrm>
          <a:prstGeom prst="roundRect">
            <a:avLst>
              <a:gd name="adj" fmla="val 5517"/>
            </a:avLst>
          </a:prstGeom>
          <a:solidFill>
            <a:schemeClr val="tx2"/>
          </a:solidFill>
          <a:ln/>
        </p:spPr>
      </p:sp>
      <p:sp>
        <p:nvSpPr>
          <p:cNvPr id="5" name="Text 3"/>
          <p:cNvSpPr txBox="1"/>
          <p:nvPr/>
        </p:nvSpPr>
        <p:spPr>
          <a:xfrm>
            <a:off x="822960" y="1874520"/>
            <a:ext cx="10545775"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Arial" pitchFamily="34" charset="0"/>
                <a:ea typeface="Arial" pitchFamily="34" charset="-122"/>
                <a:cs typeface="Arial" pitchFamily="34" charset="-120"/>
              </a:rPr>
              <a:t>SFC (kcal/kg)  =  [ Σ NG × NCV  +  ( Σ Barrier kWh + Σ Melter kWh ) × 860 ]  ÷  Draw (kg)</a:t>
            </a:r>
            <a:endParaRPr lang="en-US" sz="2000" dirty="0"/>
          </a:p>
        </p:txBody>
      </p:sp>
      <p:sp>
        <p:nvSpPr>
          <p:cNvPr id="6" name="Text 4"/>
          <p:cNvSpPr txBox="1"/>
          <p:nvPr/>
        </p:nvSpPr>
        <p:spPr>
          <a:xfrm>
            <a:off x="822960" y="2468880"/>
            <a:ext cx="10545775" cy="365760"/>
          </a:xfrm>
          <a:prstGeom prst="rect">
            <a:avLst/>
          </a:prstGeom>
          <a:noFill/>
          <a:ln/>
        </p:spPr>
        <p:txBody>
          <a:bodyPr wrap="square" lIns="0" tIns="0" rIns="0" bIns="0" rtlCol="0" anchor="t"/>
          <a:lstStyle/>
          <a:p>
            <a:pPr algn="ctr" indent="0" marL="0">
              <a:buNone/>
            </a:pPr>
            <a:r>
              <a:rPr lang="en-US" sz="1400" dirty="0">
                <a:solidFill>
                  <a:srgbClr val="C9D3E0"/>
                </a:solidFill>
              </a:rPr>
              <a:t>per day  |  NG × NCV computed every 15 minutes, then summed (never daily NG × average NCV)  |  860 kcal per kWh</a:t>
            </a:r>
            <a:endParaRPr lang="en-US" sz="1400" dirty="0"/>
          </a:p>
        </p:txBody>
      </p:sp>
      <p:sp>
        <p:nvSpPr>
          <p:cNvPr id="7" name="Text 5"/>
          <p:cNvSpPr txBox="1"/>
          <p:nvPr/>
        </p:nvSpPr>
        <p:spPr>
          <a:xfrm>
            <a:off x="548640" y="3246120"/>
            <a:ext cx="2286000" cy="685800"/>
          </a:xfrm>
          <a:prstGeom prst="rect">
            <a:avLst/>
          </a:prstGeom>
          <a:noFill/>
          <a:ln/>
        </p:spPr>
        <p:txBody>
          <a:bodyPr wrap="square" lIns="0" tIns="0" rIns="0" bIns="0" rtlCol="0" anchor="b"/>
          <a:lstStyle/>
          <a:p>
            <a:pPr indent="0" marL="0">
              <a:buNone/>
            </a:pPr>
            <a:r>
              <a:rPr lang="en-US" sz="3400" b="1" dirty="0">
                <a:solidFill>
                  <a:schemeClr val="accent2"/>
                </a:solidFill>
                <a:latin typeface="Arial" pitchFamily="34" charset="0"/>
                <a:ea typeface="Arial" pitchFamily="34" charset="-122"/>
                <a:cs typeface="Arial" pitchFamily="34" charset="-120"/>
              </a:rPr>
              <a:t>84%</a:t>
            </a:r>
            <a:endParaRPr lang="en-US" sz="3400" dirty="0"/>
          </a:p>
        </p:txBody>
      </p:sp>
      <p:sp>
        <p:nvSpPr>
          <p:cNvPr id="8" name="Text 6"/>
          <p:cNvSpPr txBox="1"/>
          <p:nvPr/>
        </p:nvSpPr>
        <p:spPr>
          <a:xfrm>
            <a:off x="548640" y="3977640"/>
            <a:ext cx="2286000" cy="640080"/>
          </a:xfrm>
          <a:prstGeom prst="rect">
            <a:avLst/>
          </a:prstGeom>
          <a:noFill/>
          <a:ln/>
        </p:spPr>
        <p:txBody>
          <a:bodyPr wrap="square" lIns="0" tIns="0" rIns="0" bIns="0" rtlCol="0" anchor="t"/>
          <a:lstStyle/>
          <a:p>
            <a:pPr indent="0" marL="0">
              <a:buNone/>
            </a:pPr>
            <a:r>
              <a:rPr lang="en-US" sz="1300" dirty="0">
                <a:solidFill>
                  <a:schemeClr val="accent4"/>
                </a:solidFill>
              </a:rPr>
              <a:t>of melter energy is gas (NG × NCV)</a:t>
            </a:r>
            <a:endParaRPr lang="en-US" sz="1300" dirty="0"/>
          </a:p>
        </p:txBody>
      </p:sp>
      <p:sp>
        <p:nvSpPr>
          <p:cNvPr id="9" name="Text 7"/>
          <p:cNvSpPr txBox="1"/>
          <p:nvPr/>
        </p:nvSpPr>
        <p:spPr>
          <a:xfrm>
            <a:off x="3017520" y="3246120"/>
            <a:ext cx="2286000" cy="685800"/>
          </a:xfrm>
          <a:prstGeom prst="rect">
            <a:avLst/>
          </a:prstGeom>
          <a:noFill/>
          <a:ln/>
        </p:spPr>
        <p:txBody>
          <a:bodyPr wrap="square" lIns="0" tIns="0" rIns="0" bIns="0" rtlCol="0" anchor="b"/>
          <a:lstStyle/>
          <a:p>
            <a:pPr indent="0" marL="0">
              <a:buNone/>
            </a:pPr>
            <a:r>
              <a:rPr lang="en-US" sz="3400" b="1" dirty="0">
                <a:solidFill>
                  <a:schemeClr val="accent1"/>
                </a:solidFill>
                <a:latin typeface="Arial" pitchFamily="34" charset="0"/>
                <a:ea typeface="Arial" pitchFamily="34" charset="-122"/>
                <a:cs typeface="Arial" pitchFamily="34" charset="-120"/>
              </a:rPr>
              <a:t>16%</a:t>
            </a:r>
            <a:endParaRPr lang="en-US" sz="3400" dirty="0"/>
          </a:p>
        </p:txBody>
      </p:sp>
      <p:sp>
        <p:nvSpPr>
          <p:cNvPr id="10" name="Text 8"/>
          <p:cNvSpPr txBox="1"/>
          <p:nvPr/>
        </p:nvSpPr>
        <p:spPr>
          <a:xfrm>
            <a:off x="3017520" y="3977640"/>
            <a:ext cx="2286000" cy="640080"/>
          </a:xfrm>
          <a:prstGeom prst="rect">
            <a:avLst/>
          </a:prstGeom>
          <a:noFill/>
          <a:ln/>
        </p:spPr>
        <p:txBody>
          <a:bodyPr wrap="square" lIns="0" tIns="0" rIns="0" bIns="0" rtlCol="0" anchor="t"/>
          <a:lstStyle/>
          <a:p>
            <a:pPr indent="0" marL="0">
              <a:buNone/>
            </a:pPr>
            <a:r>
              <a:rPr lang="en-US" sz="1300" dirty="0">
                <a:solidFill>
                  <a:schemeClr val="accent4"/>
                </a:solidFill>
              </a:rPr>
              <a:t>is electricity (barrier + melter boost)</a:t>
            </a:r>
            <a:endParaRPr lang="en-US" sz="1300" dirty="0"/>
          </a:p>
        </p:txBody>
      </p:sp>
      <p:sp>
        <p:nvSpPr>
          <p:cNvPr id="11" name="Text 9"/>
          <p:cNvSpPr txBox="1"/>
          <p:nvPr/>
        </p:nvSpPr>
        <p:spPr>
          <a:xfrm>
            <a:off x="5486400" y="3246120"/>
            <a:ext cx="2286000" cy="685800"/>
          </a:xfrm>
          <a:prstGeom prst="rect">
            <a:avLst/>
          </a:prstGeom>
          <a:noFill/>
          <a:ln/>
        </p:spPr>
        <p:txBody>
          <a:bodyPr wrap="square" lIns="0" tIns="0" rIns="0" bIns="0" rtlCol="0" anchor="b"/>
          <a:lstStyle/>
          <a:p>
            <a:pPr indent="0" marL="0">
              <a:buNone/>
            </a:pPr>
            <a:r>
              <a:rPr lang="en-US" sz="3400" b="1" dirty="0">
                <a:solidFill>
                  <a:schemeClr val="tx2"/>
                </a:solidFill>
                <a:latin typeface="Arial" pitchFamily="34" charset="0"/>
                <a:ea typeface="Arial" pitchFamily="34" charset="-122"/>
                <a:cs typeface="Arial" pitchFamily="34" charset="-120"/>
              </a:rPr>
              <a:t>≈ 60%</a:t>
            </a:r>
            <a:endParaRPr lang="en-US" sz="3400" dirty="0"/>
          </a:p>
        </p:txBody>
      </p:sp>
      <p:sp>
        <p:nvSpPr>
          <p:cNvPr id="12" name="Text 10"/>
          <p:cNvSpPr txBox="1"/>
          <p:nvPr/>
        </p:nvSpPr>
        <p:spPr>
          <a:xfrm>
            <a:off x="5486400" y="3977640"/>
            <a:ext cx="2286000" cy="640080"/>
          </a:xfrm>
          <a:prstGeom prst="rect">
            <a:avLst/>
          </a:prstGeom>
          <a:noFill/>
          <a:ln/>
        </p:spPr>
        <p:txBody>
          <a:bodyPr wrap="square" lIns="0" tIns="0" rIns="0" bIns="0" rtlCol="0" anchor="t"/>
          <a:lstStyle/>
          <a:p>
            <a:pPr indent="0" marL="0">
              <a:buNone/>
            </a:pPr>
            <a:r>
              <a:rPr lang="en-US" sz="1300" dirty="0">
                <a:solidFill>
                  <a:schemeClr val="accent4"/>
                </a:solidFill>
              </a:rPr>
              <a:t>of daily energy is fixed heat loss, independent of draw</a:t>
            </a:r>
            <a:endParaRPr lang="en-US" sz="1300" dirty="0"/>
          </a:p>
        </p:txBody>
      </p:sp>
      <p:sp>
        <p:nvSpPr>
          <p:cNvPr id="13" name="card"/>
          <p:cNvSpPr/>
          <p:nvPr/>
        </p:nvSpPr>
        <p:spPr>
          <a:xfrm>
            <a:off x="8138160" y="3246120"/>
            <a:ext cx="3502152" cy="2743200"/>
          </a:xfrm>
          <a:prstGeom prst="roundRect">
            <a:avLst>
              <a:gd name="adj" fmla="val 2667"/>
            </a:avLst>
          </a:prstGeom>
          <a:solidFill>
            <a:schemeClr val="bg2"/>
          </a:solidFill>
          <a:ln/>
        </p:spPr>
      </p:sp>
      <p:sp>
        <p:nvSpPr>
          <p:cNvPr id="14" name="Text 12"/>
          <p:cNvSpPr txBox="1"/>
          <p:nvPr/>
        </p:nvSpPr>
        <p:spPr>
          <a:xfrm>
            <a:off x="8366760" y="3383280"/>
            <a:ext cx="3108960" cy="365760"/>
          </a:xfrm>
          <a:prstGeom prst="rect">
            <a:avLst/>
          </a:prstGeom>
          <a:noFill/>
          <a:ln/>
        </p:spPr>
        <p:txBody>
          <a:bodyPr wrap="square" lIns="0" tIns="0" rIns="0" bIns="0" rtlCol="0" anchor="t"/>
          <a:lstStyle/>
          <a:p>
            <a:pPr indent="0" marL="0">
              <a:buNone/>
            </a:pPr>
            <a:r>
              <a:rPr lang="en-US" sz="1700" b="1" dirty="0">
                <a:solidFill>
                  <a:schemeClr val="tx2"/>
                </a:solidFill>
              </a:rPr>
              <a:t>Baseline check</a:t>
            </a:r>
            <a:endParaRPr lang="en-US" sz="1700" dirty="0"/>
          </a:p>
        </p:txBody>
      </p:sp>
      <p:sp>
        <p:nvSpPr>
          <p:cNvPr id="15" name="Text 13"/>
          <p:cNvSpPr txBox="1"/>
          <p:nvPr/>
        </p:nvSpPr>
        <p:spPr>
          <a:xfrm>
            <a:off x="8366760" y="3840480"/>
            <a:ext cx="3108960" cy="1097280"/>
          </a:xfrm>
          <a:prstGeom prst="rect">
            <a:avLst/>
          </a:prstGeom>
          <a:noFill/>
          <a:ln/>
        </p:spPr>
        <p:txBody>
          <a:bodyPr wrap="square" lIns="0" tIns="0" rIns="0" bIns="0" rtlCol="0" anchor="t"/>
          <a:lstStyle/>
          <a:p>
            <a:pPr indent="0" marL="0">
              <a:spcAft>
                <a:spcPts val="600"/>
              </a:spcAft>
              <a:buNone/>
            </a:pPr>
            <a:r>
              <a:rPr lang="en-US" sz="1500" dirty="0">
                <a:solidFill>
                  <a:schemeClr val="accent4"/>
                </a:solidFill>
              </a:rPr>
              <a:t>Client baseline  </a:t>
            </a:r>
            <a:pPr indent="0" marL="0">
              <a:spcAft>
                <a:spcPts val="600"/>
              </a:spcAft>
              <a:buNone/>
            </a:pPr>
            <a:r>
              <a:rPr lang="en-US" sz="1500" b="1" dirty="0">
                <a:solidFill>
                  <a:schemeClr val="tx1"/>
                </a:solidFill>
              </a:rPr>
              <a:t>1,576.3 kcal/kg</a:t>
            </a:r>
            <a:endParaRPr lang="en-US" sz="1500" dirty="0"/>
          </a:p>
          <a:p>
            <a:pPr indent="0" marL="0">
              <a:spcAft>
                <a:spcPts val="600"/>
              </a:spcAft>
              <a:buNone/>
            </a:pPr>
            <a:r>
              <a:rPr lang="en-US" sz="1500" dirty="0">
                <a:solidFill>
                  <a:schemeClr val="accent4"/>
                </a:solidFill>
              </a:rPr>
              <a:t>Our recomputation  </a:t>
            </a:r>
            <a:pPr indent="0" marL="0">
              <a:spcAft>
                <a:spcPts val="600"/>
              </a:spcAft>
              <a:buNone/>
            </a:pPr>
            <a:r>
              <a:rPr lang="en-US" sz="1500" b="1" dirty="0">
                <a:solidFill>
                  <a:schemeClr val="tx1"/>
                </a:solidFill>
              </a:rPr>
              <a:t>1,576.6 kcal/kg</a:t>
            </a:r>
            <a:endParaRPr lang="en-US" sz="1500" dirty="0"/>
          </a:p>
          <a:p>
            <a:pPr indent="0" marL="0">
              <a:spcAft>
                <a:spcPts val="600"/>
              </a:spcAft>
              <a:buNone/>
            </a:pPr>
            <a:r>
              <a:rPr lang="en-US" sz="1500" dirty="0">
                <a:solidFill>
                  <a:schemeClr val="accent4"/>
                </a:solidFill>
              </a:rPr>
              <a:t>Target (−2%)  </a:t>
            </a:r>
            <a:pPr indent="0" marL="0">
              <a:spcAft>
                <a:spcPts val="600"/>
              </a:spcAft>
              <a:buNone/>
            </a:pPr>
            <a:r>
              <a:rPr lang="en-US" sz="1500" b="1" dirty="0">
                <a:solidFill>
                  <a:schemeClr val="accent3"/>
                </a:solidFill>
              </a:rPr>
              <a:t>1,544.8 kcal/kg</a:t>
            </a:r>
            <a:endParaRPr lang="en-US" sz="1500" dirty="0"/>
          </a:p>
        </p:txBody>
      </p:sp>
      <p:sp>
        <p:nvSpPr>
          <p:cNvPr id="16" name="Text 14"/>
          <p:cNvSpPr txBox="1"/>
          <p:nvPr/>
        </p:nvSpPr>
        <p:spPr>
          <a:xfrm>
            <a:off x="8366760" y="5029200"/>
            <a:ext cx="3108960" cy="731520"/>
          </a:xfrm>
          <a:prstGeom prst="rect">
            <a:avLst/>
          </a:prstGeom>
          <a:noFill/>
          <a:ln/>
        </p:spPr>
        <p:txBody>
          <a:bodyPr wrap="square" lIns="0" tIns="0" rIns="0" bIns="0" rtlCol="0" anchor="t"/>
          <a:lstStyle/>
          <a:p>
            <a:pPr indent="0" marL="0">
              <a:buNone/>
            </a:pPr>
            <a:r>
              <a:rPr lang="en-US" sz="1300" i="1" dirty="0">
                <a:solidFill>
                  <a:schemeClr val="accent4"/>
                </a:solidFill>
              </a:rPr>
              <a:t>Difference 0.02%: the data foundation matches the client's books.</a:t>
            </a:r>
            <a:endParaRPr lang="en-US" sz="1300" dirty="0"/>
          </a:p>
        </p:txBody>
      </p:sp>
      <p:sp>
        <p:nvSpPr>
          <p:cNvPr id="17" name="Text 15"/>
          <p:cNvSpPr txBox="1"/>
          <p:nvPr/>
        </p:nvSpPr>
        <p:spPr>
          <a:xfrm>
            <a:off x="548640" y="4892040"/>
            <a:ext cx="7223760" cy="1005840"/>
          </a:xfrm>
          <a:prstGeom prst="rect">
            <a:avLst/>
          </a:prstGeom>
          <a:noFill/>
          <a:ln/>
        </p:spPr>
        <p:txBody>
          <a:bodyPr wrap="square" lIns="0" tIns="0" rIns="0" bIns="0" rtlCol="0" anchor="t"/>
          <a:lstStyle/>
          <a:p>
            <a:pPr indent="0" marL="0">
              <a:buNone/>
            </a:pPr>
            <a:r>
              <a:rPr lang="en-US" sz="1300" dirty="0">
                <a:solidFill>
                  <a:schemeClr val="tx1"/>
                </a:solidFill>
              </a:rPr>
              <a:t>Draw-adjusted yardstick (Model A, fitted on 286 baseline days):  E_expected (Gcal/day) = 53.55 + 0.605 × draw (t) + 0.123 × cullet %.  Draw-adjusted % = actual energy ÷ E_expected − 1.</a:t>
            </a:r>
            <a:endParaRPr lang="en-US" sz="13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2743200" cy="822960"/>
          </a:xfrm>
          <a:prstGeom prst="rect">
            <a:avLst/>
          </a:prstGeom>
          <a:noFill/>
          <a:ln/>
        </p:spPr>
        <p:txBody>
          <a:bodyPr wrap="square" rtlCol="0"/>
          <a:lstStyle/>
          <a:p>
            <a:pPr indent="0" marL="0">
              <a:buNone/>
            </a:pPr>
            <a:r>
              <a:rPr lang="en-US" sz="2800" b="1" dirty="0">
                <a:solidFill>
                  <a:schemeClr val="accent2"/>
                </a:solidFill>
              </a:rPr>
              <a:t>02</a:t>
            </a:r>
            <a:endParaRPr lang="en-US" sz="2800" dirty="0"/>
          </a:p>
        </p:txBody>
      </p:sp>
      <p:sp>
        <p:nvSpPr>
          <p:cNvPr id="3" name="Text 0"/>
          <p:cNvSpPr/>
          <p:nvPr>
            <p:ph idx="101" type="title" hasCustomPrompt="1"/>
          </p:nvPr>
        </p:nvSpPr>
        <p:spPr>
          <a:xfrm>
            <a:off x="822960" y="2651760"/>
            <a:ext cx="10241280" cy="1097280"/>
          </a:xfrm>
          <a:prstGeom prst="rect">
            <a:avLst/>
          </a:prstGeom>
          <a:noFill/>
          <a:ln/>
        </p:spPr>
        <p:txBody>
          <a:bodyPr wrap="square" rtlCol="0" anchor="t"/>
          <a:lstStyle/>
          <a:p>
            <a:pPr algn="l" indent="0" marL="0">
              <a:buNone/>
            </a:pPr>
            <a:r>
              <a:rPr lang="en-US" sz="4000" b="1" dirty="0">
                <a:solidFill>
                  <a:schemeClr val="bg1"/>
                </a:solidFill>
                <a:latin typeface="Arial" pitchFamily="34" charset="0"/>
                <a:ea typeface="Arial" pitchFamily="34" charset="-122"/>
                <a:cs typeface="Arial" pitchFamily="34" charset="-120"/>
              </a:rPr>
              <a:t>What the data says</a:t>
            </a:r>
            <a:endParaRPr lang="en-US" sz="4000" dirty="0"/>
          </a:p>
        </p:txBody>
      </p:sp>
      <p:sp>
        <p:nvSpPr>
          <p:cNvPr id="4" name="Text 0"/>
          <p:cNvSpPr/>
          <p:nvPr>
            <p:ph idx="102" type="body" hasCustomPrompt="1"/>
          </p:nvPr>
        </p:nvSpPr>
        <p:spPr>
          <a:xfrm>
            <a:off x="822960" y="3840480"/>
            <a:ext cx="10241280" cy="822960"/>
          </a:xfrm>
          <a:prstGeom prst="rect">
            <a:avLst/>
          </a:prstGeom>
          <a:noFill/>
          <a:ln/>
        </p:spPr>
        <p:txBody>
          <a:bodyPr wrap="square" rtlCol="0" anchor="t"/>
          <a:lstStyle/>
          <a:p>
            <a:pPr indent="0" marL="0">
              <a:buNone/>
            </a:pPr>
            <a:r>
              <a:rPr lang="en-US" sz="1800" dirty="0">
                <a:solidFill>
                  <a:srgbClr val="C9D3E0"/>
                </a:solidFill>
              </a:rPr>
              <a:t>395 days, 37,920 fifteen-minute records, 10 relationships that drive SFC</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1. SFC history month by month</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SFC follows draw: low-draw months (Feb, Jun, Jul 2026) carry the highest SFC</a:t>
            </a:r>
            <a:endParaRPr lang="en-US" sz="1600" dirty="0"/>
          </a:p>
        </p:txBody>
      </p:sp>
      <p:graphicFrame>
        <p:nvGraphicFramePr>
          <p:cNvPr id="4" name="Chart 0" descr=""/>
          <p:cNvGraphicFramePr/>
          <p:nvPr/>
        </p:nvGraphicFramePr>
        <p:xfrm>
          <a:off x="548640" y="1554480"/>
          <a:ext cx="7589520" cy="25146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548640" y="4114800"/>
          <a:ext cx="7589520" cy="2148840"/>
        </p:xfrm>
        <a:graphic xmlns:a="http://schemas.openxmlformats.org/drawingml/2006/main">
          <a:graphicData uri="http://schemas.openxmlformats.org/drawingml/2006/chart">
            <c:chart xmlns:c="http://schemas.openxmlformats.org/drawingml/2006/chart" r:id="rId2"/>
          </a:graphicData>
        </a:graphic>
      </p:graphicFrame>
      <p:sp>
        <p:nvSpPr>
          <p:cNvPr id="6" name="card"/>
          <p:cNvSpPr/>
          <p:nvPr/>
        </p:nvSpPr>
        <p:spPr>
          <a:xfrm>
            <a:off x="8458200" y="1645920"/>
            <a:ext cx="3182112" cy="4572000"/>
          </a:xfrm>
          <a:prstGeom prst="roundRect">
            <a:avLst>
              <a:gd name="adj" fmla="val 2299"/>
            </a:avLst>
          </a:prstGeom>
          <a:solidFill>
            <a:schemeClr val="bg2"/>
          </a:solidFill>
          <a:ln/>
        </p:spPr>
      </p:sp>
      <p:sp>
        <p:nvSpPr>
          <p:cNvPr id="7" name="Text 3"/>
          <p:cNvSpPr txBox="1"/>
          <p:nvPr/>
        </p:nvSpPr>
        <p:spPr>
          <a:xfrm>
            <a:off x="8686800" y="1783080"/>
            <a:ext cx="2743200" cy="685800"/>
          </a:xfrm>
          <a:prstGeom prst="rect">
            <a:avLst/>
          </a:prstGeom>
          <a:noFill/>
          <a:ln/>
        </p:spPr>
        <p:txBody>
          <a:bodyPr wrap="square" lIns="0" tIns="0" rIns="0" bIns="0" rtlCol="0" anchor="b"/>
          <a:lstStyle/>
          <a:p>
            <a:pPr indent="0" marL="0">
              <a:buNone/>
            </a:pPr>
            <a:r>
              <a:rPr lang="en-US" sz="3600" b="1" dirty="0">
                <a:solidFill>
                  <a:schemeClr val="tx2"/>
                </a:solidFill>
                <a:latin typeface="Arial" pitchFamily="34" charset="0"/>
                <a:ea typeface="Arial" pitchFamily="34" charset="-122"/>
                <a:cs typeface="Arial" pitchFamily="34" charset="-120"/>
              </a:rPr>
              <a:t>343</a:t>
            </a:r>
            <a:endParaRPr lang="en-US" sz="3600" dirty="0"/>
          </a:p>
        </p:txBody>
      </p:sp>
      <p:sp>
        <p:nvSpPr>
          <p:cNvPr id="8" name="Text 4"/>
          <p:cNvSpPr txBox="1"/>
          <p:nvPr/>
        </p:nvSpPr>
        <p:spPr>
          <a:xfrm>
            <a:off x="8686800" y="2514600"/>
            <a:ext cx="2743200" cy="640080"/>
          </a:xfrm>
          <a:prstGeom prst="rect">
            <a:avLst/>
          </a:prstGeom>
          <a:noFill/>
          <a:ln/>
        </p:spPr>
        <p:txBody>
          <a:bodyPr wrap="square" lIns="0" tIns="0" rIns="0" bIns="0" rtlCol="0" anchor="t"/>
          <a:lstStyle/>
          <a:p>
            <a:pPr indent="0" marL="0">
              <a:buNone/>
            </a:pPr>
            <a:r>
              <a:rPr lang="en-US" sz="1300" dirty="0">
                <a:solidFill>
                  <a:schemeClr val="accent4"/>
                </a:solidFill>
              </a:rPr>
              <a:t>usable days analysed (NCV ≥ 90% valid, data ≥ 90%, draw present)</a:t>
            </a:r>
            <a:endParaRPr lang="en-US" sz="1300" dirty="0"/>
          </a:p>
        </p:txBody>
      </p:sp>
      <p:sp>
        <p:nvSpPr>
          <p:cNvPr id="9" name="Text 5"/>
          <p:cNvSpPr txBox="1"/>
          <p:nvPr/>
        </p:nvSpPr>
        <p:spPr>
          <a:xfrm>
            <a:off x="8686800" y="3246120"/>
            <a:ext cx="2743200" cy="685800"/>
          </a:xfrm>
          <a:prstGeom prst="rect">
            <a:avLst/>
          </a:prstGeom>
          <a:noFill/>
          <a:ln/>
        </p:spPr>
        <p:txBody>
          <a:bodyPr wrap="square" lIns="0" tIns="0" rIns="0" bIns="0" rtlCol="0" anchor="b"/>
          <a:lstStyle/>
          <a:p>
            <a:pPr indent="0" marL="0">
              <a:buNone/>
            </a:pPr>
            <a:r>
              <a:rPr lang="en-US" sz="3600" b="1" dirty="0">
                <a:solidFill>
                  <a:schemeClr val="accent2"/>
                </a:solidFill>
                <a:latin typeface="Arial" pitchFamily="34" charset="0"/>
                <a:ea typeface="Arial" pitchFamily="34" charset="-122"/>
                <a:cs typeface="Arial" pitchFamily="34" charset="-120"/>
              </a:rPr>
              <a:t>1,640</a:t>
            </a:r>
            <a:endParaRPr lang="en-US" sz="3600" dirty="0"/>
          </a:p>
        </p:txBody>
      </p:sp>
      <p:sp>
        <p:nvSpPr>
          <p:cNvPr id="10" name="Text 6"/>
          <p:cNvSpPr txBox="1"/>
          <p:nvPr/>
        </p:nvSpPr>
        <p:spPr>
          <a:xfrm>
            <a:off x="8686800" y="3977640"/>
            <a:ext cx="2743200" cy="640080"/>
          </a:xfrm>
          <a:prstGeom prst="rect">
            <a:avLst/>
          </a:prstGeom>
          <a:noFill/>
          <a:ln/>
        </p:spPr>
        <p:txBody>
          <a:bodyPr wrap="square" lIns="0" tIns="0" rIns="0" bIns="0" rtlCol="0" anchor="t"/>
          <a:lstStyle/>
          <a:p>
            <a:pPr indent="0" marL="0">
              <a:buNone/>
            </a:pPr>
            <a:r>
              <a:rPr lang="en-US" sz="1300" dirty="0">
                <a:solidFill>
                  <a:schemeClr val="accent4"/>
                </a:solidFill>
              </a:rPr>
              <a:t>kcal/kg in Jul 2026 at 55.3 t/day, the highest month</a:t>
            </a:r>
            <a:endParaRPr lang="en-US" sz="1300" dirty="0"/>
          </a:p>
        </p:txBody>
      </p:sp>
      <p:sp>
        <p:nvSpPr>
          <p:cNvPr id="11" name="Text 7"/>
          <p:cNvSpPr txBox="1"/>
          <p:nvPr/>
        </p:nvSpPr>
        <p:spPr>
          <a:xfrm>
            <a:off x="8686800" y="4709160"/>
            <a:ext cx="2743200" cy="685800"/>
          </a:xfrm>
          <a:prstGeom prst="rect">
            <a:avLst/>
          </a:prstGeom>
          <a:noFill/>
          <a:ln/>
        </p:spPr>
        <p:txBody>
          <a:bodyPr wrap="square" lIns="0" tIns="0" rIns="0" bIns="0" rtlCol="0" anchor="b"/>
          <a:lstStyle/>
          <a:p>
            <a:pPr indent="0" marL="0">
              <a:buNone/>
            </a:pPr>
            <a:r>
              <a:rPr lang="en-US" sz="3600" b="1" dirty="0">
                <a:solidFill>
                  <a:schemeClr val="accent3"/>
                </a:solidFill>
                <a:latin typeface="Arial" pitchFamily="34" charset="0"/>
                <a:ea typeface="Arial" pitchFamily="34" charset="-122"/>
                <a:cs typeface="Arial" pitchFamily="34" charset="-120"/>
              </a:rPr>
              <a:t>1,533</a:t>
            </a:r>
            <a:endParaRPr lang="en-US" sz="3600" dirty="0"/>
          </a:p>
        </p:txBody>
      </p:sp>
      <p:sp>
        <p:nvSpPr>
          <p:cNvPr id="12" name="Text 8"/>
          <p:cNvSpPr txBox="1"/>
          <p:nvPr/>
        </p:nvSpPr>
        <p:spPr>
          <a:xfrm>
            <a:off x="8686800" y="5440680"/>
            <a:ext cx="2743200" cy="640080"/>
          </a:xfrm>
          <a:prstGeom prst="rect">
            <a:avLst/>
          </a:prstGeom>
          <a:noFill/>
          <a:ln/>
        </p:spPr>
        <p:txBody>
          <a:bodyPr wrap="square" lIns="0" tIns="0" rIns="0" bIns="0" rtlCol="0" anchor="t"/>
          <a:lstStyle/>
          <a:p>
            <a:pPr indent="0" marL="0">
              <a:buNone/>
            </a:pPr>
            <a:r>
              <a:rPr lang="en-US" sz="1300" dirty="0">
                <a:solidFill>
                  <a:schemeClr val="accent4"/>
                </a:solidFill>
              </a:rPr>
              <a:t>kcal/kg in Oct 2025 at 58.3 t/day, the lowest month</a:t>
            </a:r>
            <a:endParaRPr lang="en-US" sz="13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2. Draw is the strongest driver of SFC</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+1 t/day of draw lowers SFC by about 1%; 60% of the melter's energy is fixed</a:t>
            </a:r>
            <a:endParaRPr lang="en-US" sz="1600" dirty="0"/>
          </a:p>
        </p:txBody>
      </p:sp>
      <p:graphicFrame>
        <p:nvGraphicFramePr>
          <p:cNvPr id="4" name="Chart 0" descr=""/>
          <p:cNvGraphicFramePr/>
          <p:nvPr/>
        </p:nvGraphicFramePr>
        <p:xfrm>
          <a:off x="548640" y="1554480"/>
          <a:ext cx="7589520" cy="470916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8458200" y="1645920"/>
            <a:ext cx="3182112" cy="4572000"/>
          </a:xfrm>
          <a:prstGeom prst="roundRect">
            <a:avLst>
              <a:gd name="adj" fmla="val 2299"/>
            </a:avLst>
          </a:prstGeom>
          <a:solidFill>
            <a:schemeClr val="bg2"/>
          </a:solidFill>
          <a:ln/>
        </p:spPr>
      </p:sp>
      <p:sp>
        <p:nvSpPr>
          <p:cNvPr id="6" name="Text 3"/>
          <p:cNvSpPr txBox="1"/>
          <p:nvPr/>
        </p:nvSpPr>
        <p:spPr>
          <a:xfrm>
            <a:off x="8686800" y="1783080"/>
            <a:ext cx="2743200" cy="685800"/>
          </a:xfrm>
          <a:prstGeom prst="rect">
            <a:avLst/>
          </a:prstGeom>
          <a:noFill/>
          <a:ln/>
        </p:spPr>
        <p:txBody>
          <a:bodyPr wrap="square" lIns="0" tIns="0" rIns="0" bIns="0" rtlCol="0" anchor="b"/>
          <a:lstStyle/>
          <a:p>
            <a:pPr indent="0" marL="0">
              <a:buNone/>
            </a:pPr>
            <a:r>
              <a:rPr lang="en-US" sz="3200" b="1" dirty="0">
                <a:solidFill>
                  <a:schemeClr val="tx2"/>
                </a:solidFill>
                <a:latin typeface="Arial" pitchFamily="34" charset="0"/>
                <a:ea typeface="Arial" pitchFamily="34" charset="-122"/>
                <a:cs typeface="Arial" pitchFamily="34" charset="-120"/>
              </a:rPr>
              <a:t>r = −0.92</a:t>
            </a:r>
            <a:endParaRPr lang="en-US" sz="3200" dirty="0"/>
          </a:p>
        </p:txBody>
      </p:sp>
      <p:sp>
        <p:nvSpPr>
          <p:cNvPr id="7" name="Text 4"/>
          <p:cNvSpPr txBox="1"/>
          <p:nvPr/>
        </p:nvSpPr>
        <p:spPr>
          <a:xfrm>
            <a:off x="8686800" y="2514600"/>
            <a:ext cx="2743200" cy="640080"/>
          </a:xfrm>
          <a:prstGeom prst="rect">
            <a:avLst/>
          </a:prstGeom>
          <a:noFill/>
          <a:ln/>
        </p:spPr>
        <p:txBody>
          <a:bodyPr wrap="square" lIns="0" tIns="0" rIns="0" bIns="0" rtlCol="0" anchor="t"/>
          <a:lstStyle/>
          <a:p>
            <a:pPr indent="0" marL="0">
              <a:buNone/>
            </a:pPr>
            <a:r>
              <a:rPr lang="en-US" sz="1300" dirty="0">
                <a:solidFill>
                  <a:schemeClr val="accent4"/>
                </a:solidFill>
              </a:rPr>
              <a:t>correlation of draw with SFC</a:t>
            </a:r>
            <a:endParaRPr lang="en-US" sz="1300" dirty="0"/>
          </a:p>
        </p:txBody>
      </p:sp>
      <p:sp>
        <p:nvSpPr>
          <p:cNvPr id="8" name="Text 5"/>
          <p:cNvSpPr txBox="1"/>
          <p:nvPr/>
        </p:nvSpPr>
        <p:spPr>
          <a:xfrm>
            <a:off x="8686800" y="3154680"/>
            <a:ext cx="2743200" cy="685800"/>
          </a:xfrm>
          <a:prstGeom prst="rect">
            <a:avLst/>
          </a:prstGeom>
          <a:noFill/>
          <a:ln/>
        </p:spPr>
        <p:txBody>
          <a:bodyPr wrap="square" lIns="0" tIns="0" rIns="0" bIns="0" rtlCol="0" anchor="b"/>
          <a:lstStyle/>
          <a:p>
            <a:pPr indent="0" marL="0">
              <a:buNone/>
            </a:pPr>
            <a:r>
              <a:rPr lang="en-US" sz="3200" b="1" dirty="0">
                <a:solidFill>
                  <a:schemeClr val="accent2"/>
                </a:solidFill>
                <a:latin typeface="Arial" pitchFamily="34" charset="0"/>
                <a:ea typeface="Arial" pitchFamily="34" charset="-122"/>
                <a:cs typeface="Arial" pitchFamily="34" charset="-120"/>
              </a:rPr>
              <a:t>54 Gcal</a:t>
            </a:r>
            <a:endParaRPr lang="en-US" sz="3200" dirty="0"/>
          </a:p>
        </p:txBody>
      </p:sp>
      <p:sp>
        <p:nvSpPr>
          <p:cNvPr id="9" name="Text 6"/>
          <p:cNvSpPr txBox="1"/>
          <p:nvPr/>
        </p:nvSpPr>
        <p:spPr>
          <a:xfrm>
            <a:off x="8686800" y="3886200"/>
            <a:ext cx="2743200" cy="640080"/>
          </a:xfrm>
          <a:prstGeom prst="rect">
            <a:avLst/>
          </a:prstGeom>
          <a:noFill/>
          <a:ln/>
        </p:spPr>
        <p:txBody>
          <a:bodyPr wrap="square" lIns="0" tIns="0" rIns="0" bIns="0" rtlCol="0" anchor="t"/>
          <a:lstStyle/>
          <a:p>
            <a:pPr indent="0" marL="0">
              <a:buNone/>
            </a:pPr>
            <a:r>
              <a:rPr lang="en-US" sz="1300" dirty="0">
                <a:solidFill>
                  <a:schemeClr val="accent4"/>
                </a:solidFill>
              </a:rPr>
              <a:t>per day fixed heat loss + 0.63 Gcal per tonne drawn</a:t>
            </a:r>
            <a:endParaRPr lang="en-US" sz="1300" dirty="0"/>
          </a:p>
        </p:txBody>
      </p:sp>
      <p:sp>
        <p:nvSpPr>
          <p:cNvPr id="10" name="Text 7"/>
          <p:cNvSpPr txBox="1"/>
          <p:nvPr/>
        </p:nvSpPr>
        <p:spPr>
          <a:xfrm>
            <a:off x="8686800" y="4526280"/>
            <a:ext cx="2743200" cy="685800"/>
          </a:xfrm>
          <a:prstGeom prst="rect">
            <a:avLst/>
          </a:prstGeom>
          <a:noFill/>
          <a:ln/>
        </p:spPr>
        <p:txBody>
          <a:bodyPr wrap="square" lIns="0" tIns="0" rIns="0" bIns="0" rtlCol="0" anchor="b"/>
          <a:lstStyle/>
          <a:p>
            <a:pPr indent="0" marL="0">
              <a:buNone/>
            </a:pPr>
            <a:r>
              <a:rPr lang="en-US" sz="3200" b="1" dirty="0">
                <a:solidFill>
                  <a:schemeClr val="accent3"/>
                </a:solidFill>
                <a:latin typeface="Arial" pitchFamily="34" charset="0"/>
                <a:ea typeface="Arial" pitchFamily="34" charset="-122"/>
                <a:cs typeface="Arial" pitchFamily="34" charset="-120"/>
              </a:rPr>
              <a:t>≈ −1%</a:t>
            </a:r>
            <a:endParaRPr lang="en-US" sz="3200" dirty="0"/>
          </a:p>
        </p:txBody>
      </p:sp>
      <p:sp>
        <p:nvSpPr>
          <p:cNvPr id="11" name="Text 8"/>
          <p:cNvSpPr txBox="1"/>
          <p:nvPr/>
        </p:nvSpPr>
        <p:spPr>
          <a:xfrm>
            <a:off x="8686800" y="5257800"/>
            <a:ext cx="2743200" cy="640080"/>
          </a:xfrm>
          <a:prstGeom prst="rect">
            <a:avLst/>
          </a:prstGeom>
          <a:noFill/>
          <a:ln/>
        </p:spPr>
        <p:txBody>
          <a:bodyPr wrap="square" lIns="0" tIns="0" rIns="0" bIns="0" rtlCol="0" anchor="t"/>
          <a:lstStyle/>
          <a:p>
            <a:pPr indent="0" marL="0">
              <a:buNone/>
            </a:pPr>
            <a:r>
              <a:rPr lang="en-US" sz="1300" dirty="0">
                <a:solidFill>
                  <a:schemeClr val="accent4"/>
                </a:solidFill>
              </a:rPr>
              <a:t>SFC for every extra 1 t/day of draw</a:t>
            </a:r>
            <a:endParaRPr lang="en-US" sz="13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3. SFC by draw band</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Each 5-t band has its own baseline; the 55–65 t bands cover 80% of days</a:t>
            </a:r>
            <a:endParaRPr lang="en-US" sz="1600" dirty="0"/>
          </a:p>
        </p:txBody>
      </p:sp>
      <p:graphicFrame>
        <p:nvGraphicFramePr>
          <p:cNvPr id="4" name="Chart 0" descr=""/>
          <p:cNvGraphicFramePr/>
          <p:nvPr/>
        </p:nvGraphicFramePr>
        <p:xfrm>
          <a:off x="548640" y="1554480"/>
          <a:ext cx="6035040" cy="470916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903720" y="1691640"/>
          <a:ext cx="4736592" cy="914400"/>
        </p:xfrm>
        <a:graphic>
          <a:graphicData uri="http://schemas.openxmlformats.org/drawingml/2006/table">
            <a:tbl>
              <a:tblPr/>
              <a:tblGrid>
                <a:gridCol w="914400"/>
                <a:gridCol w="731520"/>
                <a:gridCol w="960120"/>
                <a:gridCol w="1078992"/>
                <a:gridCol w="1051560"/>
              </a:tblGrid>
              <a:tr h="384048">
                <a:tc>
                  <a:txBody>
                    <a:bodyPr/>
                    <a:lstStyle/>
                    <a:p>
                      <a:pPr indent="0" marL="0">
                        <a:buNone/>
                      </a:pPr>
                      <a:r>
                        <a:rPr lang="en-US" sz="1200" b="1" dirty="0">
                          <a:solidFill>
                            <a:schemeClr val="bg1"/>
                          </a:solidFill>
                        </a:rPr>
                        <a:t>Band</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Days</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SFC</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Baseline</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Target −2%</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r>
              <a:tr h="384048">
                <a:tc>
                  <a:txBody>
                    <a:bodyPr/>
                    <a:lstStyle/>
                    <a:p>
                      <a:pPr indent="0" marL="0">
                        <a:buNone/>
                      </a:pPr>
                      <a:r>
                        <a:rPr lang="en-US" sz="1200" dirty="0">
                          <a:solidFill>
                            <a:schemeClr val="tx1"/>
                          </a:solidFill>
                        </a:rPr>
                        <a:t>45-50 t</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7</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1,763</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1,765.9</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1,730.6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50-55 t</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59</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1,668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1,664.0</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1,630.7</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384048">
                <a:tc>
                  <a:txBody>
                    <a:bodyPr/>
                    <a:lstStyle/>
                    <a:p>
                      <a:pPr indent="0" marL="0">
                        <a:buNone/>
                      </a:pPr>
                      <a:r>
                        <a:rPr lang="en-US" sz="1200" dirty="0">
                          <a:solidFill>
                            <a:schemeClr val="tx1"/>
                          </a:solidFill>
                        </a:rPr>
                        <a:t>55-60 t</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174</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1,570</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1,566.7</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1,535.4</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60-65 t</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103</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1,529</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1,521.5</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1,491.1</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bl>
          </a:graphicData>
        </a:graphic>
      </p:graphicFrame>
      <p:sp>
        <p:nvSpPr>
          <p:cNvPr id="6" name="Text 2"/>
          <p:cNvSpPr txBox="1"/>
          <p:nvPr/>
        </p:nvSpPr>
        <p:spPr>
          <a:xfrm>
            <a:off x="6903720" y="3886200"/>
            <a:ext cx="4736592" cy="228600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tx1"/>
                </a:solidFill>
              </a:rPr>
              <a:t>Energy per day rises only 7.2 Gcal (8%) from the lowest to the highest band, while draw rises 27%.</a:t>
            </a:r>
            <a:endParaRPr lang="en-US" sz="1400" dirty="0"/>
          </a:p>
          <a:p>
            <a:pPr marL="190500" indent="-190500">
              <a:spcAft>
                <a:spcPts val="600"/>
              </a:spcAft>
              <a:buSzPct val="100000"/>
              <a:buChar char="•"/>
            </a:pPr>
            <a:r>
              <a:rPr lang="en-US" sz="1400" dirty="0">
                <a:solidFill>
                  <a:schemeClr val="tx1"/>
                </a:solidFill>
              </a:rPr>
              <a:t>Band targets let each day be judged against days with the same draw.</a:t>
            </a:r>
            <a:endParaRPr lang="en-US" sz="1400" dirty="0"/>
          </a:p>
          <a:p>
            <a:pPr marL="190500" indent="-190500">
              <a:spcAft>
                <a:spcPts val="600"/>
              </a:spcAft>
              <a:buSzPct val="100000"/>
              <a:buChar char="•"/>
            </a:pPr>
            <a:r>
              <a:rPr lang="en-US" sz="1400" dirty="0">
                <a:solidFill>
                  <a:schemeClr val="tx1"/>
                </a:solidFill>
              </a:rPr>
              <a:t>Keeping draw at or above 55 t/day is itself one of the strongest SFC levers.</a:t>
            </a:r>
            <a:endParaRPr lang="en-US" sz="14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4. Furnace ageing adds energy every month</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At the same draw and cullet, energy rises ≈ 0.19% per month (p ≈ 0.003)</a:t>
            </a:r>
            <a:endParaRPr lang="en-US" sz="1600" dirty="0"/>
          </a:p>
        </p:txBody>
      </p:sp>
      <p:graphicFrame>
        <p:nvGraphicFramePr>
          <p:cNvPr id="4" name="Chart 0" descr=""/>
          <p:cNvGraphicFramePr/>
          <p:nvPr/>
        </p:nvGraphicFramePr>
        <p:xfrm>
          <a:off x="548640" y="1554480"/>
          <a:ext cx="7589520" cy="470916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8458200" y="1645920"/>
            <a:ext cx="3182112" cy="4572000"/>
          </a:xfrm>
          <a:prstGeom prst="roundRect">
            <a:avLst>
              <a:gd name="adj" fmla="val 2299"/>
            </a:avLst>
          </a:prstGeom>
          <a:solidFill>
            <a:schemeClr val="bg2"/>
          </a:solidFill>
          <a:ln/>
        </p:spPr>
      </p:sp>
      <p:sp>
        <p:nvSpPr>
          <p:cNvPr id="6" name="Text 3"/>
          <p:cNvSpPr txBox="1"/>
          <p:nvPr/>
        </p:nvSpPr>
        <p:spPr>
          <a:xfrm>
            <a:off x="8686800" y="1783080"/>
            <a:ext cx="2743200" cy="685800"/>
          </a:xfrm>
          <a:prstGeom prst="rect">
            <a:avLst/>
          </a:prstGeom>
          <a:noFill/>
          <a:ln/>
        </p:spPr>
        <p:txBody>
          <a:bodyPr wrap="square" lIns="0" tIns="0" rIns="0" bIns="0" rtlCol="0" anchor="b"/>
          <a:lstStyle/>
          <a:p>
            <a:pPr indent="0" marL="0">
              <a:buNone/>
            </a:pPr>
            <a:r>
              <a:rPr lang="en-US" sz="3600" b="1" dirty="0">
                <a:solidFill>
                  <a:schemeClr val="accent2"/>
                </a:solidFill>
                <a:latin typeface="Arial" pitchFamily="34" charset="0"/>
                <a:ea typeface="Arial" pitchFamily="34" charset="-122"/>
                <a:cs typeface="Arial" pitchFamily="34" charset="-120"/>
              </a:rPr>
              <a:t>+0.19%</a:t>
            </a:r>
            <a:endParaRPr lang="en-US" sz="3600" dirty="0"/>
          </a:p>
        </p:txBody>
      </p:sp>
      <p:sp>
        <p:nvSpPr>
          <p:cNvPr id="7" name="Text 4"/>
          <p:cNvSpPr txBox="1"/>
          <p:nvPr/>
        </p:nvSpPr>
        <p:spPr>
          <a:xfrm>
            <a:off x="8686800" y="2514600"/>
            <a:ext cx="2743200" cy="640080"/>
          </a:xfrm>
          <a:prstGeom prst="rect">
            <a:avLst/>
          </a:prstGeom>
          <a:noFill/>
          <a:ln/>
        </p:spPr>
        <p:txBody>
          <a:bodyPr wrap="square" lIns="0" tIns="0" rIns="0" bIns="0" rtlCol="0" anchor="t"/>
          <a:lstStyle/>
          <a:p>
            <a:pPr indent="0" marL="0">
              <a:buNone/>
            </a:pPr>
            <a:r>
              <a:rPr lang="en-US" sz="1300" dirty="0">
                <a:solidFill>
                  <a:schemeClr val="accent4"/>
                </a:solidFill>
              </a:rPr>
              <a:t>energy per month at the same draw (regenerator and refractory wear)</a:t>
            </a:r>
            <a:endParaRPr lang="en-US" sz="1300" dirty="0"/>
          </a:p>
        </p:txBody>
      </p:sp>
      <p:sp>
        <p:nvSpPr>
          <p:cNvPr id="8" name="Text 5"/>
          <p:cNvSpPr txBox="1"/>
          <p:nvPr/>
        </p:nvSpPr>
        <p:spPr>
          <a:xfrm>
            <a:off x="8686800" y="3246120"/>
            <a:ext cx="2743200" cy="685800"/>
          </a:xfrm>
          <a:prstGeom prst="rect">
            <a:avLst/>
          </a:prstGeom>
          <a:noFill/>
          <a:ln/>
        </p:spPr>
        <p:txBody>
          <a:bodyPr wrap="square" lIns="0" tIns="0" rIns="0" bIns="0" rtlCol="0" anchor="b"/>
          <a:lstStyle/>
          <a:p>
            <a:pPr indent="0" marL="0">
              <a:buNone/>
            </a:pPr>
            <a:r>
              <a:rPr lang="en-US" sz="3600" b="1" dirty="0">
                <a:solidFill>
                  <a:schemeClr val="tx2"/>
                </a:solidFill>
                <a:latin typeface="Arial" pitchFamily="34" charset="0"/>
                <a:ea typeface="Arial" pitchFamily="34" charset="-122"/>
                <a:cs typeface="Arial" pitchFamily="34" charset="-120"/>
              </a:rPr>
              <a:t>+1.1%</a:t>
            </a:r>
            <a:endParaRPr lang="en-US" sz="3600" dirty="0"/>
          </a:p>
        </p:txBody>
      </p:sp>
      <p:sp>
        <p:nvSpPr>
          <p:cNvPr id="9" name="Text 6"/>
          <p:cNvSpPr txBox="1"/>
          <p:nvPr/>
        </p:nvSpPr>
        <p:spPr>
          <a:xfrm>
            <a:off x="8686800" y="3977640"/>
            <a:ext cx="2743200" cy="640080"/>
          </a:xfrm>
          <a:prstGeom prst="rect">
            <a:avLst/>
          </a:prstGeom>
          <a:noFill/>
          <a:ln/>
        </p:spPr>
        <p:txBody>
          <a:bodyPr wrap="square" lIns="0" tIns="0" rIns="0" bIns="0" rtlCol="0" anchor="t"/>
          <a:lstStyle/>
          <a:p>
            <a:pPr indent="0" marL="0">
              <a:buNone/>
            </a:pPr>
            <a:r>
              <a:rPr lang="en-US" sz="1300" dirty="0">
                <a:solidFill>
                  <a:schemeClr val="accent4"/>
                </a:solidFill>
              </a:rPr>
              <a:t>Jun–Aug 2026 above the draw-adjusted baseline</a:t>
            </a:r>
            <a:endParaRPr lang="en-US" sz="1300" dirty="0"/>
          </a:p>
        </p:txBody>
      </p:sp>
      <p:sp>
        <p:nvSpPr>
          <p:cNvPr id="10" name="Text 7"/>
          <p:cNvSpPr txBox="1"/>
          <p:nvPr/>
        </p:nvSpPr>
        <p:spPr>
          <a:xfrm>
            <a:off x="8686800" y="4754880"/>
            <a:ext cx="2743200" cy="1280160"/>
          </a:xfrm>
          <a:prstGeom prst="rect">
            <a:avLst/>
          </a:prstGeom>
          <a:noFill/>
          <a:ln/>
        </p:spPr>
        <p:txBody>
          <a:bodyPr wrap="square" lIns="0" tIns="0" rIns="0" bIns="0" rtlCol="0" anchor="t"/>
          <a:lstStyle/>
          <a:p>
            <a:pPr indent="0" marL="0">
              <a:buNone/>
            </a:pPr>
            <a:r>
              <a:rPr lang="en-US" sz="1300" dirty="0">
                <a:solidFill>
                  <a:schemeClr val="tx1"/>
                </a:solidFill>
              </a:rPr>
              <a:t>The gas model includes furnace age, so its target moves with the furnace instead of chasing an old state.</a:t>
            </a:r>
            <a:endParaRPr lang="en-US" sz="13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5. NCV changes are corrected late</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Operators make only 17% of the needed NG change in the same hour; exact compensation makes it 100%</a:t>
            </a:r>
            <a:endParaRPr lang="en-US" sz="1600" dirty="0"/>
          </a:p>
        </p:txBody>
      </p:sp>
      <p:graphicFrame>
        <p:nvGraphicFramePr>
          <p:cNvPr id="4" name="Chart 0" descr=""/>
          <p:cNvGraphicFramePr/>
          <p:nvPr/>
        </p:nvGraphicFramePr>
        <p:xfrm>
          <a:off x="548640" y="1554480"/>
          <a:ext cx="6400800" cy="470916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7269480" y="1645920"/>
            <a:ext cx="4370832" cy="4572000"/>
          </a:xfrm>
          <a:prstGeom prst="roundRect">
            <a:avLst>
              <a:gd name="adj" fmla="val 1674"/>
            </a:avLst>
          </a:prstGeom>
          <a:solidFill>
            <a:schemeClr val="bg2"/>
          </a:solidFill>
          <a:ln/>
        </p:spPr>
      </p:sp>
      <p:sp>
        <p:nvSpPr>
          <p:cNvPr id="6" name="Text 3"/>
          <p:cNvSpPr txBox="1"/>
          <p:nvPr/>
        </p:nvSpPr>
        <p:spPr>
          <a:xfrm>
            <a:off x="7498080" y="1783080"/>
            <a:ext cx="3931920" cy="685800"/>
          </a:xfrm>
          <a:prstGeom prst="rect">
            <a:avLst/>
          </a:prstGeom>
          <a:noFill/>
          <a:ln/>
        </p:spPr>
        <p:txBody>
          <a:bodyPr wrap="square" lIns="0" tIns="0" rIns="0" bIns="0" rtlCol="0" anchor="b"/>
          <a:lstStyle/>
          <a:p>
            <a:pPr indent="0" marL="0">
              <a:buNone/>
            </a:pPr>
            <a:r>
              <a:rPr lang="en-US" sz="3000" b="1" dirty="0">
                <a:solidFill>
                  <a:schemeClr val="tx2"/>
                </a:solidFill>
                <a:latin typeface="Arial" pitchFamily="34" charset="0"/>
                <a:ea typeface="Arial" pitchFamily="34" charset="-122"/>
                <a:cs typeface="Arial" pitchFamily="34" charset="-120"/>
              </a:rPr>
              <a:t>8,969 – 10,253</a:t>
            </a:r>
            <a:endParaRPr lang="en-US" sz="3000" dirty="0"/>
          </a:p>
        </p:txBody>
      </p:sp>
      <p:sp>
        <p:nvSpPr>
          <p:cNvPr id="7" name="Text 4"/>
          <p:cNvSpPr txBox="1"/>
          <p:nvPr/>
        </p:nvSpPr>
        <p:spPr>
          <a:xfrm>
            <a:off x="7498080" y="2514600"/>
            <a:ext cx="3931920" cy="640080"/>
          </a:xfrm>
          <a:prstGeom prst="rect">
            <a:avLst/>
          </a:prstGeom>
          <a:noFill/>
          <a:ln/>
        </p:spPr>
        <p:txBody>
          <a:bodyPr wrap="square" lIns="0" tIns="0" rIns="0" bIns="0" rtlCol="0" anchor="t"/>
          <a:lstStyle/>
          <a:p>
            <a:pPr indent="0" marL="0">
              <a:buNone/>
            </a:pPr>
            <a:r>
              <a:rPr lang="en-US" sz="1300" dirty="0">
                <a:solidFill>
                  <a:schemeClr val="accent4"/>
                </a:solidFill>
              </a:rPr>
              <a:t>kcal/SCM NCV range (P5–P95): the same SCM of gas carries up to 14% more or less heat</a:t>
            </a:r>
            <a:endParaRPr lang="en-US" sz="1300" dirty="0"/>
          </a:p>
        </p:txBody>
      </p:sp>
      <p:sp>
        <p:nvSpPr>
          <p:cNvPr id="8" name="Text 5"/>
          <p:cNvSpPr txBox="1"/>
          <p:nvPr/>
        </p:nvSpPr>
        <p:spPr>
          <a:xfrm>
            <a:off x="7498080" y="3429000"/>
            <a:ext cx="3931920" cy="365760"/>
          </a:xfrm>
          <a:prstGeom prst="rect">
            <a:avLst/>
          </a:prstGeom>
          <a:noFill/>
          <a:ln/>
        </p:spPr>
        <p:txBody>
          <a:bodyPr wrap="square" lIns="0" tIns="0" rIns="0" bIns="0" rtlCol="0" anchor="t"/>
          <a:lstStyle/>
          <a:p>
            <a:pPr indent="0" marL="0">
              <a:buNone/>
            </a:pPr>
            <a:r>
              <a:rPr lang="en-US" sz="1700" b="1" dirty="0">
                <a:solidFill>
                  <a:schemeClr val="tx2"/>
                </a:solidFill>
              </a:rPr>
              <a:t>What it costs</a:t>
            </a:r>
            <a:endParaRPr lang="en-US" sz="1700" dirty="0"/>
          </a:p>
        </p:txBody>
      </p:sp>
      <p:sp>
        <p:nvSpPr>
          <p:cNvPr id="9" name="Text 6"/>
          <p:cNvSpPr txBox="1"/>
          <p:nvPr/>
        </p:nvSpPr>
        <p:spPr>
          <a:xfrm>
            <a:off x="7498080" y="3840480"/>
            <a:ext cx="3931920" cy="228600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tx1"/>
                </a:solidFill>
              </a:rPr>
              <a:t>When NCV rises, the furnace gets more heat than needed for 1–2 hours; when it falls, the crown is short and gets over-corrected later.</a:t>
            </a:r>
            <a:endParaRPr lang="en-US" sz="1400" dirty="0"/>
          </a:p>
          <a:p>
            <a:pPr marL="190500" indent="-190500">
              <a:spcAft>
                <a:spcPts val="600"/>
              </a:spcAft>
              <a:buSzPct val="100000"/>
              <a:buChar char="•"/>
            </a:pPr>
            <a:r>
              <a:rPr lang="en-US" sz="1400" dirty="0">
                <a:solidFill>
                  <a:schemeClr val="tx1"/>
                </a:solidFill>
              </a:rPr>
              <a:t>The recommender sets NG = heat target ÷ latest NCV every cycle, so the delivered heat stays on target.</a:t>
            </a:r>
            <a:endParaRPr lang="en-US" sz="14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6. Barrier boost controls the bottom temperature</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+100 kWh/h of barrier boost raises MB3 by 1.9 °C within 6–12 hours; the same heat as gas moves it only 0.4 °C</a:t>
            </a:r>
            <a:endParaRPr lang="en-US" sz="1600" dirty="0"/>
          </a:p>
        </p:txBody>
      </p:sp>
      <p:graphicFrame>
        <p:nvGraphicFramePr>
          <p:cNvPr id="4" name="Chart 0" descr=""/>
          <p:cNvGraphicFramePr/>
          <p:nvPr/>
        </p:nvGraphicFramePr>
        <p:xfrm>
          <a:off x="548640" y="1554480"/>
          <a:ext cx="7589520" cy="470916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8458200" y="1645920"/>
            <a:ext cx="3182112" cy="4572000"/>
          </a:xfrm>
          <a:prstGeom prst="roundRect">
            <a:avLst>
              <a:gd name="adj" fmla="val 2299"/>
            </a:avLst>
          </a:prstGeom>
          <a:solidFill>
            <a:schemeClr val="bg2"/>
          </a:solidFill>
          <a:ln/>
        </p:spPr>
      </p:sp>
      <p:sp>
        <p:nvSpPr>
          <p:cNvPr id="6" name="Text 3"/>
          <p:cNvSpPr txBox="1"/>
          <p:nvPr/>
        </p:nvSpPr>
        <p:spPr>
          <a:xfrm>
            <a:off x="8686800" y="1783080"/>
            <a:ext cx="2743200" cy="685800"/>
          </a:xfrm>
          <a:prstGeom prst="rect">
            <a:avLst/>
          </a:prstGeom>
          <a:noFill/>
          <a:ln/>
        </p:spPr>
        <p:txBody>
          <a:bodyPr wrap="square" lIns="0" tIns="0" rIns="0" bIns="0" rtlCol="0" anchor="b"/>
          <a:lstStyle/>
          <a:p>
            <a:pPr indent="0" marL="0">
              <a:buNone/>
            </a:pPr>
            <a:r>
              <a:rPr lang="en-US" sz="3600" b="1" dirty="0">
                <a:solidFill>
                  <a:schemeClr val="accent2"/>
                </a:solidFill>
                <a:latin typeface="Arial" pitchFamily="34" charset="0"/>
                <a:ea typeface="Arial" pitchFamily="34" charset="-122"/>
                <a:cs typeface="Arial" pitchFamily="34" charset="-120"/>
              </a:rPr>
              <a:t>+1.9 °C</a:t>
            </a:r>
            <a:endParaRPr lang="en-US" sz="3600" dirty="0"/>
          </a:p>
        </p:txBody>
      </p:sp>
      <p:sp>
        <p:nvSpPr>
          <p:cNvPr id="7" name="Text 4"/>
          <p:cNvSpPr txBox="1"/>
          <p:nvPr/>
        </p:nvSpPr>
        <p:spPr>
          <a:xfrm>
            <a:off x="8686800" y="2514600"/>
            <a:ext cx="2743200" cy="640080"/>
          </a:xfrm>
          <a:prstGeom prst="rect">
            <a:avLst/>
          </a:prstGeom>
          <a:noFill/>
          <a:ln/>
        </p:spPr>
        <p:txBody>
          <a:bodyPr wrap="square" lIns="0" tIns="0" rIns="0" bIns="0" rtlCol="0" anchor="t"/>
          <a:lstStyle/>
          <a:p>
            <a:pPr indent="0" marL="0">
              <a:buNone/>
            </a:pPr>
            <a:r>
              <a:rPr lang="en-US" sz="1300" dirty="0">
                <a:solidFill>
                  <a:schemeClr val="accent4"/>
                </a:solidFill>
              </a:rPr>
              <a:t>MB3 per +100 kWh/h of barrier boost (steady state)</a:t>
            </a:r>
            <a:endParaRPr lang="en-US" sz="1300" dirty="0"/>
          </a:p>
        </p:txBody>
      </p:sp>
      <p:sp>
        <p:nvSpPr>
          <p:cNvPr id="8" name="Text 5"/>
          <p:cNvSpPr txBox="1"/>
          <p:nvPr/>
        </p:nvSpPr>
        <p:spPr>
          <a:xfrm>
            <a:off x="8686800" y="3246120"/>
            <a:ext cx="2743200" cy="685800"/>
          </a:xfrm>
          <a:prstGeom prst="rect">
            <a:avLst/>
          </a:prstGeom>
          <a:noFill/>
          <a:ln/>
        </p:spPr>
        <p:txBody>
          <a:bodyPr wrap="square" lIns="0" tIns="0" rIns="0" bIns="0" rtlCol="0" anchor="b"/>
          <a:lstStyle/>
          <a:p>
            <a:pPr indent="0" marL="0">
              <a:buNone/>
            </a:pPr>
            <a:r>
              <a:rPr lang="en-US" sz="3600" b="1" dirty="0">
                <a:solidFill>
                  <a:schemeClr val="accent1"/>
                </a:solidFill>
                <a:latin typeface="Arial" pitchFamily="34" charset="0"/>
                <a:ea typeface="Arial" pitchFamily="34" charset="-122"/>
                <a:cs typeface="Arial" pitchFamily="34" charset="-120"/>
              </a:rPr>
              <a:t>+0.4 °C</a:t>
            </a:r>
            <a:endParaRPr lang="en-US" sz="3600" dirty="0"/>
          </a:p>
        </p:txBody>
      </p:sp>
      <p:sp>
        <p:nvSpPr>
          <p:cNvPr id="9" name="Text 6"/>
          <p:cNvSpPr txBox="1"/>
          <p:nvPr/>
        </p:nvSpPr>
        <p:spPr>
          <a:xfrm>
            <a:off x="8686800" y="3977640"/>
            <a:ext cx="2743200" cy="640080"/>
          </a:xfrm>
          <a:prstGeom prst="rect">
            <a:avLst/>
          </a:prstGeom>
          <a:noFill/>
          <a:ln/>
        </p:spPr>
        <p:txBody>
          <a:bodyPr wrap="square" lIns="0" tIns="0" rIns="0" bIns="0" rtlCol="0" anchor="t"/>
          <a:lstStyle/>
          <a:p>
            <a:pPr indent="0" marL="0">
              <a:buNone/>
            </a:pPr>
            <a:r>
              <a:rPr lang="en-US" sz="1300" dirty="0">
                <a:solidFill>
                  <a:schemeClr val="accent4"/>
                </a:solidFill>
              </a:rPr>
              <a:t>MB3 for the same heat delivered as gas</a:t>
            </a:r>
            <a:endParaRPr lang="en-US" sz="1300" dirty="0"/>
          </a:p>
        </p:txBody>
      </p:sp>
      <p:sp>
        <p:nvSpPr>
          <p:cNvPr id="10" name="Text 7"/>
          <p:cNvSpPr txBox="1"/>
          <p:nvPr/>
        </p:nvSpPr>
        <p:spPr>
          <a:xfrm>
            <a:off x="8686800" y="4754880"/>
            <a:ext cx="2743200" cy="1280160"/>
          </a:xfrm>
          <a:prstGeom prst="rect">
            <a:avLst/>
          </a:prstGeom>
          <a:noFill/>
          <a:ln/>
        </p:spPr>
        <p:txBody>
          <a:bodyPr wrap="square" lIns="0" tIns="0" rIns="0" bIns="0" rtlCol="0" anchor="t"/>
          <a:lstStyle/>
          <a:p>
            <a:pPr indent="0" marL="0">
              <a:buNone/>
            </a:pPr>
            <a:r>
              <a:rPr lang="en-US" sz="1300" dirty="0">
                <a:solidFill>
                  <a:schemeClr val="tx1"/>
                </a:solidFill>
              </a:rPr>
              <a:t>Estimated with a 0–12 h distributed-lag model on 6,736 hours, so operator feedback does not bias the result.</a:t>
            </a:r>
            <a:endParaRPr lang="en-US" sz="13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7. Boost is a temperature handle, not an energy saver</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1 Gcal of barrier boost replaces only 0.77 Gcal of gas, so extra boost raises SFC</a:t>
            </a:r>
            <a:endParaRPr lang="en-US" sz="1600" dirty="0"/>
          </a:p>
        </p:txBody>
      </p:sp>
      <p:sp>
        <p:nvSpPr>
          <p:cNvPr id="4" name="card"/>
          <p:cNvSpPr/>
          <p:nvPr/>
        </p:nvSpPr>
        <p:spPr>
          <a:xfrm>
            <a:off x="548640" y="1828800"/>
            <a:ext cx="6949440" cy="4206240"/>
          </a:xfrm>
          <a:prstGeom prst="roundRect">
            <a:avLst>
              <a:gd name="adj" fmla="val 1739"/>
            </a:avLst>
          </a:prstGeom>
          <a:solidFill>
            <a:schemeClr val="bg2"/>
          </a:solidFill>
          <a:ln/>
        </p:spPr>
      </p:sp>
      <p:sp>
        <p:nvSpPr>
          <p:cNvPr id="5" name="Text 3"/>
          <p:cNvSpPr txBox="1"/>
          <p:nvPr/>
        </p:nvSpPr>
        <p:spPr>
          <a:xfrm>
            <a:off x="868680" y="2057400"/>
            <a:ext cx="6309360" cy="365760"/>
          </a:xfrm>
          <a:prstGeom prst="rect">
            <a:avLst/>
          </a:prstGeom>
          <a:noFill/>
          <a:ln/>
        </p:spPr>
        <p:txBody>
          <a:bodyPr wrap="square" lIns="0" tIns="0" rIns="0" bIns="0" rtlCol="0" anchor="t"/>
          <a:lstStyle/>
          <a:p>
            <a:pPr indent="0" marL="0">
              <a:buNone/>
            </a:pPr>
            <a:r>
              <a:rPr lang="en-US" sz="1600" b="1" dirty="0">
                <a:solidFill>
                  <a:schemeClr val="tx2"/>
                </a:solidFill>
              </a:rPr>
              <a:t>Add 1 Gcal of barrier boost …</a:t>
            </a:r>
            <a:endParaRPr lang="en-US" sz="1600" dirty="0"/>
          </a:p>
        </p:txBody>
      </p:sp>
      <p:sp>
        <p:nvSpPr>
          <p:cNvPr id="6" name="boost bar"/>
          <p:cNvSpPr/>
          <p:nvPr/>
        </p:nvSpPr>
        <p:spPr>
          <a:xfrm>
            <a:off x="868680" y="2560320"/>
            <a:ext cx="5852160" cy="685800"/>
          </a:xfrm>
          <a:prstGeom prst="rect">
            <a:avLst/>
          </a:prstGeom>
          <a:solidFill>
            <a:schemeClr val="accent1"/>
          </a:solidFill>
          <a:ln/>
        </p:spPr>
      </p:sp>
      <p:sp>
        <p:nvSpPr>
          <p:cNvPr id="7" name="Text 5"/>
          <p:cNvSpPr txBox="1"/>
          <p:nvPr/>
        </p:nvSpPr>
        <p:spPr>
          <a:xfrm>
            <a:off x="1005840" y="2560320"/>
            <a:ext cx="4572000" cy="685800"/>
          </a:xfrm>
          <a:prstGeom prst="rect">
            <a:avLst/>
          </a:prstGeom>
          <a:noFill/>
          <a:ln/>
        </p:spPr>
        <p:txBody>
          <a:bodyPr wrap="square" lIns="0" tIns="0" rIns="0" bIns="0" rtlCol="0" anchor="ctr"/>
          <a:lstStyle/>
          <a:p>
            <a:pPr indent="0" marL="0">
              <a:buNone/>
            </a:pPr>
            <a:r>
              <a:rPr lang="en-US" sz="1500" b="1" dirty="0">
                <a:solidFill>
                  <a:schemeClr val="bg1"/>
                </a:solidFill>
              </a:rPr>
              <a:t>+1.00 Gcal electricity in</a:t>
            </a:r>
            <a:endParaRPr lang="en-US" sz="1500" dirty="0"/>
          </a:p>
        </p:txBody>
      </p:sp>
      <p:sp>
        <p:nvSpPr>
          <p:cNvPr id="8" name="gas saved bar"/>
          <p:cNvSpPr/>
          <p:nvPr/>
        </p:nvSpPr>
        <p:spPr>
          <a:xfrm>
            <a:off x="868680" y="3520440"/>
            <a:ext cx="4506163" cy="685800"/>
          </a:xfrm>
          <a:prstGeom prst="rect">
            <a:avLst/>
          </a:prstGeom>
          <a:solidFill>
            <a:schemeClr val="accent3"/>
          </a:solidFill>
          <a:ln/>
        </p:spPr>
      </p:sp>
      <p:sp>
        <p:nvSpPr>
          <p:cNvPr id="9" name="Text 7"/>
          <p:cNvSpPr txBox="1"/>
          <p:nvPr/>
        </p:nvSpPr>
        <p:spPr>
          <a:xfrm>
            <a:off x="1005840" y="3520440"/>
            <a:ext cx="3657600" cy="685800"/>
          </a:xfrm>
          <a:prstGeom prst="rect">
            <a:avLst/>
          </a:prstGeom>
          <a:noFill/>
          <a:ln/>
        </p:spPr>
        <p:txBody>
          <a:bodyPr wrap="square" lIns="0" tIns="0" rIns="0" bIns="0" rtlCol="0" anchor="ctr"/>
          <a:lstStyle/>
          <a:p>
            <a:pPr indent="0" marL="0">
              <a:buNone/>
            </a:pPr>
            <a:r>
              <a:rPr lang="en-US" sz="1500" b="1" dirty="0">
                <a:solidFill>
                  <a:schemeClr val="bg1"/>
                </a:solidFill>
              </a:rPr>
              <a:t>−0.77 Gcal gas saved</a:t>
            </a:r>
            <a:endParaRPr lang="en-US" sz="1500" dirty="0"/>
          </a:p>
        </p:txBody>
      </p:sp>
      <p:sp>
        <p:nvSpPr>
          <p:cNvPr id="10" name="net bar"/>
          <p:cNvSpPr/>
          <p:nvPr/>
        </p:nvSpPr>
        <p:spPr>
          <a:xfrm>
            <a:off x="5374843" y="4480560"/>
            <a:ext cx="1345997" cy="685800"/>
          </a:xfrm>
          <a:prstGeom prst="rect">
            <a:avLst/>
          </a:prstGeom>
          <a:solidFill>
            <a:schemeClr val="accent2"/>
          </a:solidFill>
          <a:ln/>
        </p:spPr>
      </p:sp>
      <p:sp>
        <p:nvSpPr>
          <p:cNvPr id="11" name="Text 9"/>
          <p:cNvSpPr txBox="1"/>
          <p:nvPr/>
        </p:nvSpPr>
        <p:spPr>
          <a:xfrm>
            <a:off x="868680" y="4480560"/>
            <a:ext cx="4369003" cy="685800"/>
          </a:xfrm>
          <a:prstGeom prst="rect">
            <a:avLst/>
          </a:prstGeom>
          <a:noFill/>
          <a:ln/>
        </p:spPr>
        <p:txBody>
          <a:bodyPr wrap="square" lIns="0" tIns="0" rIns="0" bIns="0" rtlCol="0" anchor="ctr"/>
          <a:lstStyle/>
          <a:p>
            <a:pPr algn="r" indent="0" marL="0">
              <a:buNone/>
            </a:pPr>
            <a:r>
              <a:rPr lang="en-US" sz="1500" b="1" dirty="0">
                <a:solidFill>
                  <a:schemeClr val="accent2"/>
                </a:solidFill>
              </a:rPr>
              <a:t>Net +0.23 Gcal more energy</a:t>
            </a:r>
            <a:endParaRPr lang="en-US" sz="1500" dirty="0"/>
          </a:p>
        </p:txBody>
      </p:sp>
      <p:sp>
        <p:nvSpPr>
          <p:cNvPr id="12" name="Text 10"/>
          <p:cNvSpPr txBox="1"/>
          <p:nvPr/>
        </p:nvSpPr>
        <p:spPr>
          <a:xfrm>
            <a:off x="868680" y="5349240"/>
            <a:ext cx="6309360" cy="457200"/>
          </a:xfrm>
          <a:prstGeom prst="rect">
            <a:avLst/>
          </a:prstGeom>
          <a:noFill/>
          <a:ln/>
        </p:spPr>
        <p:txBody>
          <a:bodyPr wrap="square" lIns="0" tIns="0" rIns="0" bIns="0" rtlCol="0" anchor="t"/>
          <a:lstStyle/>
          <a:p>
            <a:pPr indent="0" marL="0">
              <a:buNone/>
            </a:pPr>
            <a:r>
              <a:rPr lang="en-US" sz="1200" i="1" dirty="0">
                <a:solidFill>
                  <a:schemeClr val="accent4"/>
                </a:solidFill>
              </a:rPr>
              <a:t>0.77 (chosen gas model) to 0.83 (month fixed effects) Gcal gas per Gcal of boost, ageing controlled</a:t>
            </a:r>
            <a:endParaRPr lang="en-US" sz="1200" dirty="0"/>
          </a:p>
        </p:txBody>
      </p:sp>
      <p:sp>
        <p:nvSpPr>
          <p:cNvPr id="13" name="card"/>
          <p:cNvSpPr/>
          <p:nvPr/>
        </p:nvSpPr>
        <p:spPr>
          <a:xfrm>
            <a:off x="7726680" y="1828800"/>
            <a:ext cx="3913632" cy="4206240"/>
          </a:xfrm>
          <a:prstGeom prst="roundRect">
            <a:avLst>
              <a:gd name="adj" fmla="val 1869"/>
            </a:avLst>
          </a:prstGeom>
          <a:solidFill>
            <a:schemeClr val="bg2"/>
          </a:solidFill>
          <a:ln/>
        </p:spPr>
      </p:sp>
      <p:sp>
        <p:nvSpPr>
          <p:cNvPr id="14" name="Text 12"/>
          <p:cNvSpPr txBox="1"/>
          <p:nvPr/>
        </p:nvSpPr>
        <p:spPr>
          <a:xfrm>
            <a:off x="7955280" y="2011680"/>
            <a:ext cx="3474720" cy="365760"/>
          </a:xfrm>
          <a:prstGeom prst="rect">
            <a:avLst/>
          </a:prstGeom>
          <a:noFill/>
          <a:ln/>
        </p:spPr>
        <p:txBody>
          <a:bodyPr wrap="square" lIns="0" tIns="0" rIns="0" bIns="0" rtlCol="0" anchor="t"/>
          <a:lstStyle/>
          <a:p>
            <a:pPr indent="0" marL="0">
              <a:buNone/>
            </a:pPr>
            <a:r>
              <a:rPr lang="en-US" sz="1700" b="1" dirty="0">
                <a:solidFill>
                  <a:schemeClr val="tx2"/>
                </a:solidFill>
              </a:rPr>
              <a:t>What it means</a:t>
            </a:r>
            <a:endParaRPr lang="en-US" sz="1700" dirty="0"/>
          </a:p>
        </p:txBody>
      </p:sp>
      <p:sp>
        <p:nvSpPr>
          <p:cNvPr id="15" name="Text 13"/>
          <p:cNvSpPr txBox="1"/>
          <p:nvPr/>
        </p:nvSpPr>
        <p:spPr>
          <a:xfrm>
            <a:off x="7955280" y="2468880"/>
            <a:ext cx="3474720" cy="338328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tx1"/>
                </a:solidFill>
              </a:rPr>
              <a:t>Use the minimum boost that holds MB3 at its target, not more.</a:t>
            </a:r>
            <a:endParaRPr lang="en-US" sz="1400" dirty="0"/>
          </a:p>
          <a:p>
            <a:pPr marL="190500" indent="-190500">
              <a:spcAft>
                <a:spcPts val="600"/>
              </a:spcAft>
              <a:buSzPct val="100000"/>
              <a:buChar char="•"/>
            </a:pPr>
            <a:r>
              <a:rPr lang="en-US" sz="1400" dirty="0">
                <a:solidFill>
                  <a:schemeClr val="tx1"/>
                </a:solidFill>
              </a:rPr>
              <a:t>In Jun–Aug 2026 MB3 ran 1.5 °C above its historical median: boost was higher than the glass needed.</a:t>
            </a:r>
            <a:endParaRPr lang="en-US" sz="1400" dirty="0"/>
          </a:p>
          <a:p>
            <a:pPr marL="190500" indent="-190500">
              <a:spcAft>
                <a:spcPts val="600"/>
              </a:spcAft>
              <a:buSzPct val="100000"/>
              <a:buChar char="•"/>
            </a:pPr>
            <a:r>
              <a:rPr lang="en-US" sz="1400" dirty="0">
                <a:solidFill>
                  <a:schemeClr val="tx1"/>
                </a:solidFill>
              </a:rPr>
              <a:t>The boost controller trims it hour by hour; if NG is already at its upper limit, boost is not lowered.</a:t>
            </a:r>
            <a:endParaRPr lang="en-US" sz="14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8. Less air per unit of heat means less energy</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Days with the lowest air per Mcal used about 1% less energy than the highest-air days at the same draw</a:t>
            </a:r>
            <a:endParaRPr lang="en-US" sz="1600" dirty="0"/>
          </a:p>
        </p:txBody>
      </p:sp>
      <p:graphicFrame>
        <p:nvGraphicFramePr>
          <p:cNvPr id="4" name="Chart 0" descr=""/>
          <p:cNvGraphicFramePr/>
          <p:nvPr/>
        </p:nvGraphicFramePr>
        <p:xfrm>
          <a:off x="548640" y="1554480"/>
          <a:ext cx="6400800" cy="470916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7269480" y="1645920"/>
            <a:ext cx="4370832" cy="4572000"/>
          </a:xfrm>
          <a:prstGeom prst="roundRect">
            <a:avLst>
              <a:gd name="adj" fmla="val 1674"/>
            </a:avLst>
          </a:prstGeom>
          <a:solidFill>
            <a:schemeClr val="bg2"/>
          </a:solidFill>
          <a:ln/>
        </p:spPr>
      </p:sp>
      <p:sp>
        <p:nvSpPr>
          <p:cNvPr id="6" name="Text 3"/>
          <p:cNvSpPr txBox="1"/>
          <p:nvPr/>
        </p:nvSpPr>
        <p:spPr>
          <a:xfrm>
            <a:off x="7498080" y="1783080"/>
            <a:ext cx="3931920" cy="685800"/>
          </a:xfrm>
          <a:prstGeom prst="rect">
            <a:avLst/>
          </a:prstGeom>
          <a:noFill/>
          <a:ln/>
        </p:spPr>
        <p:txBody>
          <a:bodyPr wrap="square" lIns="0" tIns="0" rIns="0" bIns="0" rtlCol="0" anchor="b"/>
          <a:lstStyle/>
          <a:p>
            <a:pPr indent="0" marL="0">
              <a:buNone/>
            </a:pPr>
            <a:r>
              <a:rPr lang="en-US" sz="3000" b="1" dirty="0">
                <a:solidFill>
                  <a:schemeClr val="tx2"/>
                </a:solidFill>
                <a:latin typeface="Arial" pitchFamily="34" charset="0"/>
                <a:ea typeface="Arial" pitchFamily="34" charset="-122"/>
                <a:cs typeface="Arial" pitchFamily="34" charset="-120"/>
              </a:rPr>
              <a:t>1.27 SCM/Mcal</a:t>
            </a:r>
            <a:endParaRPr lang="en-US" sz="3000" dirty="0"/>
          </a:p>
        </p:txBody>
      </p:sp>
      <p:sp>
        <p:nvSpPr>
          <p:cNvPr id="7" name="Text 4"/>
          <p:cNvSpPr txBox="1"/>
          <p:nvPr/>
        </p:nvSpPr>
        <p:spPr>
          <a:xfrm>
            <a:off x="7498080" y="2514600"/>
            <a:ext cx="3931920" cy="640080"/>
          </a:xfrm>
          <a:prstGeom prst="rect">
            <a:avLst/>
          </a:prstGeom>
          <a:noFill/>
          <a:ln/>
        </p:spPr>
        <p:txBody>
          <a:bodyPr wrap="square" lIns="0" tIns="0" rIns="0" bIns="0" rtlCol="0" anchor="t"/>
          <a:lstStyle/>
          <a:p>
            <a:pPr indent="0" marL="0">
              <a:buNone/>
            </a:pPr>
            <a:r>
              <a:rPr lang="en-US" sz="1300" dirty="0">
                <a:solidFill>
                  <a:schemeClr val="accent4"/>
                </a:solidFill>
              </a:rPr>
              <a:t>average secondary air per Mcal of gas heat</a:t>
            </a:r>
            <a:endParaRPr lang="en-US" sz="1300" dirty="0"/>
          </a:p>
        </p:txBody>
      </p:sp>
      <p:sp>
        <p:nvSpPr>
          <p:cNvPr id="8" name="Text 5"/>
          <p:cNvSpPr txBox="1"/>
          <p:nvPr/>
        </p:nvSpPr>
        <p:spPr>
          <a:xfrm>
            <a:off x="7498080" y="3154680"/>
            <a:ext cx="3931920" cy="685800"/>
          </a:xfrm>
          <a:prstGeom prst="rect">
            <a:avLst/>
          </a:prstGeom>
          <a:noFill/>
          <a:ln/>
        </p:spPr>
        <p:txBody>
          <a:bodyPr wrap="square" lIns="0" tIns="0" rIns="0" bIns="0" rtlCol="0" anchor="b"/>
          <a:lstStyle/>
          <a:p>
            <a:pPr indent="0" marL="0">
              <a:buNone/>
            </a:pPr>
            <a:r>
              <a:rPr lang="en-US" sz="3000" b="1" dirty="0">
                <a:solidFill>
                  <a:schemeClr val="accent3"/>
                </a:solidFill>
                <a:latin typeface="Arial" pitchFamily="34" charset="0"/>
                <a:ea typeface="Arial" pitchFamily="34" charset="-122"/>
                <a:cs typeface="Arial" pitchFamily="34" charset="-120"/>
              </a:rPr>
              <a:t>≈ 0.13 Gcal/day</a:t>
            </a:r>
            <a:endParaRPr lang="en-US" sz="3000" dirty="0"/>
          </a:p>
        </p:txBody>
      </p:sp>
      <p:sp>
        <p:nvSpPr>
          <p:cNvPr id="9" name="Text 6"/>
          <p:cNvSpPr txBox="1"/>
          <p:nvPr/>
        </p:nvSpPr>
        <p:spPr>
          <a:xfrm>
            <a:off x="7498080" y="3886200"/>
            <a:ext cx="3931920" cy="640080"/>
          </a:xfrm>
          <a:prstGeom prst="rect">
            <a:avLst/>
          </a:prstGeom>
          <a:noFill/>
          <a:ln/>
        </p:spPr>
        <p:txBody>
          <a:bodyPr wrap="square" lIns="0" tIns="0" rIns="0" bIns="0" rtlCol="0" anchor="t"/>
          <a:lstStyle/>
          <a:p>
            <a:pPr indent="0" marL="0">
              <a:buNone/>
            </a:pPr>
            <a:r>
              <a:rPr lang="en-US" sz="1300" dirty="0">
                <a:solidFill>
                  <a:schemeClr val="accent4"/>
                </a:solidFill>
              </a:rPr>
              <a:t>saved for every 0.01 SCM/Mcal less air (p ≤ 0.01, inside history)</a:t>
            </a:r>
            <a:endParaRPr lang="en-US" sz="1300" dirty="0"/>
          </a:p>
        </p:txBody>
      </p:sp>
      <p:sp>
        <p:nvSpPr>
          <p:cNvPr id="10" name="Text 7"/>
          <p:cNvSpPr txBox="1"/>
          <p:nvPr/>
        </p:nvSpPr>
        <p:spPr>
          <a:xfrm>
            <a:off x="7498080" y="4709160"/>
            <a:ext cx="3931920" cy="1371600"/>
          </a:xfrm>
          <a:prstGeom prst="rect">
            <a:avLst/>
          </a:prstGeom>
          <a:noFill/>
          <a:ln/>
        </p:spPr>
        <p:txBody>
          <a:bodyPr wrap="square" lIns="0" tIns="0" rIns="0" bIns="0" rtlCol="0" anchor="t"/>
          <a:lstStyle/>
          <a:p>
            <a:pPr indent="0" marL="0">
              <a:buNone/>
            </a:pPr>
            <a:r>
              <a:rPr lang="en-US" sz="1300" dirty="0">
                <a:solidFill>
                  <a:schemeClr val="tx1"/>
                </a:solidFill>
              </a:rPr>
              <a:t>Air follows heat (R² 0.66), not gas volume (R² 0.44), so the recommender sets air per Mcal × heat and derives the AFR from it.</a:t>
            </a:r>
            <a:endParaRPr lang="en-US" sz="13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9. Glass quality has headroom</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Seeds never exceeded the spec of 30 on usable days, and efficient days have fewer seeds</a:t>
            </a:r>
            <a:endParaRPr lang="en-US" sz="1600" dirty="0"/>
          </a:p>
        </p:txBody>
      </p:sp>
      <p:graphicFrame>
        <p:nvGraphicFramePr>
          <p:cNvPr id="4" name="Chart 0" descr=""/>
          <p:cNvGraphicFramePr/>
          <p:nvPr/>
        </p:nvGraphicFramePr>
        <p:xfrm>
          <a:off x="548640" y="1554480"/>
          <a:ext cx="6400800" cy="470916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7269480" y="1645920"/>
            <a:ext cx="4370832" cy="4572000"/>
          </a:xfrm>
          <a:prstGeom prst="roundRect">
            <a:avLst>
              <a:gd name="adj" fmla="val 1674"/>
            </a:avLst>
          </a:prstGeom>
          <a:solidFill>
            <a:schemeClr val="bg2"/>
          </a:solidFill>
          <a:ln/>
        </p:spPr>
      </p:sp>
      <p:sp>
        <p:nvSpPr>
          <p:cNvPr id="6" name="Text 3"/>
          <p:cNvSpPr txBox="1"/>
          <p:nvPr/>
        </p:nvSpPr>
        <p:spPr>
          <a:xfrm>
            <a:off x="7498080" y="1783080"/>
            <a:ext cx="1828800" cy="685800"/>
          </a:xfrm>
          <a:prstGeom prst="rect">
            <a:avLst/>
          </a:prstGeom>
          <a:noFill/>
          <a:ln/>
        </p:spPr>
        <p:txBody>
          <a:bodyPr wrap="square" lIns="0" tIns="0" rIns="0" bIns="0" rtlCol="0" anchor="b"/>
          <a:lstStyle/>
          <a:p>
            <a:pPr indent="0" marL="0">
              <a:buNone/>
            </a:pPr>
            <a:r>
              <a:rPr lang="en-US" sz="3600" b="1" dirty="0">
                <a:solidFill>
                  <a:schemeClr val="tx2"/>
                </a:solidFill>
                <a:latin typeface="Arial" pitchFamily="34" charset="0"/>
                <a:ea typeface="Arial" pitchFamily="34" charset="-122"/>
                <a:cs typeface="Arial" pitchFamily="34" charset="-120"/>
              </a:rPr>
              <a:t>15</a:t>
            </a:r>
            <a:endParaRPr lang="en-US" sz="3600" dirty="0"/>
          </a:p>
        </p:txBody>
      </p:sp>
      <p:sp>
        <p:nvSpPr>
          <p:cNvPr id="7" name="Text 4"/>
          <p:cNvSpPr txBox="1"/>
          <p:nvPr/>
        </p:nvSpPr>
        <p:spPr>
          <a:xfrm>
            <a:off x="7498080" y="2514600"/>
            <a:ext cx="1828800" cy="640080"/>
          </a:xfrm>
          <a:prstGeom prst="rect">
            <a:avLst/>
          </a:prstGeom>
          <a:noFill/>
          <a:ln/>
        </p:spPr>
        <p:txBody>
          <a:bodyPr wrap="square" lIns="0" tIns="0" rIns="0" bIns="0" rtlCol="0" anchor="t"/>
          <a:lstStyle/>
          <a:p>
            <a:pPr indent="0" marL="0">
              <a:buNone/>
            </a:pPr>
            <a:r>
              <a:rPr lang="en-US" sz="1300" dirty="0">
                <a:solidFill>
                  <a:schemeClr val="accent4"/>
                </a:solidFill>
              </a:rPr>
              <a:t>median seeds</a:t>
            </a:r>
            <a:endParaRPr lang="en-US" sz="1300" dirty="0"/>
          </a:p>
        </p:txBody>
      </p:sp>
      <p:sp>
        <p:nvSpPr>
          <p:cNvPr id="8" name="Text 5"/>
          <p:cNvSpPr txBox="1"/>
          <p:nvPr/>
        </p:nvSpPr>
        <p:spPr>
          <a:xfrm>
            <a:off x="9509760" y="1783080"/>
            <a:ext cx="1828800" cy="685800"/>
          </a:xfrm>
          <a:prstGeom prst="rect">
            <a:avLst/>
          </a:prstGeom>
          <a:noFill/>
          <a:ln/>
        </p:spPr>
        <p:txBody>
          <a:bodyPr wrap="square" lIns="0" tIns="0" rIns="0" bIns="0" rtlCol="0" anchor="b"/>
          <a:lstStyle/>
          <a:p>
            <a:pPr indent="0" marL="0">
              <a:buNone/>
            </a:pPr>
            <a:r>
              <a:rPr lang="en-US" sz="3600" b="1" dirty="0">
                <a:solidFill>
                  <a:schemeClr val="tx2"/>
                </a:solidFill>
                <a:latin typeface="Arial" pitchFamily="34" charset="0"/>
                <a:ea typeface="Arial" pitchFamily="34" charset="-122"/>
                <a:cs typeface="Arial" pitchFamily="34" charset="-120"/>
              </a:rPr>
              <a:t>21</a:t>
            </a:r>
            <a:endParaRPr lang="en-US" sz="3600" dirty="0"/>
          </a:p>
        </p:txBody>
      </p:sp>
      <p:sp>
        <p:nvSpPr>
          <p:cNvPr id="9" name="Text 6"/>
          <p:cNvSpPr txBox="1"/>
          <p:nvPr/>
        </p:nvSpPr>
        <p:spPr>
          <a:xfrm>
            <a:off x="9509760" y="2514600"/>
            <a:ext cx="1828800" cy="640080"/>
          </a:xfrm>
          <a:prstGeom prst="rect">
            <a:avLst/>
          </a:prstGeom>
          <a:noFill/>
          <a:ln/>
        </p:spPr>
        <p:txBody>
          <a:bodyPr wrap="square" lIns="0" tIns="0" rIns="0" bIns="0" rtlCol="0" anchor="t"/>
          <a:lstStyle/>
          <a:p>
            <a:pPr indent="0" marL="0">
              <a:buNone/>
            </a:pPr>
            <a:r>
              <a:rPr lang="en-US" sz="1300" dirty="0">
                <a:solidFill>
                  <a:schemeClr val="accent4"/>
                </a:solidFill>
              </a:rPr>
              <a:t>P95 seeds</a:t>
            </a:r>
            <a:endParaRPr lang="en-US" sz="1300" dirty="0"/>
          </a:p>
        </p:txBody>
      </p:sp>
      <p:sp>
        <p:nvSpPr>
          <p:cNvPr id="10" name="Text 7"/>
          <p:cNvSpPr txBox="1"/>
          <p:nvPr/>
        </p:nvSpPr>
        <p:spPr>
          <a:xfrm>
            <a:off x="7498080" y="3154680"/>
            <a:ext cx="1828800" cy="685800"/>
          </a:xfrm>
          <a:prstGeom prst="rect">
            <a:avLst/>
          </a:prstGeom>
          <a:noFill/>
          <a:ln/>
        </p:spPr>
        <p:txBody>
          <a:bodyPr wrap="square" lIns="0" tIns="0" rIns="0" bIns="0" rtlCol="0" anchor="b"/>
          <a:lstStyle/>
          <a:p>
            <a:pPr indent="0" marL="0">
              <a:buNone/>
            </a:pPr>
            <a:r>
              <a:rPr lang="en-US" sz="3600" b="1" dirty="0">
                <a:solidFill>
                  <a:schemeClr val="accent2"/>
                </a:solidFill>
                <a:latin typeface="Arial" pitchFamily="34" charset="0"/>
                <a:ea typeface="Arial" pitchFamily="34" charset="-122"/>
                <a:cs typeface="Arial" pitchFamily="34" charset="-120"/>
              </a:rPr>
              <a:t>28</a:t>
            </a:r>
            <a:endParaRPr lang="en-US" sz="3600" dirty="0"/>
          </a:p>
        </p:txBody>
      </p:sp>
      <p:sp>
        <p:nvSpPr>
          <p:cNvPr id="11" name="Text 8"/>
          <p:cNvSpPr txBox="1"/>
          <p:nvPr/>
        </p:nvSpPr>
        <p:spPr>
          <a:xfrm>
            <a:off x="7498080" y="3886200"/>
            <a:ext cx="1828800" cy="640080"/>
          </a:xfrm>
          <a:prstGeom prst="rect">
            <a:avLst/>
          </a:prstGeom>
          <a:noFill/>
          <a:ln/>
        </p:spPr>
        <p:txBody>
          <a:bodyPr wrap="square" lIns="0" tIns="0" rIns="0" bIns="0" rtlCol="0" anchor="t"/>
          <a:lstStyle/>
          <a:p>
            <a:pPr indent="0" marL="0">
              <a:buNone/>
            </a:pPr>
            <a:r>
              <a:rPr lang="en-US" sz="1300" dirty="0">
                <a:solidFill>
                  <a:schemeClr val="accent4"/>
                </a:solidFill>
              </a:rPr>
              <a:t>maximum (spec 30)</a:t>
            </a:r>
            <a:endParaRPr lang="en-US" sz="1300" dirty="0"/>
          </a:p>
        </p:txBody>
      </p:sp>
      <p:sp>
        <p:nvSpPr>
          <p:cNvPr id="12" name="Text 9"/>
          <p:cNvSpPr txBox="1"/>
          <p:nvPr/>
        </p:nvSpPr>
        <p:spPr>
          <a:xfrm>
            <a:off x="9509760" y="3154680"/>
            <a:ext cx="1828800" cy="685800"/>
          </a:xfrm>
          <a:prstGeom prst="rect">
            <a:avLst/>
          </a:prstGeom>
          <a:noFill/>
          <a:ln/>
        </p:spPr>
        <p:txBody>
          <a:bodyPr wrap="square" lIns="0" tIns="0" rIns="0" bIns="0" rtlCol="0" anchor="b"/>
          <a:lstStyle/>
          <a:p>
            <a:pPr indent="0" marL="0">
              <a:buNone/>
            </a:pPr>
            <a:r>
              <a:rPr lang="en-US" sz="3600" b="1" dirty="0">
                <a:solidFill>
                  <a:schemeClr val="accent3"/>
                </a:solidFill>
                <a:latin typeface="Arial" pitchFamily="34" charset="0"/>
                <a:ea typeface="Arial" pitchFamily="34" charset="-122"/>
                <a:cs typeface="Arial" pitchFamily="34" charset="-120"/>
              </a:rPr>
              <a:t>13.6</a:t>
            </a:r>
            <a:endParaRPr lang="en-US" sz="3600" dirty="0"/>
          </a:p>
        </p:txBody>
      </p:sp>
      <p:sp>
        <p:nvSpPr>
          <p:cNvPr id="13" name="Text 10"/>
          <p:cNvSpPr txBox="1"/>
          <p:nvPr/>
        </p:nvSpPr>
        <p:spPr>
          <a:xfrm>
            <a:off x="9509760" y="3886200"/>
            <a:ext cx="1828800" cy="640080"/>
          </a:xfrm>
          <a:prstGeom prst="rect">
            <a:avLst/>
          </a:prstGeom>
          <a:noFill/>
          <a:ln/>
        </p:spPr>
        <p:txBody>
          <a:bodyPr wrap="square" lIns="0" tIns="0" rIns="0" bIns="0" rtlCol="0" anchor="t"/>
          <a:lstStyle/>
          <a:p>
            <a:pPr indent="0" marL="0">
              <a:buNone/>
            </a:pPr>
            <a:r>
              <a:rPr lang="en-US" sz="1300" dirty="0">
                <a:solidFill>
                  <a:schemeClr val="accent4"/>
                </a:solidFill>
              </a:rPr>
              <a:t>seeds on the most efficient days (15.6 on the least)</a:t>
            </a:r>
            <a:endParaRPr lang="en-US" sz="1300" dirty="0"/>
          </a:p>
        </p:txBody>
      </p:sp>
      <p:sp>
        <p:nvSpPr>
          <p:cNvPr id="14" name="Text 11"/>
          <p:cNvSpPr txBox="1"/>
          <p:nvPr/>
        </p:nvSpPr>
        <p:spPr>
          <a:xfrm>
            <a:off x="7498080" y="4754880"/>
            <a:ext cx="3931920" cy="1280160"/>
          </a:xfrm>
          <a:prstGeom prst="rect">
            <a:avLst/>
          </a:prstGeom>
          <a:noFill/>
          <a:ln/>
        </p:spPr>
        <p:txBody>
          <a:bodyPr wrap="square" lIns="0" tIns="0" rIns="0" bIns="0" rtlCol="0" anchor="t"/>
          <a:lstStyle/>
          <a:p>
            <a:pPr indent="0" marL="0">
              <a:buNone/>
            </a:pPr>
            <a:r>
              <a:rPr lang="en-US" sz="1300" dirty="0">
                <a:solidFill>
                  <a:schemeClr val="tx1"/>
                </a:solidFill>
              </a:rPr>
              <a:t>Lower energy has not cost quality: the seed guard-rail (&gt; 21 on 2 days, or any day &gt; 25) is built into the trial.</a:t>
            </a:r>
            <a:endParaRPr lang="en-US" sz="13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10. Crown temperature is held flat</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Optical crown is held within ±0.8 °C, 7.6 °C above the crown thermocouple; we use it as a guard-rail</a:t>
            </a:r>
            <a:endParaRPr lang="en-US" sz="1600" dirty="0"/>
          </a:p>
        </p:txBody>
      </p:sp>
      <p:graphicFrame>
        <p:nvGraphicFramePr>
          <p:cNvPr id="4" name="Chart 0" descr=""/>
          <p:cNvGraphicFramePr/>
          <p:nvPr/>
        </p:nvGraphicFramePr>
        <p:xfrm>
          <a:off x="548640" y="1554480"/>
          <a:ext cx="7589520" cy="470916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8458200" y="1645920"/>
            <a:ext cx="3182112" cy="4572000"/>
          </a:xfrm>
          <a:prstGeom prst="roundRect">
            <a:avLst>
              <a:gd name="adj" fmla="val 2299"/>
            </a:avLst>
          </a:prstGeom>
          <a:solidFill>
            <a:schemeClr val="bg2"/>
          </a:solidFill>
          <a:ln/>
        </p:spPr>
      </p:sp>
      <p:sp>
        <p:nvSpPr>
          <p:cNvPr id="6" name="Text 3"/>
          <p:cNvSpPr txBox="1"/>
          <p:nvPr/>
        </p:nvSpPr>
        <p:spPr>
          <a:xfrm>
            <a:off x="8686800" y="1783080"/>
            <a:ext cx="2743200" cy="685800"/>
          </a:xfrm>
          <a:prstGeom prst="rect">
            <a:avLst/>
          </a:prstGeom>
          <a:noFill/>
          <a:ln/>
        </p:spPr>
        <p:txBody>
          <a:bodyPr wrap="square" lIns="0" tIns="0" rIns="0" bIns="0" rtlCol="0" anchor="b"/>
          <a:lstStyle/>
          <a:p>
            <a:pPr indent="0" marL="0">
              <a:buNone/>
            </a:pPr>
            <a:r>
              <a:rPr lang="en-US" sz="3600" b="1" dirty="0">
                <a:solidFill>
                  <a:schemeClr val="tx2"/>
                </a:solidFill>
                <a:latin typeface="Arial" pitchFamily="34" charset="0"/>
                <a:ea typeface="Arial" pitchFamily="34" charset="-122"/>
                <a:cs typeface="Arial" pitchFamily="34" charset="-120"/>
              </a:rPr>
              <a:t>+7.6 °C</a:t>
            </a:r>
            <a:endParaRPr lang="en-US" sz="3600" dirty="0"/>
          </a:p>
        </p:txBody>
      </p:sp>
      <p:sp>
        <p:nvSpPr>
          <p:cNvPr id="7" name="Text 4"/>
          <p:cNvSpPr txBox="1"/>
          <p:nvPr/>
        </p:nvSpPr>
        <p:spPr>
          <a:xfrm>
            <a:off x="8686800" y="2514600"/>
            <a:ext cx="2743200" cy="640080"/>
          </a:xfrm>
          <a:prstGeom prst="rect">
            <a:avLst/>
          </a:prstGeom>
          <a:noFill/>
          <a:ln/>
        </p:spPr>
        <p:txBody>
          <a:bodyPr wrap="square" lIns="0" tIns="0" rIns="0" bIns="0" rtlCol="0" anchor="t"/>
          <a:lstStyle/>
          <a:p>
            <a:pPr indent="0" marL="0">
              <a:buNone/>
            </a:pPr>
            <a:r>
              <a:rPr lang="en-US" sz="1300" dirty="0">
                <a:solidFill>
                  <a:schemeClr val="accent4"/>
                </a:solidFill>
              </a:rPr>
              <a:t>optical above TC MC3 (daily sd 0.8 °C), 9,372 hours compared</a:t>
            </a:r>
            <a:endParaRPr lang="en-US" sz="1300" dirty="0"/>
          </a:p>
        </p:txBody>
      </p:sp>
      <p:sp>
        <p:nvSpPr>
          <p:cNvPr id="8" name="Text 5"/>
          <p:cNvSpPr txBox="1"/>
          <p:nvPr/>
        </p:nvSpPr>
        <p:spPr>
          <a:xfrm>
            <a:off x="8686800" y="3246120"/>
            <a:ext cx="2743200" cy="685800"/>
          </a:xfrm>
          <a:prstGeom prst="rect">
            <a:avLst/>
          </a:prstGeom>
          <a:noFill/>
          <a:ln/>
        </p:spPr>
        <p:txBody>
          <a:bodyPr wrap="square" lIns="0" tIns="0" rIns="0" bIns="0" rtlCol="0" anchor="b"/>
          <a:lstStyle/>
          <a:p>
            <a:pPr indent="0" marL="0">
              <a:buNone/>
            </a:pPr>
            <a:r>
              <a:rPr lang="en-US" sz="3600" b="1" dirty="0">
                <a:solidFill>
                  <a:schemeClr val="accent2"/>
                </a:solidFill>
                <a:latin typeface="Arial" pitchFamily="34" charset="0"/>
                <a:ea typeface="Arial" pitchFamily="34" charset="-122"/>
                <a:cs typeface="Arial" pitchFamily="34" charset="-120"/>
              </a:rPr>
              <a:t>0.8 °C</a:t>
            </a:r>
            <a:endParaRPr lang="en-US" sz="3600" dirty="0"/>
          </a:p>
        </p:txBody>
      </p:sp>
      <p:sp>
        <p:nvSpPr>
          <p:cNvPr id="9" name="Text 6"/>
          <p:cNvSpPr txBox="1"/>
          <p:nvPr/>
        </p:nvSpPr>
        <p:spPr>
          <a:xfrm>
            <a:off x="8686800" y="3977640"/>
            <a:ext cx="2743200" cy="640080"/>
          </a:xfrm>
          <a:prstGeom prst="rect">
            <a:avLst/>
          </a:prstGeom>
          <a:noFill/>
          <a:ln/>
        </p:spPr>
        <p:txBody>
          <a:bodyPr wrap="square" lIns="0" tIns="0" rIns="0" bIns="0" rtlCol="0" anchor="t"/>
          <a:lstStyle/>
          <a:p>
            <a:pPr indent="0" marL="0">
              <a:buNone/>
            </a:pPr>
            <a:r>
              <a:rPr lang="en-US" sz="1300" dirty="0">
                <a:solidFill>
                  <a:schemeClr val="accent4"/>
                </a:solidFill>
              </a:rPr>
              <a:t>daily spread of the optical reading: operators hold it flat</a:t>
            </a:r>
            <a:endParaRPr lang="en-US" sz="1300" dirty="0"/>
          </a:p>
        </p:txBody>
      </p:sp>
      <p:sp>
        <p:nvSpPr>
          <p:cNvPr id="10" name="Text 7"/>
          <p:cNvSpPr txBox="1"/>
          <p:nvPr/>
        </p:nvSpPr>
        <p:spPr>
          <a:xfrm>
            <a:off x="8686800" y="4709160"/>
            <a:ext cx="2743200" cy="1463040"/>
          </a:xfrm>
          <a:prstGeom prst="rect">
            <a:avLst/>
          </a:prstGeom>
          <a:noFill/>
          <a:ln/>
        </p:spPr>
        <p:txBody>
          <a:bodyPr wrap="square" lIns="0" tIns="0" rIns="0" bIns="0" rtlCol="0" anchor="t"/>
          <a:lstStyle/>
          <a:p>
            <a:pPr indent="0" marL="0">
              <a:buNone/>
            </a:pPr>
            <a:r>
              <a:rPr lang="en-US" sz="1300" dirty="0">
                <a:solidFill>
                  <a:schemeClr val="tx1"/>
                </a:solidFill>
              </a:rPr>
              <a:t>A flat signal cannot explain energy changes, so crown temperature is not a model input; the recommender flags any reading outside 1,568–1,578 °C.</a:t>
            </a:r>
            <a:endParaRPr lang="en-US" sz="13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Relationship heat map</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Correlation between daily drivers (343 usable days): draw dominates, boost follows draw, AFR follows NCV</a:t>
            </a:r>
            <a:endParaRPr lang="en-US" sz="1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8229600" cy="914400"/>
        </p:xfrm>
        <a:graphic>
          <a:graphicData uri="http://schemas.openxmlformats.org/drawingml/2006/table">
            <a:tbl>
              <a:tblPr/>
              <a:tblGrid>
                <a:gridCol w="1188720"/>
                <a:gridCol w="502920"/>
                <a:gridCol w="502920"/>
                <a:gridCol w="502920"/>
                <a:gridCol w="502920"/>
                <a:gridCol w="502920"/>
                <a:gridCol w="502920"/>
                <a:gridCol w="502920"/>
                <a:gridCol w="502920"/>
                <a:gridCol w="502920"/>
                <a:gridCol w="502920"/>
                <a:gridCol w="502920"/>
                <a:gridCol w="502920"/>
                <a:gridCol w="502920"/>
                <a:gridCol w="502920"/>
              </a:tblGrid>
              <a:tr h="502920">
                <a:tc>
                  <a:txBody>
                    <a:bodyPr/>
                    <a:lstStyle/>
                    <a:p>
                      <a:pPr indent="0" marL="0">
                        <a:buNone/>
                      </a:pP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00" b="1" dirty="0">
                          <a:solidFill>
                            <a:schemeClr val="tx1"/>
                          </a:solidFill>
                        </a:rPr>
                        <a:t>Draw</a:t>
                      </a:r>
                      <a:endParaRPr lang="en-US" sz="900" dirty="0"/>
                    </a:p>
                  </a:txBody>
                  <a:tcPr marL="27432" marR="27432" marT="9144" marB="9144"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00" b="1" dirty="0">
                          <a:solidFill>
                            <a:schemeClr val="tx1"/>
                          </a:solidFill>
                        </a:rPr>
                        <a:t>SFC</a:t>
                      </a:r>
                      <a:endParaRPr lang="en-US" sz="900" dirty="0"/>
                    </a:p>
                  </a:txBody>
                  <a:tcPr marL="27432" marR="27432" marT="9144" marB="9144"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00" b="1" dirty="0">
                          <a:solidFill>
                            <a:schemeClr val="tx1"/>
                          </a:solidFill>
                        </a:rPr>
                        <a:t>Gas heat</a:t>
                      </a:r>
                      <a:endParaRPr lang="en-US" sz="900" dirty="0"/>
                    </a:p>
                  </a:txBody>
                  <a:tcPr marL="27432" marR="27432" marT="9144" marB="9144"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00" b="1" dirty="0">
                          <a:solidFill>
                            <a:schemeClr val="tx1"/>
                          </a:solidFill>
                        </a:rPr>
                        <a:t>Elec heat</a:t>
                      </a:r>
                      <a:endParaRPr lang="en-US" sz="900" dirty="0"/>
                    </a:p>
                  </a:txBody>
                  <a:tcPr marL="27432" marR="27432" marT="9144" marB="9144"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00" b="1" dirty="0">
                          <a:solidFill>
                            <a:schemeClr val="tx1"/>
                          </a:solidFill>
                        </a:rPr>
                        <a:t>Barrier boost</a:t>
                      </a:r>
                      <a:endParaRPr lang="en-US" sz="900" dirty="0"/>
                    </a:p>
                  </a:txBody>
                  <a:tcPr marL="27432" marR="27432" marT="9144" marB="9144"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00" b="1" dirty="0">
                          <a:solidFill>
                            <a:schemeClr val="tx1"/>
                          </a:solidFill>
                        </a:rPr>
                        <a:t>Melter boost</a:t>
                      </a:r>
                      <a:endParaRPr lang="en-US" sz="900" dirty="0"/>
                    </a:p>
                  </a:txBody>
                  <a:tcPr marL="27432" marR="27432" marT="9144" marB="9144"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00" b="1" dirty="0">
                          <a:solidFill>
                            <a:schemeClr val="tx1"/>
                          </a:solidFill>
                        </a:rPr>
                        <a:t>NCV</a:t>
                      </a:r>
                      <a:endParaRPr lang="en-US" sz="900" dirty="0"/>
                    </a:p>
                  </a:txBody>
                  <a:tcPr marL="27432" marR="27432" marT="9144" marB="9144"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00" b="1" dirty="0">
                          <a:solidFill>
                            <a:schemeClr val="tx1"/>
                          </a:solidFill>
                        </a:rPr>
                        <a:t>Air/Mcal</a:t>
                      </a:r>
                      <a:endParaRPr lang="en-US" sz="900" dirty="0"/>
                    </a:p>
                  </a:txBody>
                  <a:tcPr marL="27432" marR="27432" marT="9144" marB="9144"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00" b="1" dirty="0">
                          <a:solidFill>
                            <a:schemeClr val="tx1"/>
                          </a:solidFill>
                        </a:rPr>
                        <a:t>AFR</a:t>
                      </a:r>
                      <a:endParaRPr lang="en-US" sz="900" dirty="0"/>
                    </a:p>
                  </a:txBody>
                  <a:tcPr marL="27432" marR="27432" marT="9144" marB="9144"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00" b="1" dirty="0">
                          <a:solidFill>
                            <a:schemeClr val="tx1"/>
                          </a:solidFill>
                        </a:rPr>
                        <a:t>MB3 bottom</a:t>
                      </a:r>
                      <a:endParaRPr lang="en-US" sz="900" dirty="0"/>
                    </a:p>
                  </a:txBody>
                  <a:tcPr marL="27432" marR="27432" marT="9144" marB="9144"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00" b="1" dirty="0">
                          <a:solidFill>
                            <a:schemeClr val="tx1"/>
                          </a:solidFill>
                        </a:rPr>
                        <a:t>Optical crown</a:t>
                      </a:r>
                      <a:endParaRPr lang="en-US" sz="900" dirty="0"/>
                    </a:p>
                  </a:txBody>
                  <a:tcPr marL="27432" marR="27432" marT="9144" marB="9144"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00" b="1" dirty="0">
                          <a:solidFill>
                            <a:schemeClr val="tx1"/>
                          </a:solidFill>
                        </a:rPr>
                        <a:t>Crown TC</a:t>
                      </a:r>
                      <a:endParaRPr lang="en-US" sz="900" dirty="0"/>
                    </a:p>
                  </a:txBody>
                  <a:tcPr marL="27432" marR="27432" marT="9144" marB="9144"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00" b="1" dirty="0">
                          <a:solidFill>
                            <a:schemeClr val="tx1"/>
                          </a:solidFill>
                        </a:rPr>
                        <a:t>Cullet %</a:t>
                      </a:r>
                      <a:endParaRPr lang="en-US" sz="900" dirty="0"/>
                    </a:p>
                  </a:txBody>
                  <a:tcPr marL="27432" marR="27432" marT="9144" marB="9144"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00" b="1" dirty="0">
                          <a:solidFill>
                            <a:schemeClr val="tx1"/>
                          </a:solidFill>
                        </a:rPr>
                        <a:t>Seeds</a:t>
                      </a:r>
                      <a:endParaRPr lang="en-US" sz="900" dirty="0"/>
                    </a:p>
                  </a:txBody>
                  <a:tcPr marL="27432" marR="27432" marT="9144" marB="9144"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r>
              <a:tr h="283464">
                <a:tc>
                  <a:txBody>
                    <a:bodyPr/>
                    <a:lstStyle/>
                    <a:p>
                      <a:pPr algn="r" indent="0" marL="0">
                        <a:buNone/>
                      </a:pPr>
                      <a:r>
                        <a:rPr lang="en-US" sz="1000" b="1" dirty="0">
                          <a:solidFill>
                            <a:schemeClr val="tx1"/>
                          </a:solidFill>
                        </a:rPr>
                        <a:t>Draw</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FFFFFF"/>
                          </a:solidFill>
                        </a:rPr>
                        <a:t>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B6834"/>
                    </a:solidFill>
                  </a:tcPr>
                </a:tc>
                <a:tc>
                  <a:txBody>
                    <a:bodyPr/>
                    <a:lstStyle/>
                    <a:p>
                      <a:pPr algn="ctr" indent="0" marL="0">
                        <a:buNone/>
                      </a:pPr>
                      <a:r>
                        <a:rPr lang="en-US" sz="1000" dirty="0">
                          <a:solidFill>
                            <a:srgbClr val="FFFFFF"/>
                          </a:solidFill>
                        </a:rPr>
                        <a:t>-0.92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3B83D9"/>
                    </a:solidFill>
                  </a:tcPr>
                </a:tc>
                <a:tc>
                  <a:txBody>
                    <a:bodyPr/>
                    <a:lstStyle/>
                    <a:p>
                      <a:pPr algn="ctr" indent="0" marL="0">
                        <a:buNone/>
                      </a:pPr>
                      <a:r>
                        <a:rPr lang="en-US" sz="1000" dirty="0">
                          <a:solidFill>
                            <a:srgbClr val="1F2933"/>
                          </a:solidFill>
                        </a:rPr>
                        <a:t>0.23</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ADCD0"/>
                    </a:solidFill>
                  </a:tcPr>
                </a:tc>
                <a:tc>
                  <a:txBody>
                    <a:bodyPr/>
                    <a:lstStyle/>
                    <a:p>
                      <a:pPr algn="ctr" indent="0" marL="0">
                        <a:buNone/>
                      </a:pPr>
                      <a:r>
                        <a:rPr lang="en-US" sz="1000" dirty="0">
                          <a:solidFill>
                            <a:srgbClr val="FFFFFF"/>
                          </a:solidFill>
                        </a:rPr>
                        <a:t>0.84</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8054"/>
                    </a:solidFill>
                  </a:tcPr>
                </a:tc>
                <a:tc>
                  <a:txBody>
                    <a:bodyPr/>
                    <a:lstStyle/>
                    <a:p>
                      <a:pPr algn="ctr" indent="0" marL="0">
                        <a:buNone/>
                      </a:pPr>
                      <a:r>
                        <a:rPr lang="en-US" sz="1000" dirty="0">
                          <a:solidFill>
                            <a:srgbClr val="FFFFFF"/>
                          </a:solidFill>
                        </a:rPr>
                        <a:t>0.84</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8054"/>
                    </a:solidFill>
                  </a:tcPr>
                </a:tc>
                <a:tc>
                  <a:txBody>
                    <a:bodyPr/>
                    <a:lstStyle/>
                    <a:p>
                      <a:pPr algn="ctr" indent="0" marL="0">
                        <a:buNone/>
                      </a:pPr>
                      <a:r>
                        <a:rPr lang="en-US" sz="1000" dirty="0">
                          <a:solidFill>
                            <a:srgbClr val="1F2933"/>
                          </a:solidFill>
                        </a:rPr>
                        <a:t>0.37</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8C7B4"/>
                    </a:solidFill>
                  </a:tcPr>
                </a:tc>
                <a:tc>
                  <a:txBody>
                    <a:bodyPr/>
                    <a:lstStyle/>
                    <a:p>
                      <a:pPr algn="ctr" indent="0" marL="0">
                        <a:buNone/>
                      </a:pPr>
                      <a:r>
                        <a:rPr lang="en-US" sz="1000" dirty="0">
                          <a:solidFill>
                            <a:srgbClr val="1F2933"/>
                          </a:solidFill>
                        </a:rPr>
                        <a:t>-0.04</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6FAFD"/>
                    </a:solidFill>
                  </a:tcPr>
                </a:tc>
                <a:tc>
                  <a:txBody>
                    <a:bodyPr/>
                    <a:lstStyle/>
                    <a:p>
                      <a:pPr algn="ctr" indent="0" marL="0">
                        <a:buNone/>
                      </a:pPr>
                      <a:r>
                        <a:rPr lang="en-US" sz="1000" dirty="0">
                          <a:solidFill>
                            <a:srgbClr val="1F2933"/>
                          </a:solidFill>
                        </a:rPr>
                        <a:t>-0.05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8FD"/>
                    </a:solidFill>
                  </a:tcPr>
                </a:tc>
                <a:tc>
                  <a:txBody>
                    <a:bodyPr/>
                    <a:lstStyle/>
                    <a:p>
                      <a:pPr algn="ctr" indent="0" marL="0">
                        <a:buNone/>
                      </a:pPr>
                      <a:r>
                        <a:rPr lang="en-US" sz="1000" dirty="0">
                          <a:solidFill>
                            <a:srgbClr val="1F2933"/>
                          </a:solidFill>
                        </a:rPr>
                        <a:t>-0.06</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7FD"/>
                    </a:solidFill>
                  </a:tcPr>
                </a:tc>
                <a:tc>
                  <a:txBody>
                    <a:bodyPr/>
                    <a:lstStyle/>
                    <a:p>
                      <a:pPr algn="ctr" indent="0" marL="0">
                        <a:buNone/>
                      </a:pPr>
                      <a:r>
                        <a:rPr lang="en-US" sz="1000" dirty="0">
                          <a:solidFill>
                            <a:srgbClr val="1F2933"/>
                          </a:solidFill>
                        </a:rPr>
                        <a:t>0.26</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AD8CA"/>
                    </a:solidFill>
                  </a:tcPr>
                </a:tc>
                <a:tc>
                  <a:txBody>
                    <a:bodyPr/>
                    <a:lstStyle/>
                    <a:p>
                      <a:pPr algn="ctr" indent="0" marL="0">
                        <a:buNone/>
                      </a:pPr>
                      <a:r>
                        <a:rPr lang="en-US" sz="1000" dirty="0">
                          <a:solidFill>
                            <a:srgbClr val="1F2933"/>
                          </a:solidFill>
                        </a:rPr>
                        <a:t>0.21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DFD4"/>
                    </a:solidFill>
                  </a:tcPr>
                </a:tc>
                <a:tc>
                  <a:txBody>
                    <a:bodyPr/>
                    <a:lstStyle/>
                    <a:p>
                      <a:pPr algn="ctr" indent="0" marL="0">
                        <a:buNone/>
                      </a:pPr>
                      <a:r>
                        <a:rPr lang="en-US" sz="1000" dirty="0">
                          <a:solidFill>
                            <a:srgbClr val="1F2933"/>
                          </a:solidFill>
                        </a:rPr>
                        <a:t>0.19</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E2D8"/>
                    </a:solidFill>
                  </a:tcPr>
                </a:tc>
                <a:tc>
                  <a:txBody>
                    <a:bodyPr/>
                    <a:lstStyle/>
                    <a:p>
                      <a:pPr algn="ctr" indent="0" marL="0">
                        <a:buNone/>
                      </a:pPr>
                      <a:r>
                        <a:rPr lang="en-US" sz="1000" dirty="0">
                          <a:solidFill>
                            <a:srgbClr val="1F2933"/>
                          </a:solidFill>
                        </a:rPr>
                        <a:t>0.02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CFB"/>
                    </a:solidFill>
                  </a:tcPr>
                </a:tc>
                <a:tc>
                  <a:txBody>
                    <a:bodyPr/>
                    <a:lstStyle/>
                    <a:p>
                      <a:pPr algn="ctr" indent="0" marL="0">
                        <a:buNone/>
                      </a:pPr>
                      <a:r>
                        <a:rPr lang="en-US" sz="1000" dirty="0">
                          <a:solidFill>
                            <a:srgbClr val="1F2933"/>
                          </a:solidFill>
                        </a:rPr>
                        <a:t>0.06</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EF6F3"/>
                    </a:solidFill>
                  </a:tcPr>
                </a:tc>
              </a:tr>
              <a:tr h="283464">
                <a:tc>
                  <a:txBody>
                    <a:bodyPr/>
                    <a:lstStyle/>
                    <a:p>
                      <a:pPr algn="r" indent="0" marL="0">
                        <a:buNone/>
                      </a:pPr>
                      <a:r>
                        <a:rPr lang="en-US" sz="1000" b="1" dirty="0">
                          <a:solidFill>
                            <a:schemeClr val="tx1"/>
                          </a:solidFill>
                        </a:rPr>
                        <a:t>SFC</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FFFFFF"/>
                          </a:solidFill>
                        </a:rPr>
                        <a:t>-0.92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3B83D9"/>
                    </a:solidFill>
                  </a:tcPr>
                </a:tc>
                <a:tc>
                  <a:txBody>
                    <a:bodyPr/>
                    <a:lstStyle/>
                    <a:p>
                      <a:pPr algn="ctr" indent="0" marL="0">
                        <a:buNone/>
                      </a:pPr>
                      <a:r>
                        <a:rPr lang="en-US" sz="1000" dirty="0">
                          <a:solidFill>
                            <a:srgbClr val="FFFFFF"/>
                          </a:solidFill>
                        </a:rPr>
                        <a:t>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B6834"/>
                    </a:solidFill>
                  </a:tcPr>
                </a:tc>
                <a:tc>
                  <a:txBody>
                    <a:bodyPr/>
                    <a:lstStyle/>
                    <a:p>
                      <a:pPr algn="ctr" indent="0" marL="0">
                        <a:buNone/>
                      </a:pPr>
                      <a:r>
                        <a:rPr lang="en-US" sz="1000" dirty="0">
                          <a:solidFill>
                            <a:srgbClr val="1F2933"/>
                          </a:solidFill>
                        </a:rPr>
                        <a:t>0.10</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F0EB"/>
                    </a:solidFill>
                  </a:tcPr>
                </a:tc>
                <a:tc>
                  <a:txBody>
                    <a:bodyPr/>
                    <a:lstStyle/>
                    <a:p>
                      <a:pPr algn="ctr" indent="0" marL="0">
                        <a:buNone/>
                      </a:pPr>
                      <a:r>
                        <a:rPr lang="en-US" sz="1000" dirty="0">
                          <a:solidFill>
                            <a:srgbClr val="FFFFFF"/>
                          </a:solidFill>
                        </a:rPr>
                        <a:t>-0.81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5292DE"/>
                    </a:solidFill>
                  </a:tcPr>
                </a:tc>
                <a:tc>
                  <a:txBody>
                    <a:bodyPr/>
                    <a:lstStyle/>
                    <a:p>
                      <a:pPr algn="ctr" indent="0" marL="0">
                        <a:buNone/>
                      </a:pPr>
                      <a:r>
                        <a:rPr lang="en-US" sz="1000" dirty="0">
                          <a:solidFill>
                            <a:srgbClr val="FFFFFF"/>
                          </a:solidFill>
                        </a:rPr>
                        <a:t>-0.78</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5996DF"/>
                    </a:solidFill>
                  </a:tcPr>
                </a:tc>
                <a:tc>
                  <a:txBody>
                    <a:bodyPr/>
                    <a:lstStyle/>
                    <a:p>
                      <a:pPr algn="ctr" indent="0" marL="0">
                        <a:buNone/>
                      </a:pPr>
                      <a:r>
                        <a:rPr lang="en-US" sz="1000" dirty="0">
                          <a:solidFill>
                            <a:srgbClr val="1F2933"/>
                          </a:solidFill>
                        </a:rPr>
                        <a:t>-0.41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A8C8EE"/>
                    </a:solidFill>
                  </a:tcPr>
                </a:tc>
                <a:tc>
                  <a:txBody>
                    <a:bodyPr/>
                    <a:lstStyle/>
                    <a:p>
                      <a:pPr algn="ctr" indent="0" marL="0">
                        <a:buNone/>
                      </a:pPr>
                      <a:r>
                        <a:rPr lang="en-US" sz="1000" dirty="0">
                          <a:solidFill>
                            <a:srgbClr val="1F2933"/>
                          </a:solidFill>
                        </a:rPr>
                        <a:t>-0.07</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0F6FC"/>
                    </a:solidFill>
                  </a:tcPr>
                </a:tc>
                <a:tc>
                  <a:txBody>
                    <a:bodyPr/>
                    <a:lstStyle/>
                    <a:p>
                      <a:pPr algn="ctr" indent="0" marL="0">
                        <a:buNone/>
                      </a:pPr>
                      <a:r>
                        <a:rPr lang="en-US" sz="1000" dirty="0">
                          <a:solidFill>
                            <a:srgbClr val="1F2933"/>
                          </a:solidFill>
                        </a:rPr>
                        <a:t>0.18</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E4DA"/>
                    </a:solidFill>
                  </a:tcPr>
                </a:tc>
                <a:tc>
                  <a:txBody>
                    <a:bodyPr/>
                    <a:lstStyle/>
                    <a:p>
                      <a:pPr algn="ctr" indent="0" marL="0">
                        <a:buNone/>
                      </a:pPr>
                      <a:r>
                        <a:rPr lang="en-US" sz="1000" dirty="0">
                          <a:solidFill>
                            <a:srgbClr val="1F2933"/>
                          </a:solidFill>
                        </a:rPr>
                        <a:t>-0.02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FCFE"/>
                    </a:solidFill>
                  </a:tcPr>
                </a:tc>
                <a:tc>
                  <a:txBody>
                    <a:bodyPr/>
                    <a:lstStyle/>
                    <a:p>
                      <a:pPr algn="ctr" indent="0" marL="0">
                        <a:buNone/>
                      </a:pPr>
                      <a:r>
                        <a:rPr lang="en-US" sz="1000" dirty="0">
                          <a:solidFill>
                            <a:srgbClr val="1F2933"/>
                          </a:solidFill>
                        </a:rPr>
                        <a:t>-0.13</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3EDFA"/>
                    </a:solidFill>
                  </a:tcPr>
                </a:tc>
                <a:tc>
                  <a:txBody>
                    <a:bodyPr/>
                    <a:lstStyle/>
                    <a:p>
                      <a:pPr algn="ctr" indent="0" marL="0">
                        <a:buNone/>
                      </a:pPr>
                      <a:r>
                        <a:rPr lang="en-US" sz="1000" dirty="0">
                          <a:solidFill>
                            <a:srgbClr val="1F2933"/>
                          </a:solidFill>
                        </a:rPr>
                        <a:t>-0.30</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D7F3"/>
                    </a:solidFill>
                  </a:tcPr>
                </a:tc>
                <a:tc>
                  <a:txBody>
                    <a:bodyPr/>
                    <a:lstStyle/>
                    <a:p>
                      <a:pPr algn="ctr" indent="0" marL="0">
                        <a:buNone/>
                      </a:pPr>
                      <a:r>
                        <a:rPr lang="en-US" sz="1000" dirty="0">
                          <a:solidFill>
                            <a:srgbClr val="1F2933"/>
                          </a:solidFill>
                        </a:rPr>
                        <a:t>-0.35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D0F1"/>
                    </a:solidFill>
                  </a:tcPr>
                </a:tc>
                <a:tc>
                  <a:txBody>
                    <a:bodyPr/>
                    <a:lstStyle/>
                    <a:p>
                      <a:pPr algn="ctr" indent="0" marL="0">
                        <a:buNone/>
                      </a:pPr>
                      <a:r>
                        <a:rPr lang="en-US" sz="1000" dirty="0">
                          <a:solidFill>
                            <a:srgbClr val="1F2933"/>
                          </a:solidFill>
                        </a:rPr>
                        <a:t>0.09</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F1ED"/>
                    </a:solidFill>
                  </a:tcPr>
                </a:tc>
                <a:tc>
                  <a:txBody>
                    <a:bodyPr/>
                    <a:lstStyle/>
                    <a:p>
                      <a:pPr algn="ctr" indent="0" marL="0">
                        <a:buNone/>
                      </a:pPr>
                      <a:r>
                        <a:rPr lang="en-US" sz="1000" dirty="0">
                          <a:solidFill>
                            <a:srgbClr val="1F2933"/>
                          </a:solidFill>
                        </a:rPr>
                        <a:t>0.05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EF7F5"/>
                    </a:solidFill>
                  </a:tcPr>
                </a:tc>
              </a:tr>
              <a:tr h="283464">
                <a:tc>
                  <a:txBody>
                    <a:bodyPr/>
                    <a:lstStyle/>
                    <a:p>
                      <a:pPr algn="r" indent="0" marL="0">
                        <a:buNone/>
                      </a:pPr>
                      <a:r>
                        <a:rPr lang="en-US" sz="1000" b="1" dirty="0">
                          <a:solidFill>
                            <a:schemeClr val="tx1"/>
                          </a:solidFill>
                        </a:rPr>
                        <a:t>Gas heat</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933"/>
                          </a:solidFill>
                        </a:rPr>
                        <a:t>0.23</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ADCD0"/>
                    </a:solidFill>
                  </a:tcPr>
                </a:tc>
                <a:tc>
                  <a:txBody>
                    <a:bodyPr/>
                    <a:lstStyle/>
                    <a:p>
                      <a:pPr algn="ctr" indent="0" marL="0">
                        <a:buNone/>
                      </a:pPr>
                      <a:r>
                        <a:rPr lang="en-US" sz="1000" dirty="0">
                          <a:solidFill>
                            <a:srgbClr val="1F2933"/>
                          </a:solidFill>
                        </a:rPr>
                        <a:t>0.10</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F0EB"/>
                    </a:solidFill>
                  </a:tcPr>
                </a:tc>
                <a:tc>
                  <a:txBody>
                    <a:bodyPr/>
                    <a:lstStyle/>
                    <a:p>
                      <a:pPr algn="ctr" indent="0" marL="0">
                        <a:buNone/>
                      </a:pPr>
                      <a:r>
                        <a:rPr lang="en-US" sz="1000" dirty="0">
                          <a:solidFill>
                            <a:srgbClr val="FFFFFF"/>
                          </a:solidFill>
                        </a:rPr>
                        <a:t>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B6834"/>
                    </a:solidFill>
                  </a:tcPr>
                </a:tc>
                <a:tc>
                  <a:txBody>
                    <a:bodyPr/>
                    <a:lstStyle/>
                    <a:p>
                      <a:pPr algn="ctr" indent="0" marL="0">
                        <a:buNone/>
                      </a:pPr>
                      <a:r>
                        <a:rPr lang="en-US" sz="1000" dirty="0">
                          <a:solidFill>
                            <a:srgbClr val="1F2933"/>
                          </a:solidFill>
                        </a:rPr>
                        <a:t>-0.15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BF9"/>
                    </a:solidFill>
                  </a:tcPr>
                </a:tc>
                <a:tc>
                  <a:txBody>
                    <a:bodyPr/>
                    <a:lstStyle/>
                    <a:p>
                      <a:pPr algn="ctr" indent="0" marL="0">
                        <a:buNone/>
                      </a:pPr>
                      <a:r>
                        <a:rPr lang="en-US" sz="1000" dirty="0">
                          <a:solidFill>
                            <a:srgbClr val="1F2933"/>
                          </a:solidFill>
                        </a:rPr>
                        <a:t>-0.04</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6FAFD"/>
                    </a:solidFill>
                  </a:tcPr>
                </a:tc>
                <a:tc>
                  <a:txBody>
                    <a:bodyPr/>
                    <a:lstStyle/>
                    <a:p>
                      <a:pPr algn="ctr" indent="0" marL="0">
                        <a:buNone/>
                      </a:pPr>
                      <a:r>
                        <a:rPr lang="en-US" sz="1000" dirty="0">
                          <a:solidFill>
                            <a:srgbClr val="1F2933"/>
                          </a:solidFill>
                        </a:rPr>
                        <a:t>-0.32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BD4F2"/>
                    </a:solidFill>
                  </a:tcPr>
                </a:tc>
                <a:tc>
                  <a:txBody>
                    <a:bodyPr/>
                    <a:lstStyle/>
                    <a:p>
                      <a:pPr algn="ctr" indent="0" marL="0">
                        <a:buNone/>
                      </a:pPr>
                      <a:r>
                        <a:rPr lang="en-US" sz="1000" dirty="0">
                          <a:solidFill>
                            <a:srgbClr val="1F2933"/>
                          </a:solidFill>
                        </a:rPr>
                        <a:t>-0.07</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0F6FC"/>
                    </a:solidFill>
                  </a:tcPr>
                </a:tc>
                <a:tc>
                  <a:txBody>
                    <a:bodyPr/>
                    <a:lstStyle/>
                    <a:p>
                      <a:pPr algn="ctr" indent="0" marL="0">
                        <a:buNone/>
                      </a:pPr>
                      <a:r>
                        <a:rPr lang="en-US" sz="1000" dirty="0">
                          <a:solidFill>
                            <a:srgbClr val="1F2933"/>
                          </a:solidFill>
                        </a:rPr>
                        <a:t>0.30</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9D2C2"/>
                    </a:solidFill>
                  </a:tcPr>
                </a:tc>
                <a:tc>
                  <a:txBody>
                    <a:bodyPr/>
                    <a:lstStyle/>
                    <a:p>
                      <a:pPr algn="ctr" indent="0" marL="0">
                        <a:buNone/>
                      </a:pPr>
                      <a:r>
                        <a:rPr lang="en-US" sz="1000" dirty="0">
                          <a:solidFill>
                            <a:srgbClr val="1F2933"/>
                          </a:solidFill>
                        </a:rPr>
                        <a:t>0.02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CFB"/>
                    </a:solidFill>
                  </a:tcPr>
                </a:tc>
                <a:tc>
                  <a:txBody>
                    <a:bodyPr/>
                    <a:lstStyle/>
                    <a:p>
                      <a:pPr algn="ctr" indent="0" marL="0">
                        <a:buNone/>
                      </a:pPr>
                      <a:r>
                        <a:rPr lang="en-US" sz="1000" dirty="0">
                          <a:solidFill>
                            <a:srgbClr val="1F2933"/>
                          </a:solidFill>
                        </a:rPr>
                        <a:t>0.35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8CAB8"/>
                    </a:solidFill>
                  </a:tcPr>
                </a:tc>
                <a:tc>
                  <a:txBody>
                    <a:bodyPr/>
                    <a:lstStyle/>
                    <a:p>
                      <a:pPr algn="ctr" indent="0" marL="0">
                        <a:buNone/>
                      </a:pPr>
                      <a:r>
                        <a:rPr lang="en-US" sz="1000" dirty="0">
                          <a:solidFill>
                            <a:srgbClr val="1F2933"/>
                          </a:solidFill>
                        </a:rPr>
                        <a:t>-0.25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ADDF5"/>
                    </a:solidFill>
                  </a:tcPr>
                </a:tc>
                <a:tc>
                  <a:txBody>
                    <a:bodyPr/>
                    <a:lstStyle/>
                    <a:p>
                      <a:pPr algn="ctr" indent="0" marL="0">
                        <a:buNone/>
                      </a:pPr>
                      <a:r>
                        <a:rPr lang="en-US" sz="1000" dirty="0">
                          <a:solidFill>
                            <a:srgbClr val="1F2933"/>
                          </a:solidFill>
                        </a:rPr>
                        <a:t>-0.50</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95BCEB"/>
                    </a:solidFill>
                  </a:tcPr>
                </a:tc>
                <a:tc>
                  <a:txBody>
                    <a:bodyPr/>
                    <a:lstStyle/>
                    <a:p>
                      <a:pPr algn="ctr" indent="0" marL="0">
                        <a:buNone/>
                      </a:pPr>
                      <a:r>
                        <a:rPr lang="en-US" sz="1000" dirty="0">
                          <a:solidFill>
                            <a:srgbClr val="1F2933"/>
                          </a:solidFill>
                        </a:rPr>
                        <a:t>0.36</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8C9B6"/>
                    </a:solidFill>
                  </a:tcPr>
                </a:tc>
                <a:tc>
                  <a:txBody>
                    <a:bodyPr/>
                    <a:lstStyle/>
                    <a:p>
                      <a:pPr algn="ctr" indent="0" marL="0">
                        <a:buNone/>
                      </a:pPr>
                      <a:r>
                        <a:rPr lang="en-US" sz="1000" dirty="0">
                          <a:solidFill>
                            <a:srgbClr val="1F2933"/>
                          </a:solidFill>
                        </a:rPr>
                        <a:t>0.23</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ADCD0"/>
                    </a:solidFill>
                  </a:tcPr>
                </a:tc>
              </a:tr>
              <a:tr h="283464">
                <a:tc>
                  <a:txBody>
                    <a:bodyPr/>
                    <a:lstStyle/>
                    <a:p>
                      <a:pPr algn="r" indent="0" marL="0">
                        <a:buNone/>
                      </a:pPr>
                      <a:r>
                        <a:rPr lang="en-US" sz="1000" b="1" dirty="0">
                          <a:solidFill>
                            <a:schemeClr val="tx1"/>
                          </a:solidFill>
                        </a:rPr>
                        <a:t>Elec heat</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FFFFFF"/>
                          </a:solidFill>
                        </a:rPr>
                        <a:t>0.84</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8054"/>
                    </a:solidFill>
                  </a:tcPr>
                </a:tc>
                <a:tc>
                  <a:txBody>
                    <a:bodyPr/>
                    <a:lstStyle/>
                    <a:p>
                      <a:pPr algn="ctr" indent="0" marL="0">
                        <a:buNone/>
                      </a:pPr>
                      <a:r>
                        <a:rPr lang="en-US" sz="1000" dirty="0">
                          <a:solidFill>
                            <a:srgbClr val="FFFFFF"/>
                          </a:solidFill>
                        </a:rPr>
                        <a:t>-0.81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5292DE"/>
                    </a:solidFill>
                  </a:tcPr>
                </a:tc>
                <a:tc>
                  <a:txBody>
                    <a:bodyPr/>
                    <a:lstStyle/>
                    <a:p>
                      <a:pPr algn="ctr" indent="0" marL="0">
                        <a:buNone/>
                      </a:pPr>
                      <a:r>
                        <a:rPr lang="en-US" sz="1000" dirty="0">
                          <a:solidFill>
                            <a:srgbClr val="1F2933"/>
                          </a:solidFill>
                        </a:rPr>
                        <a:t>-0.15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BF9"/>
                    </a:solidFill>
                  </a:tcPr>
                </a:tc>
                <a:tc>
                  <a:txBody>
                    <a:bodyPr/>
                    <a:lstStyle/>
                    <a:p>
                      <a:pPr algn="ctr" indent="0" marL="0">
                        <a:buNone/>
                      </a:pPr>
                      <a:r>
                        <a:rPr lang="en-US" sz="1000" dirty="0">
                          <a:solidFill>
                            <a:srgbClr val="FFFFFF"/>
                          </a:solidFill>
                        </a:rPr>
                        <a:t>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B6834"/>
                    </a:solidFill>
                  </a:tcPr>
                </a:tc>
                <a:tc>
                  <a:txBody>
                    <a:bodyPr/>
                    <a:lstStyle/>
                    <a:p>
                      <a:pPr algn="ctr" indent="0" marL="0">
                        <a:buNone/>
                      </a:pPr>
                      <a:r>
                        <a:rPr lang="en-US" sz="1000" dirty="0">
                          <a:solidFill>
                            <a:srgbClr val="FFFFFF"/>
                          </a:solidFill>
                        </a:rPr>
                        <a:t>0.93</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C7342"/>
                    </a:solidFill>
                  </a:tcPr>
                </a:tc>
                <a:tc>
                  <a:txBody>
                    <a:bodyPr/>
                    <a:lstStyle/>
                    <a:p>
                      <a:pPr algn="ctr" indent="0" marL="0">
                        <a:buNone/>
                      </a:pPr>
                      <a:r>
                        <a:rPr lang="en-US" sz="1000" dirty="0">
                          <a:solidFill>
                            <a:srgbClr val="1F2933"/>
                          </a:solidFill>
                        </a:rPr>
                        <a:t>0.58</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A789"/>
                    </a:solidFill>
                  </a:tcPr>
                </a:tc>
                <a:tc>
                  <a:txBody>
                    <a:bodyPr/>
                    <a:lstStyle/>
                    <a:p>
                      <a:pPr algn="ctr" indent="0" marL="0">
                        <a:buNone/>
                      </a:pPr>
                      <a:r>
                        <a:rPr lang="en-US" sz="1000" dirty="0">
                          <a:solidFill>
                            <a:srgbClr val="1F2933"/>
                          </a:solidFill>
                        </a:rPr>
                        <a:t>-0.18</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7F8"/>
                    </a:solidFill>
                  </a:tcPr>
                </a:tc>
                <a:tc>
                  <a:txBody>
                    <a:bodyPr/>
                    <a:lstStyle/>
                    <a:p>
                      <a:pPr algn="ctr" indent="0" marL="0">
                        <a:buNone/>
                      </a:pPr>
                      <a:r>
                        <a:rPr lang="en-US" sz="1000" dirty="0">
                          <a:solidFill>
                            <a:srgbClr val="1F2933"/>
                          </a:solidFill>
                        </a:rPr>
                        <a:t>-0.12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5EFFA"/>
                    </a:solidFill>
                  </a:tcPr>
                </a:tc>
                <a:tc>
                  <a:txBody>
                    <a:bodyPr/>
                    <a:lstStyle/>
                    <a:p>
                      <a:pPr algn="ctr" indent="0" marL="0">
                        <a:buNone/>
                      </a:pPr>
                      <a:r>
                        <a:rPr lang="en-US" sz="1000" dirty="0">
                          <a:solidFill>
                            <a:srgbClr val="1F2933"/>
                          </a:solidFill>
                        </a:rPr>
                        <a:t>-0.23</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EE0F6"/>
                    </a:solidFill>
                  </a:tcPr>
                </a:tc>
                <a:tc>
                  <a:txBody>
                    <a:bodyPr/>
                    <a:lstStyle/>
                    <a:p>
                      <a:pPr algn="ctr" indent="0" marL="0">
                        <a:buNone/>
                      </a:pPr>
                      <a:r>
                        <a:rPr lang="en-US" sz="1000" dirty="0">
                          <a:solidFill>
                            <a:srgbClr val="1F2933"/>
                          </a:solidFill>
                        </a:rPr>
                        <a:t>0.15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8E1"/>
                    </a:solidFill>
                  </a:tcPr>
                </a:tc>
                <a:tc>
                  <a:txBody>
                    <a:bodyPr/>
                    <a:lstStyle/>
                    <a:p>
                      <a:pPr algn="ctr" indent="0" marL="0">
                        <a:buNone/>
                      </a:pPr>
                      <a:r>
                        <a:rPr lang="en-US" sz="1000" dirty="0">
                          <a:solidFill>
                            <a:srgbClr val="1F2933"/>
                          </a:solidFill>
                        </a:rPr>
                        <a:t>0.29</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9D3C4"/>
                    </a:solidFill>
                  </a:tcPr>
                </a:tc>
                <a:tc>
                  <a:txBody>
                    <a:bodyPr/>
                    <a:lstStyle/>
                    <a:p>
                      <a:pPr algn="ctr" indent="0" marL="0">
                        <a:buNone/>
                      </a:pPr>
                      <a:r>
                        <a:rPr lang="en-US" sz="1000" dirty="0">
                          <a:solidFill>
                            <a:srgbClr val="1F2933"/>
                          </a:solidFill>
                        </a:rPr>
                        <a:t>0.37</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8C7B4"/>
                    </a:solidFill>
                  </a:tcPr>
                </a:tc>
                <a:tc>
                  <a:txBody>
                    <a:bodyPr/>
                    <a:lstStyle/>
                    <a:p>
                      <a:pPr algn="ctr" indent="0" marL="0">
                        <a:buNone/>
                      </a:pPr>
                      <a:r>
                        <a:rPr lang="en-US" sz="1000" dirty="0">
                          <a:solidFill>
                            <a:srgbClr val="1F2933"/>
                          </a:solidFill>
                        </a:rPr>
                        <a:t>-0.15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BF9"/>
                    </a:solidFill>
                  </a:tcPr>
                </a:tc>
                <a:tc>
                  <a:txBody>
                    <a:bodyPr/>
                    <a:lstStyle/>
                    <a:p>
                      <a:pPr algn="ctr" indent="0" marL="0">
                        <a:buNone/>
                      </a:pPr>
                      <a:r>
                        <a:rPr lang="en-US" sz="1000" dirty="0">
                          <a:solidFill>
                            <a:srgbClr val="1F2933"/>
                          </a:solidFill>
                        </a:rPr>
                        <a:t>0.05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EF7F5"/>
                    </a:solidFill>
                  </a:tcPr>
                </a:tc>
              </a:tr>
              <a:tr h="283464">
                <a:tc>
                  <a:txBody>
                    <a:bodyPr/>
                    <a:lstStyle/>
                    <a:p>
                      <a:pPr algn="r" indent="0" marL="0">
                        <a:buNone/>
                      </a:pPr>
                      <a:r>
                        <a:rPr lang="en-US" sz="1000" b="1" dirty="0">
                          <a:solidFill>
                            <a:schemeClr val="tx1"/>
                          </a:solidFill>
                        </a:rPr>
                        <a:t>Barrier boost</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FFFFFF"/>
                          </a:solidFill>
                        </a:rPr>
                        <a:t>0.84</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8054"/>
                    </a:solidFill>
                  </a:tcPr>
                </a:tc>
                <a:tc>
                  <a:txBody>
                    <a:bodyPr/>
                    <a:lstStyle/>
                    <a:p>
                      <a:pPr algn="ctr" indent="0" marL="0">
                        <a:buNone/>
                      </a:pPr>
                      <a:r>
                        <a:rPr lang="en-US" sz="1000" dirty="0">
                          <a:solidFill>
                            <a:srgbClr val="FFFFFF"/>
                          </a:solidFill>
                        </a:rPr>
                        <a:t>-0.78</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5996DF"/>
                    </a:solidFill>
                  </a:tcPr>
                </a:tc>
                <a:tc>
                  <a:txBody>
                    <a:bodyPr/>
                    <a:lstStyle/>
                    <a:p>
                      <a:pPr algn="ctr" indent="0" marL="0">
                        <a:buNone/>
                      </a:pPr>
                      <a:r>
                        <a:rPr lang="en-US" sz="1000" dirty="0">
                          <a:solidFill>
                            <a:srgbClr val="1F2933"/>
                          </a:solidFill>
                        </a:rPr>
                        <a:t>-0.04</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6FAFD"/>
                    </a:solidFill>
                  </a:tcPr>
                </a:tc>
                <a:tc>
                  <a:txBody>
                    <a:bodyPr/>
                    <a:lstStyle/>
                    <a:p>
                      <a:pPr algn="ctr" indent="0" marL="0">
                        <a:buNone/>
                      </a:pPr>
                      <a:r>
                        <a:rPr lang="en-US" sz="1000" dirty="0">
                          <a:solidFill>
                            <a:srgbClr val="FFFFFF"/>
                          </a:solidFill>
                        </a:rPr>
                        <a:t>0.93</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C7342"/>
                    </a:solidFill>
                  </a:tcPr>
                </a:tc>
                <a:tc>
                  <a:txBody>
                    <a:bodyPr/>
                    <a:lstStyle/>
                    <a:p>
                      <a:pPr algn="ctr" indent="0" marL="0">
                        <a:buNone/>
                      </a:pPr>
                      <a:r>
                        <a:rPr lang="en-US" sz="1000" dirty="0">
                          <a:solidFill>
                            <a:srgbClr val="FFFFFF"/>
                          </a:solidFill>
                        </a:rPr>
                        <a:t>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B6834"/>
                    </a:solidFill>
                  </a:tcPr>
                </a:tc>
                <a:tc>
                  <a:txBody>
                    <a:bodyPr/>
                    <a:lstStyle/>
                    <a:p>
                      <a:pPr algn="ctr" indent="0" marL="0">
                        <a:buNone/>
                      </a:pPr>
                      <a:r>
                        <a:rPr lang="en-US" sz="1000" dirty="0">
                          <a:solidFill>
                            <a:srgbClr val="1F2933"/>
                          </a:solidFill>
                        </a:rPr>
                        <a:t>0.25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AD9CC"/>
                    </a:solidFill>
                  </a:tcPr>
                </a:tc>
                <a:tc>
                  <a:txBody>
                    <a:bodyPr/>
                    <a:lstStyle/>
                    <a:p>
                      <a:pPr algn="ctr" indent="0" marL="0">
                        <a:buNone/>
                      </a:pPr>
                      <a:r>
                        <a:rPr lang="en-US" sz="1000" dirty="0">
                          <a:solidFill>
                            <a:srgbClr val="1F2933"/>
                          </a:solidFill>
                        </a:rPr>
                        <a:t>-0.15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BF9"/>
                    </a:solidFill>
                  </a:tcPr>
                </a:tc>
                <a:tc>
                  <a:txBody>
                    <a:bodyPr/>
                    <a:lstStyle/>
                    <a:p>
                      <a:pPr algn="ctr" indent="0" marL="0">
                        <a:buNone/>
                      </a:pPr>
                      <a:r>
                        <a:rPr lang="en-US" sz="1000" dirty="0">
                          <a:solidFill>
                            <a:srgbClr val="1F2933"/>
                          </a:solidFill>
                        </a:rPr>
                        <a:t>-0.05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8FD"/>
                    </a:solidFill>
                  </a:tcPr>
                </a:tc>
                <a:tc>
                  <a:txBody>
                    <a:bodyPr/>
                    <a:lstStyle/>
                    <a:p>
                      <a:pPr algn="ctr" indent="0" marL="0">
                        <a:buNone/>
                      </a:pPr>
                      <a:r>
                        <a:rPr lang="en-US" sz="1000" dirty="0">
                          <a:solidFill>
                            <a:srgbClr val="1F2933"/>
                          </a:solidFill>
                        </a:rPr>
                        <a:t>-0.19</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7E5F7"/>
                    </a:solidFill>
                  </a:tcPr>
                </a:tc>
                <a:tc>
                  <a:txBody>
                    <a:bodyPr/>
                    <a:lstStyle/>
                    <a:p>
                      <a:pPr algn="ctr" indent="0" marL="0">
                        <a:buNone/>
                      </a:pPr>
                      <a:r>
                        <a:rPr lang="en-US" sz="1000" dirty="0">
                          <a:solidFill>
                            <a:srgbClr val="1F2933"/>
                          </a:solidFill>
                        </a:rPr>
                        <a:t>0.24</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ADBCE"/>
                    </a:solidFill>
                  </a:tcPr>
                </a:tc>
                <a:tc>
                  <a:txBody>
                    <a:bodyPr/>
                    <a:lstStyle/>
                    <a:p>
                      <a:pPr algn="ctr" indent="0" marL="0">
                        <a:buNone/>
                      </a:pPr>
                      <a:r>
                        <a:rPr lang="en-US" sz="1000" dirty="0">
                          <a:solidFill>
                            <a:srgbClr val="1F2933"/>
                          </a:solidFill>
                        </a:rPr>
                        <a:t>0.18</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E4DA"/>
                    </a:solidFill>
                  </a:tcPr>
                </a:tc>
                <a:tc>
                  <a:txBody>
                    <a:bodyPr/>
                    <a:lstStyle/>
                    <a:p>
                      <a:pPr algn="ctr" indent="0" marL="0">
                        <a:buNone/>
                      </a:pPr>
                      <a:r>
                        <a:rPr lang="en-US" sz="1000" dirty="0">
                          <a:solidFill>
                            <a:srgbClr val="1F2933"/>
                          </a:solidFill>
                        </a:rPr>
                        <a:t>0.22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DED2"/>
                    </a:solidFill>
                  </a:tcPr>
                </a:tc>
                <a:tc>
                  <a:txBody>
                    <a:bodyPr/>
                    <a:lstStyle/>
                    <a:p>
                      <a:pPr algn="ctr" indent="0" marL="0">
                        <a:buNone/>
                      </a:pPr>
                      <a:r>
                        <a:rPr lang="en-US" sz="1000" dirty="0">
                          <a:solidFill>
                            <a:srgbClr val="1F2933"/>
                          </a:solidFill>
                        </a:rPr>
                        <a:t>-0.02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FCFE"/>
                    </a:solidFill>
                  </a:tcPr>
                </a:tc>
                <a:tc>
                  <a:txBody>
                    <a:bodyPr/>
                    <a:lstStyle/>
                    <a:p>
                      <a:pPr algn="ctr" indent="0" marL="0">
                        <a:buNone/>
                      </a:pPr>
                      <a:r>
                        <a:rPr lang="en-US" sz="1000" dirty="0">
                          <a:solidFill>
                            <a:srgbClr val="1F2933"/>
                          </a:solidFill>
                        </a:rPr>
                        <a:t>0.04</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EF9F7"/>
                    </a:solidFill>
                  </a:tcPr>
                </a:tc>
              </a:tr>
              <a:tr h="283464">
                <a:tc>
                  <a:txBody>
                    <a:bodyPr/>
                    <a:lstStyle/>
                    <a:p>
                      <a:pPr algn="r" indent="0" marL="0">
                        <a:buNone/>
                      </a:pPr>
                      <a:r>
                        <a:rPr lang="en-US" sz="1000" b="1" dirty="0">
                          <a:solidFill>
                            <a:schemeClr val="tx1"/>
                          </a:solidFill>
                        </a:rPr>
                        <a:t>Melter boost</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933"/>
                          </a:solidFill>
                        </a:rPr>
                        <a:t>0.37</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8C7B4"/>
                    </a:solidFill>
                  </a:tcPr>
                </a:tc>
                <a:tc>
                  <a:txBody>
                    <a:bodyPr/>
                    <a:lstStyle/>
                    <a:p>
                      <a:pPr algn="ctr" indent="0" marL="0">
                        <a:buNone/>
                      </a:pPr>
                      <a:r>
                        <a:rPr lang="en-US" sz="1000" dirty="0">
                          <a:solidFill>
                            <a:srgbClr val="1F2933"/>
                          </a:solidFill>
                        </a:rPr>
                        <a:t>-0.41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A8C8EE"/>
                    </a:solidFill>
                  </a:tcPr>
                </a:tc>
                <a:tc>
                  <a:txBody>
                    <a:bodyPr/>
                    <a:lstStyle/>
                    <a:p>
                      <a:pPr algn="ctr" indent="0" marL="0">
                        <a:buNone/>
                      </a:pPr>
                      <a:r>
                        <a:rPr lang="en-US" sz="1000" dirty="0">
                          <a:solidFill>
                            <a:srgbClr val="1F2933"/>
                          </a:solidFill>
                        </a:rPr>
                        <a:t>-0.32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BD4F2"/>
                    </a:solidFill>
                  </a:tcPr>
                </a:tc>
                <a:tc>
                  <a:txBody>
                    <a:bodyPr/>
                    <a:lstStyle/>
                    <a:p>
                      <a:pPr algn="ctr" indent="0" marL="0">
                        <a:buNone/>
                      </a:pPr>
                      <a:r>
                        <a:rPr lang="en-US" sz="1000" dirty="0">
                          <a:solidFill>
                            <a:srgbClr val="1F2933"/>
                          </a:solidFill>
                        </a:rPr>
                        <a:t>0.58</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A789"/>
                    </a:solidFill>
                  </a:tcPr>
                </a:tc>
                <a:tc>
                  <a:txBody>
                    <a:bodyPr/>
                    <a:lstStyle/>
                    <a:p>
                      <a:pPr algn="ctr" indent="0" marL="0">
                        <a:buNone/>
                      </a:pPr>
                      <a:r>
                        <a:rPr lang="en-US" sz="1000" dirty="0">
                          <a:solidFill>
                            <a:srgbClr val="1F2933"/>
                          </a:solidFill>
                        </a:rPr>
                        <a:t>0.25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AD9CC"/>
                    </a:solidFill>
                  </a:tcPr>
                </a:tc>
                <a:tc>
                  <a:txBody>
                    <a:bodyPr/>
                    <a:lstStyle/>
                    <a:p>
                      <a:pPr algn="ctr" indent="0" marL="0">
                        <a:buNone/>
                      </a:pPr>
                      <a:r>
                        <a:rPr lang="en-US" sz="1000" dirty="0">
                          <a:solidFill>
                            <a:srgbClr val="FFFFFF"/>
                          </a:solidFill>
                        </a:rPr>
                        <a:t>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B6834"/>
                    </a:solidFill>
                  </a:tcPr>
                </a:tc>
                <a:tc>
                  <a:txBody>
                    <a:bodyPr/>
                    <a:lstStyle/>
                    <a:p>
                      <a:pPr algn="ctr" indent="0" marL="0">
                        <a:buNone/>
                      </a:pPr>
                      <a:r>
                        <a:rPr lang="en-US" sz="1000" dirty="0">
                          <a:solidFill>
                            <a:srgbClr val="1F2933"/>
                          </a:solidFill>
                        </a:rPr>
                        <a:t>-0.13</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3EDFA"/>
                    </a:solidFill>
                  </a:tcPr>
                </a:tc>
                <a:tc>
                  <a:txBody>
                    <a:bodyPr/>
                    <a:lstStyle/>
                    <a:p>
                      <a:pPr algn="ctr" indent="0" marL="0">
                        <a:buNone/>
                      </a:pPr>
                      <a:r>
                        <a:rPr lang="en-US" sz="1000" dirty="0">
                          <a:solidFill>
                            <a:srgbClr val="1F2933"/>
                          </a:solidFill>
                        </a:rPr>
                        <a:t>-0.21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2E3F6"/>
                    </a:solidFill>
                  </a:tcPr>
                </a:tc>
                <a:tc>
                  <a:txBody>
                    <a:bodyPr/>
                    <a:lstStyle/>
                    <a:p>
                      <a:pPr algn="ctr" indent="0" marL="0">
                        <a:buNone/>
                      </a:pPr>
                      <a:r>
                        <a:rPr lang="en-US" sz="1000" dirty="0">
                          <a:solidFill>
                            <a:srgbClr val="1F2933"/>
                          </a:solidFill>
                        </a:rPr>
                        <a:t>-0.21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2E3F6"/>
                    </a:solidFill>
                  </a:tcPr>
                </a:tc>
                <a:tc>
                  <a:txBody>
                    <a:bodyPr/>
                    <a:lstStyle/>
                    <a:p>
                      <a:pPr algn="ctr" indent="0" marL="0">
                        <a:buNone/>
                      </a:pPr>
                      <a:r>
                        <a:rPr lang="en-US" sz="1000" dirty="0">
                          <a:solidFill>
                            <a:srgbClr val="1F2933"/>
                          </a:solidFill>
                        </a:rPr>
                        <a:t>-0.12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5EFFA"/>
                    </a:solidFill>
                  </a:tcPr>
                </a:tc>
                <a:tc>
                  <a:txBody>
                    <a:bodyPr/>
                    <a:lstStyle/>
                    <a:p>
                      <a:pPr algn="ctr" indent="0" marL="0">
                        <a:buNone/>
                      </a:pPr>
                      <a:r>
                        <a:rPr lang="en-US" sz="1000" dirty="0">
                          <a:solidFill>
                            <a:srgbClr val="1F2933"/>
                          </a:solidFill>
                        </a:rPr>
                        <a:t>0.37</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8C7B4"/>
                    </a:solidFill>
                  </a:tcPr>
                </a:tc>
                <a:tc>
                  <a:txBody>
                    <a:bodyPr/>
                    <a:lstStyle/>
                    <a:p>
                      <a:pPr algn="ctr" indent="0" marL="0">
                        <a:buNone/>
                      </a:pPr>
                      <a:r>
                        <a:rPr lang="en-US" sz="1000" dirty="0">
                          <a:solidFill>
                            <a:srgbClr val="1F2933"/>
                          </a:solidFill>
                        </a:rPr>
                        <a:t>0.50</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B49A"/>
                    </a:solidFill>
                  </a:tcPr>
                </a:tc>
                <a:tc>
                  <a:txBody>
                    <a:bodyPr/>
                    <a:lstStyle/>
                    <a:p>
                      <a:pPr algn="ctr" indent="0" marL="0">
                        <a:buNone/>
                      </a:pPr>
                      <a:r>
                        <a:rPr lang="en-US" sz="1000" dirty="0">
                          <a:solidFill>
                            <a:srgbClr val="1F2933"/>
                          </a:solidFill>
                        </a:rPr>
                        <a:t>-0.37</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0CDF0"/>
                    </a:solidFill>
                  </a:tcPr>
                </a:tc>
                <a:tc>
                  <a:txBody>
                    <a:bodyPr/>
                    <a:lstStyle/>
                    <a:p>
                      <a:pPr algn="ctr" indent="0" marL="0">
                        <a:buNone/>
                      </a:pPr>
                      <a:r>
                        <a:rPr lang="en-US" sz="1000" dirty="0">
                          <a:solidFill>
                            <a:srgbClr val="1F2933"/>
                          </a:solidFill>
                        </a:rPr>
                        <a:t>0.04</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EF9F7"/>
                    </a:solidFill>
                  </a:tcPr>
                </a:tc>
              </a:tr>
              <a:tr h="283464">
                <a:tc>
                  <a:txBody>
                    <a:bodyPr/>
                    <a:lstStyle/>
                    <a:p>
                      <a:pPr algn="r" indent="0" marL="0">
                        <a:buNone/>
                      </a:pPr>
                      <a:r>
                        <a:rPr lang="en-US" sz="1000" b="1" dirty="0">
                          <a:solidFill>
                            <a:schemeClr val="tx1"/>
                          </a:solidFill>
                        </a:rPr>
                        <a:t>NCV</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933"/>
                          </a:solidFill>
                        </a:rPr>
                        <a:t>-0.04</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6FAFD"/>
                    </a:solidFill>
                  </a:tcPr>
                </a:tc>
                <a:tc>
                  <a:txBody>
                    <a:bodyPr/>
                    <a:lstStyle/>
                    <a:p>
                      <a:pPr algn="ctr" indent="0" marL="0">
                        <a:buNone/>
                      </a:pPr>
                      <a:r>
                        <a:rPr lang="en-US" sz="1000" dirty="0">
                          <a:solidFill>
                            <a:srgbClr val="1F2933"/>
                          </a:solidFill>
                        </a:rPr>
                        <a:t>-0.07</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0F6FC"/>
                    </a:solidFill>
                  </a:tcPr>
                </a:tc>
                <a:tc>
                  <a:txBody>
                    <a:bodyPr/>
                    <a:lstStyle/>
                    <a:p>
                      <a:pPr algn="ctr" indent="0" marL="0">
                        <a:buNone/>
                      </a:pPr>
                      <a:r>
                        <a:rPr lang="en-US" sz="1000" dirty="0">
                          <a:solidFill>
                            <a:srgbClr val="1F2933"/>
                          </a:solidFill>
                        </a:rPr>
                        <a:t>-0.07</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0F6FC"/>
                    </a:solidFill>
                  </a:tcPr>
                </a:tc>
                <a:tc>
                  <a:txBody>
                    <a:bodyPr/>
                    <a:lstStyle/>
                    <a:p>
                      <a:pPr algn="ctr" indent="0" marL="0">
                        <a:buNone/>
                      </a:pPr>
                      <a:r>
                        <a:rPr lang="en-US" sz="1000" dirty="0">
                          <a:solidFill>
                            <a:srgbClr val="1F2933"/>
                          </a:solidFill>
                        </a:rPr>
                        <a:t>-0.18</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7F8"/>
                    </a:solidFill>
                  </a:tcPr>
                </a:tc>
                <a:tc>
                  <a:txBody>
                    <a:bodyPr/>
                    <a:lstStyle/>
                    <a:p>
                      <a:pPr algn="ctr" indent="0" marL="0">
                        <a:buNone/>
                      </a:pPr>
                      <a:r>
                        <a:rPr lang="en-US" sz="1000" dirty="0">
                          <a:solidFill>
                            <a:srgbClr val="1F2933"/>
                          </a:solidFill>
                        </a:rPr>
                        <a:t>-0.15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BF9"/>
                    </a:solidFill>
                  </a:tcPr>
                </a:tc>
                <a:tc>
                  <a:txBody>
                    <a:bodyPr/>
                    <a:lstStyle/>
                    <a:p>
                      <a:pPr algn="ctr" indent="0" marL="0">
                        <a:buNone/>
                      </a:pPr>
                      <a:r>
                        <a:rPr lang="en-US" sz="1000" dirty="0">
                          <a:solidFill>
                            <a:srgbClr val="1F2933"/>
                          </a:solidFill>
                        </a:rPr>
                        <a:t>-0.13</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3EDFA"/>
                    </a:solidFill>
                  </a:tcPr>
                </a:tc>
                <a:tc>
                  <a:txBody>
                    <a:bodyPr/>
                    <a:lstStyle/>
                    <a:p>
                      <a:pPr algn="ctr" indent="0" marL="0">
                        <a:buNone/>
                      </a:pPr>
                      <a:r>
                        <a:rPr lang="en-US" sz="1000" dirty="0">
                          <a:solidFill>
                            <a:srgbClr val="FFFFFF"/>
                          </a:solidFill>
                        </a:rPr>
                        <a:t>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B6834"/>
                    </a:solidFill>
                  </a:tcPr>
                </a:tc>
                <a:tc>
                  <a:txBody>
                    <a:bodyPr/>
                    <a:lstStyle/>
                    <a:p>
                      <a:pPr algn="ctr" indent="0" marL="0">
                        <a:buNone/>
                      </a:pPr>
                      <a:r>
                        <a:rPr lang="en-US" sz="1000" dirty="0">
                          <a:solidFill>
                            <a:srgbClr val="1F2933"/>
                          </a:solidFill>
                        </a:rPr>
                        <a:t>-0.41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A8C8EE"/>
                    </a:solidFill>
                  </a:tcPr>
                </a:tc>
                <a:tc>
                  <a:txBody>
                    <a:bodyPr/>
                    <a:lstStyle/>
                    <a:p>
                      <a:pPr algn="ctr" indent="0" marL="0">
                        <a:buNone/>
                      </a:pPr>
                      <a:r>
                        <a:rPr lang="en-US" sz="1000" dirty="0">
                          <a:solidFill>
                            <a:srgbClr val="FFFFFF"/>
                          </a:solidFill>
                        </a:rPr>
                        <a:t>0.95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C703E"/>
                    </a:solidFill>
                  </a:tcPr>
                </a:tc>
                <a:tc>
                  <a:txBody>
                    <a:bodyPr/>
                    <a:lstStyle/>
                    <a:p>
                      <a:pPr algn="ctr" indent="0" marL="0">
                        <a:buNone/>
                      </a:pPr>
                      <a:r>
                        <a:rPr lang="en-US" sz="1000" dirty="0">
                          <a:solidFill>
                            <a:srgbClr val="1F2933"/>
                          </a:solidFill>
                        </a:rPr>
                        <a:t>0.00</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933"/>
                          </a:solidFill>
                        </a:rPr>
                        <a:t>0.24</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ADBCE"/>
                    </a:solidFill>
                  </a:tcPr>
                </a:tc>
                <a:tc>
                  <a:txBody>
                    <a:bodyPr/>
                    <a:lstStyle/>
                    <a:p>
                      <a:pPr algn="ctr" indent="0" marL="0">
                        <a:buNone/>
                      </a:pPr>
                      <a:r>
                        <a:rPr lang="en-US" sz="1000" dirty="0">
                          <a:solidFill>
                            <a:srgbClr val="1F2933"/>
                          </a:solidFill>
                        </a:rPr>
                        <a:t>0.19</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E2D8"/>
                    </a:solidFill>
                  </a:tcPr>
                </a:tc>
                <a:tc>
                  <a:txBody>
                    <a:bodyPr/>
                    <a:lstStyle/>
                    <a:p>
                      <a:pPr algn="ctr" indent="0" marL="0">
                        <a:buNone/>
                      </a:pPr>
                      <a:r>
                        <a:rPr lang="en-US" sz="1000" dirty="0">
                          <a:solidFill>
                            <a:srgbClr val="1F2933"/>
                          </a:solidFill>
                        </a:rPr>
                        <a:t>0.00</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933"/>
                          </a:solidFill>
                        </a:rPr>
                        <a:t>-0.22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0E1F6"/>
                    </a:solidFill>
                  </a:tcPr>
                </a:tc>
              </a:tr>
              <a:tr h="283464">
                <a:tc>
                  <a:txBody>
                    <a:bodyPr/>
                    <a:lstStyle/>
                    <a:p>
                      <a:pPr algn="r" indent="0" marL="0">
                        <a:buNone/>
                      </a:pPr>
                      <a:r>
                        <a:rPr lang="en-US" sz="1000" b="1" dirty="0">
                          <a:solidFill>
                            <a:schemeClr val="tx1"/>
                          </a:solidFill>
                        </a:rPr>
                        <a:t>Air/Mcal</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933"/>
                          </a:solidFill>
                        </a:rPr>
                        <a:t>-0.05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8FD"/>
                    </a:solidFill>
                  </a:tcPr>
                </a:tc>
                <a:tc>
                  <a:txBody>
                    <a:bodyPr/>
                    <a:lstStyle/>
                    <a:p>
                      <a:pPr algn="ctr" indent="0" marL="0">
                        <a:buNone/>
                      </a:pPr>
                      <a:r>
                        <a:rPr lang="en-US" sz="1000" dirty="0">
                          <a:solidFill>
                            <a:srgbClr val="1F2933"/>
                          </a:solidFill>
                        </a:rPr>
                        <a:t>0.18</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E4DA"/>
                    </a:solidFill>
                  </a:tcPr>
                </a:tc>
                <a:tc>
                  <a:txBody>
                    <a:bodyPr/>
                    <a:lstStyle/>
                    <a:p>
                      <a:pPr algn="ctr" indent="0" marL="0">
                        <a:buNone/>
                      </a:pPr>
                      <a:r>
                        <a:rPr lang="en-US" sz="1000" dirty="0">
                          <a:solidFill>
                            <a:srgbClr val="1F2933"/>
                          </a:solidFill>
                        </a:rPr>
                        <a:t>0.30</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9D2C2"/>
                    </a:solidFill>
                  </a:tcPr>
                </a:tc>
                <a:tc>
                  <a:txBody>
                    <a:bodyPr/>
                    <a:lstStyle/>
                    <a:p>
                      <a:pPr algn="ctr" indent="0" marL="0">
                        <a:buNone/>
                      </a:pPr>
                      <a:r>
                        <a:rPr lang="en-US" sz="1000" dirty="0">
                          <a:solidFill>
                            <a:srgbClr val="1F2933"/>
                          </a:solidFill>
                        </a:rPr>
                        <a:t>-0.12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5EFFA"/>
                    </a:solidFill>
                  </a:tcPr>
                </a:tc>
                <a:tc>
                  <a:txBody>
                    <a:bodyPr/>
                    <a:lstStyle/>
                    <a:p>
                      <a:pPr algn="ctr" indent="0" marL="0">
                        <a:buNone/>
                      </a:pPr>
                      <a:r>
                        <a:rPr lang="en-US" sz="1000" dirty="0">
                          <a:solidFill>
                            <a:srgbClr val="1F2933"/>
                          </a:solidFill>
                        </a:rPr>
                        <a:t>-0.05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8FD"/>
                    </a:solidFill>
                  </a:tcPr>
                </a:tc>
                <a:tc>
                  <a:txBody>
                    <a:bodyPr/>
                    <a:lstStyle/>
                    <a:p>
                      <a:pPr algn="ctr" indent="0" marL="0">
                        <a:buNone/>
                      </a:pPr>
                      <a:r>
                        <a:rPr lang="en-US" sz="1000" dirty="0">
                          <a:solidFill>
                            <a:srgbClr val="1F2933"/>
                          </a:solidFill>
                        </a:rPr>
                        <a:t>-0.21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2E3F6"/>
                    </a:solidFill>
                  </a:tcPr>
                </a:tc>
                <a:tc>
                  <a:txBody>
                    <a:bodyPr/>
                    <a:lstStyle/>
                    <a:p>
                      <a:pPr algn="ctr" indent="0" marL="0">
                        <a:buNone/>
                      </a:pPr>
                      <a:r>
                        <a:rPr lang="en-US" sz="1000" dirty="0">
                          <a:solidFill>
                            <a:srgbClr val="1F2933"/>
                          </a:solidFill>
                        </a:rPr>
                        <a:t>-0.41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A8C8EE"/>
                    </a:solidFill>
                  </a:tcPr>
                </a:tc>
                <a:tc>
                  <a:txBody>
                    <a:bodyPr/>
                    <a:lstStyle/>
                    <a:p>
                      <a:pPr algn="ctr" indent="0" marL="0">
                        <a:buNone/>
                      </a:pPr>
                      <a:r>
                        <a:rPr lang="en-US" sz="1000" dirty="0">
                          <a:solidFill>
                            <a:srgbClr val="FFFFFF"/>
                          </a:solidFill>
                        </a:rPr>
                        <a:t>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B6834"/>
                    </a:solidFill>
                  </a:tcPr>
                </a:tc>
                <a:tc>
                  <a:txBody>
                    <a:bodyPr/>
                    <a:lstStyle/>
                    <a:p>
                      <a:pPr algn="ctr" indent="0" marL="0">
                        <a:buNone/>
                      </a:pPr>
                      <a:r>
                        <a:rPr lang="en-US" sz="1000" dirty="0">
                          <a:solidFill>
                            <a:srgbClr val="1F2933"/>
                          </a:solidFill>
                        </a:rPr>
                        <a:t>-0.12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5EFFA"/>
                    </a:solidFill>
                  </a:tcPr>
                </a:tc>
                <a:tc>
                  <a:txBody>
                    <a:bodyPr/>
                    <a:lstStyle/>
                    <a:p>
                      <a:pPr algn="ctr" indent="0" marL="0">
                        <a:buNone/>
                      </a:pPr>
                      <a:r>
                        <a:rPr lang="en-US" sz="1000" dirty="0">
                          <a:solidFill>
                            <a:srgbClr val="1F2933"/>
                          </a:solidFill>
                        </a:rPr>
                        <a:t>0.17</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5DC"/>
                    </a:solidFill>
                  </a:tcPr>
                </a:tc>
                <a:tc>
                  <a:txBody>
                    <a:bodyPr/>
                    <a:lstStyle/>
                    <a:p>
                      <a:pPr algn="ctr" indent="0" marL="0">
                        <a:buNone/>
                      </a:pPr>
                      <a:r>
                        <a:rPr lang="en-US" sz="1000" dirty="0">
                          <a:solidFill>
                            <a:srgbClr val="1F2933"/>
                          </a:solidFill>
                        </a:rPr>
                        <a:t>-0.12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5EFFA"/>
                    </a:solidFill>
                  </a:tcPr>
                </a:tc>
                <a:tc>
                  <a:txBody>
                    <a:bodyPr/>
                    <a:lstStyle/>
                    <a:p>
                      <a:pPr algn="ctr" indent="0" marL="0">
                        <a:buNone/>
                      </a:pPr>
                      <a:r>
                        <a:rPr lang="en-US" sz="1000" dirty="0">
                          <a:solidFill>
                            <a:srgbClr val="1F2933"/>
                          </a:solidFill>
                        </a:rPr>
                        <a:t>-0.33</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9D2F1"/>
                    </a:solidFill>
                  </a:tcPr>
                </a:tc>
                <a:tc>
                  <a:txBody>
                    <a:bodyPr/>
                    <a:lstStyle/>
                    <a:p>
                      <a:pPr algn="ctr" indent="0" marL="0">
                        <a:buNone/>
                      </a:pPr>
                      <a:r>
                        <a:rPr lang="en-US" sz="1000" dirty="0">
                          <a:solidFill>
                            <a:srgbClr val="1F2933"/>
                          </a:solidFill>
                        </a:rPr>
                        <a:t>0.34</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8CCBA"/>
                    </a:solidFill>
                  </a:tcPr>
                </a:tc>
                <a:tc>
                  <a:txBody>
                    <a:bodyPr/>
                    <a:lstStyle/>
                    <a:p>
                      <a:pPr algn="ctr" indent="0" marL="0">
                        <a:buNone/>
                      </a:pPr>
                      <a:r>
                        <a:rPr lang="en-US" sz="1000" dirty="0">
                          <a:solidFill>
                            <a:srgbClr val="1F2933"/>
                          </a:solidFill>
                        </a:rPr>
                        <a:t>0.18</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E4DA"/>
                    </a:solidFill>
                  </a:tcPr>
                </a:tc>
              </a:tr>
              <a:tr h="283464">
                <a:tc>
                  <a:txBody>
                    <a:bodyPr/>
                    <a:lstStyle/>
                    <a:p>
                      <a:pPr algn="r" indent="0" marL="0">
                        <a:buNone/>
                      </a:pPr>
                      <a:r>
                        <a:rPr lang="en-US" sz="1000" b="1" dirty="0">
                          <a:solidFill>
                            <a:schemeClr val="tx1"/>
                          </a:solidFill>
                        </a:rPr>
                        <a:t>AFR</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933"/>
                          </a:solidFill>
                        </a:rPr>
                        <a:t>-0.06</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7FD"/>
                    </a:solidFill>
                  </a:tcPr>
                </a:tc>
                <a:tc>
                  <a:txBody>
                    <a:bodyPr/>
                    <a:lstStyle/>
                    <a:p>
                      <a:pPr algn="ctr" indent="0" marL="0">
                        <a:buNone/>
                      </a:pPr>
                      <a:r>
                        <a:rPr lang="en-US" sz="1000" dirty="0">
                          <a:solidFill>
                            <a:srgbClr val="1F2933"/>
                          </a:solidFill>
                        </a:rPr>
                        <a:t>-0.02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FCFE"/>
                    </a:solidFill>
                  </a:tcPr>
                </a:tc>
                <a:tc>
                  <a:txBody>
                    <a:bodyPr/>
                    <a:lstStyle/>
                    <a:p>
                      <a:pPr algn="ctr" indent="0" marL="0">
                        <a:buNone/>
                      </a:pPr>
                      <a:r>
                        <a:rPr lang="en-US" sz="1000" dirty="0">
                          <a:solidFill>
                            <a:srgbClr val="1F2933"/>
                          </a:solidFill>
                        </a:rPr>
                        <a:t>0.02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CFB"/>
                    </a:solidFill>
                  </a:tcPr>
                </a:tc>
                <a:tc>
                  <a:txBody>
                    <a:bodyPr/>
                    <a:lstStyle/>
                    <a:p>
                      <a:pPr algn="ctr" indent="0" marL="0">
                        <a:buNone/>
                      </a:pPr>
                      <a:r>
                        <a:rPr lang="en-US" sz="1000" dirty="0">
                          <a:solidFill>
                            <a:srgbClr val="1F2933"/>
                          </a:solidFill>
                        </a:rPr>
                        <a:t>-0.23</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EE0F6"/>
                    </a:solidFill>
                  </a:tcPr>
                </a:tc>
                <a:tc>
                  <a:txBody>
                    <a:bodyPr/>
                    <a:lstStyle/>
                    <a:p>
                      <a:pPr algn="ctr" indent="0" marL="0">
                        <a:buNone/>
                      </a:pPr>
                      <a:r>
                        <a:rPr lang="en-US" sz="1000" dirty="0">
                          <a:solidFill>
                            <a:srgbClr val="1F2933"/>
                          </a:solidFill>
                        </a:rPr>
                        <a:t>-0.19</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7E5F7"/>
                    </a:solidFill>
                  </a:tcPr>
                </a:tc>
                <a:tc>
                  <a:txBody>
                    <a:bodyPr/>
                    <a:lstStyle/>
                    <a:p>
                      <a:pPr algn="ctr" indent="0" marL="0">
                        <a:buNone/>
                      </a:pPr>
                      <a:r>
                        <a:rPr lang="en-US" sz="1000" dirty="0">
                          <a:solidFill>
                            <a:srgbClr val="1F2933"/>
                          </a:solidFill>
                        </a:rPr>
                        <a:t>-0.21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2E3F6"/>
                    </a:solidFill>
                  </a:tcPr>
                </a:tc>
                <a:tc>
                  <a:txBody>
                    <a:bodyPr/>
                    <a:lstStyle/>
                    <a:p>
                      <a:pPr algn="ctr" indent="0" marL="0">
                        <a:buNone/>
                      </a:pPr>
                      <a:r>
                        <a:rPr lang="en-US" sz="1000" dirty="0">
                          <a:solidFill>
                            <a:srgbClr val="FFFFFF"/>
                          </a:solidFill>
                        </a:rPr>
                        <a:t>0.95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C703E"/>
                    </a:solidFill>
                  </a:tcPr>
                </a:tc>
                <a:tc>
                  <a:txBody>
                    <a:bodyPr/>
                    <a:lstStyle/>
                    <a:p>
                      <a:pPr algn="ctr" indent="0" marL="0">
                        <a:buNone/>
                      </a:pPr>
                      <a:r>
                        <a:rPr lang="en-US" sz="1000" dirty="0">
                          <a:solidFill>
                            <a:srgbClr val="1F2933"/>
                          </a:solidFill>
                        </a:rPr>
                        <a:t>-0.12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5EFFA"/>
                    </a:solidFill>
                  </a:tcPr>
                </a:tc>
                <a:tc>
                  <a:txBody>
                    <a:bodyPr/>
                    <a:lstStyle/>
                    <a:p>
                      <a:pPr algn="ctr" indent="0" marL="0">
                        <a:buNone/>
                      </a:pPr>
                      <a:r>
                        <a:rPr lang="en-US" sz="1000" dirty="0">
                          <a:solidFill>
                            <a:srgbClr val="FFFFFF"/>
                          </a:solidFill>
                        </a:rPr>
                        <a:t>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B6834"/>
                    </a:solidFill>
                  </a:tcPr>
                </a:tc>
                <a:tc>
                  <a:txBody>
                    <a:bodyPr/>
                    <a:lstStyle/>
                    <a:p>
                      <a:pPr algn="ctr" indent="0" marL="0">
                        <a:buNone/>
                      </a:pPr>
                      <a:r>
                        <a:rPr lang="en-US" sz="1000" dirty="0">
                          <a:solidFill>
                            <a:srgbClr val="1F2933"/>
                          </a:solidFill>
                        </a:rPr>
                        <a:t>0.05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EF7F5"/>
                    </a:solidFill>
                  </a:tcPr>
                </a:tc>
                <a:tc>
                  <a:txBody>
                    <a:bodyPr/>
                    <a:lstStyle/>
                    <a:p>
                      <a:pPr algn="ctr" indent="0" marL="0">
                        <a:buNone/>
                      </a:pPr>
                      <a:r>
                        <a:rPr lang="en-US" sz="1000" dirty="0">
                          <a:solidFill>
                            <a:srgbClr val="1F2933"/>
                          </a:solidFill>
                        </a:rPr>
                        <a:t>0.22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DED2"/>
                    </a:solidFill>
                  </a:tcPr>
                </a:tc>
                <a:tc>
                  <a:txBody>
                    <a:bodyPr/>
                    <a:lstStyle/>
                    <a:p>
                      <a:pPr algn="ctr" indent="0" marL="0">
                        <a:buNone/>
                      </a:pPr>
                      <a:r>
                        <a:rPr lang="en-US" sz="1000" dirty="0">
                          <a:solidFill>
                            <a:srgbClr val="1F2933"/>
                          </a:solidFill>
                        </a:rPr>
                        <a:t>0.10</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F0EB"/>
                    </a:solidFill>
                  </a:tcPr>
                </a:tc>
                <a:tc>
                  <a:txBody>
                    <a:bodyPr/>
                    <a:lstStyle/>
                    <a:p>
                      <a:pPr algn="ctr" indent="0" marL="0">
                        <a:buNone/>
                      </a:pPr>
                      <a:r>
                        <a:rPr lang="en-US" sz="1000" dirty="0">
                          <a:solidFill>
                            <a:srgbClr val="1F2933"/>
                          </a:solidFill>
                        </a:rPr>
                        <a:t>0.11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EE9"/>
                    </a:solidFill>
                  </a:tcPr>
                </a:tc>
                <a:tc>
                  <a:txBody>
                    <a:bodyPr/>
                    <a:lstStyle/>
                    <a:p>
                      <a:pPr algn="ctr" indent="0" marL="0">
                        <a:buNone/>
                      </a:pPr>
                      <a:r>
                        <a:rPr lang="en-US" sz="1000" dirty="0">
                          <a:solidFill>
                            <a:srgbClr val="1F2933"/>
                          </a:solidFill>
                        </a:rPr>
                        <a:t>-0.19</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7E5F7"/>
                    </a:solidFill>
                  </a:tcPr>
                </a:tc>
              </a:tr>
              <a:tr h="283464">
                <a:tc>
                  <a:txBody>
                    <a:bodyPr/>
                    <a:lstStyle/>
                    <a:p>
                      <a:pPr algn="r" indent="0" marL="0">
                        <a:buNone/>
                      </a:pPr>
                      <a:r>
                        <a:rPr lang="en-US" sz="1000" b="1" dirty="0">
                          <a:solidFill>
                            <a:schemeClr val="tx1"/>
                          </a:solidFill>
                        </a:rPr>
                        <a:t>MB3 bottom</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933"/>
                          </a:solidFill>
                        </a:rPr>
                        <a:t>0.26</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AD8CA"/>
                    </a:solidFill>
                  </a:tcPr>
                </a:tc>
                <a:tc>
                  <a:txBody>
                    <a:bodyPr/>
                    <a:lstStyle/>
                    <a:p>
                      <a:pPr algn="ctr" indent="0" marL="0">
                        <a:buNone/>
                      </a:pPr>
                      <a:r>
                        <a:rPr lang="en-US" sz="1000" dirty="0">
                          <a:solidFill>
                            <a:srgbClr val="1F2933"/>
                          </a:solidFill>
                        </a:rPr>
                        <a:t>-0.13</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3EDFA"/>
                    </a:solidFill>
                  </a:tcPr>
                </a:tc>
                <a:tc>
                  <a:txBody>
                    <a:bodyPr/>
                    <a:lstStyle/>
                    <a:p>
                      <a:pPr algn="ctr" indent="0" marL="0">
                        <a:buNone/>
                      </a:pPr>
                      <a:r>
                        <a:rPr lang="en-US" sz="1000" dirty="0">
                          <a:solidFill>
                            <a:srgbClr val="1F2933"/>
                          </a:solidFill>
                        </a:rPr>
                        <a:t>0.35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8CAB8"/>
                    </a:solidFill>
                  </a:tcPr>
                </a:tc>
                <a:tc>
                  <a:txBody>
                    <a:bodyPr/>
                    <a:lstStyle/>
                    <a:p>
                      <a:pPr algn="ctr" indent="0" marL="0">
                        <a:buNone/>
                      </a:pPr>
                      <a:r>
                        <a:rPr lang="en-US" sz="1000" dirty="0">
                          <a:solidFill>
                            <a:srgbClr val="1F2933"/>
                          </a:solidFill>
                        </a:rPr>
                        <a:t>0.15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8E1"/>
                    </a:solidFill>
                  </a:tcPr>
                </a:tc>
                <a:tc>
                  <a:txBody>
                    <a:bodyPr/>
                    <a:lstStyle/>
                    <a:p>
                      <a:pPr algn="ctr" indent="0" marL="0">
                        <a:buNone/>
                      </a:pPr>
                      <a:r>
                        <a:rPr lang="en-US" sz="1000" dirty="0">
                          <a:solidFill>
                            <a:srgbClr val="1F2933"/>
                          </a:solidFill>
                        </a:rPr>
                        <a:t>0.24</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ADBCE"/>
                    </a:solidFill>
                  </a:tcPr>
                </a:tc>
                <a:tc>
                  <a:txBody>
                    <a:bodyPr/>
                    <a:lstStyle/>
                    <a:p>
                      <a:pPr algn="ctr" indent="0" marL="0">
                        <a:buNone/>
                      </a:pPr>
                      <a:r>
                        <a:rPr lang="en-US" sz="1000" dirty="0">
                          <a:solidFill>
                            <a:srgbClr val="1F2933"/>
                          </a:solidFill>
                        </a:rPr>
                        <a:t>-0.12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5EFFA"/>
                    </a:solidFill>
                  </a:tcPr>
                </a:tc>
                <a:tc>
                  <a:txBody>
                    <a:bodyPr/>
                    <a:lstStyle/>
                    <a:p>
                      <a:pPr algn="ctr" indent="0" marL="0">
                        <a:buNone/>
                      </a:pPr>
                      <a:r>
                        <a:rPr lang="en-US" sz="1000" dirty="0">
                          <a:solidFill>
                            <a:srgbClr val="1F2933"/>
                          </a:solidFill>
                        </a:rPr>
                        <a:t>0.00</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933"/>
                          </a:solidFill>
                        </a:rPr>
                        <a:t>0.17</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5DC"/>
                    </a:solidFill>
                  </a:tcPr>
                </a:tc>
                <a:tc>
                  <a:txBody>
                    <a:bodyPr/>
                    <a:lstStyle/>
                    <a:p>
                      <a:pPr algn="ctr" indent="0" marL="0">
                        <a:buNone/>
                      </a:pPr>
                      <a:r>
                        <a:rPr lang="en-US" sz="1000" dirty="0">
                          <a:solidFill>
                            <a:srgbClr val="1F2933"/>
                          </a:solidFill>
                        </a:rPr>
                        <a:t>0.05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EF7F5"/>
                    </a:solidFill>
                  </a:tcPr>
                </a:tc>
                <a:tc>
                  <a:txBody>
                    <a:bodyPr/>
                    <a:lstStyle/>
                    <a:p>
                      <a:pPr algn="ctr" indent="0" marL="0">
                        <a:buNone/>
                      </a:pPr>
                      <a:r>
                        <a:rPr lang="en-US" sz="1000" dirty="0">
                          <a:solidFill>
                            <a:srgbClr val="FFFFFF"/>
                          </a:solidFill>
                        </a:rPr>
                        <a:t>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B6834"/>
                    </a:solidFill>
                  </a:tcPr>
                </a:tc>
                <a:tc>
                  <a:txBody>
                    <a:bodyPr/>
                    <a:lstStyle/>
                    <a:p>
                      <a:pPr algn="ctr" indent="0" marL="0">
                        <a:buNone/>
                      </a:pPr>
                      <a:r>
                        <a:rPr lang="en-US" sz="1000" dirty="0">
                          <a:solidFill>
                            <a:srgbClr val="1F2933"/>
                          </a:solidFill>
                        </a:rPr>
                        <a:t>0.13</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BE5"/>
                    </a:solidFill>
                  </a:tcPr>
                </a:tc>
                <a:tc>
                  <a:txBody>
                    <a:bodyPr/>
                    <a:lstStyle/>
                    <a:p>
                      <a:pPr algn="ctr" indent="0" marL="0">
                        <a:buNone/>
                      </a:pPr>
                      <a:r>
                        <a:rPr lang="en-US" sz="1000" dirty="0">
                          <a:solidFill>
                            <a:srgbClr val="1F2933"/>
                          </a:solidFill>
                        </a:rPr>
                        <a:t>-0.03</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9FBFE"/>
                    </a:solidFill>
                  </a:tcPr>
                </a:tc>
                <a:tc>
                  <a:txBody>
                    <a:bodyPr/>
                    <a:lstStyle/>
                    <a:p>
                      <a:pPr algn="ctr" indent="0" marL="0">
                        <a:buNone/>
                      </a:pPr>
                      <a:r>
                        <a:rPr lang="en-US" sz="1000" dirty="0">
                          <a:solidFill>
                            <a:srgbClr val="1F2933"/>
                          </a:solidFill>
                        </a:rPr>
                        <a:t>0.12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DE7"/>
                    </a:solidFill>
                  </a:tcPr>
                </a:tc>
                <a:tc>
                  <a:txBody>
                    <a:bodyPr/>
                    <a:lstStyle/>
                    <a:p>
                      <a:pPr algn="ctr" indent="0" marL="0">
                        <a:buNone/>
                      </a:pPr>
                      <a:r>
                        <a:rPr lang="en-US" sz="1000" dirty="0">
                          <a:solidFill>
                            <a:srgbClr val="1F2933"/>
                          </a:solidFill>
                        </a:rPr>
                        <a:t>0.12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DE7"/>
                    </a:solidFill>
                  </a:tcPr>
                </a:tc>
              </a:tr>
              <a:tr h="283464">
                <a:tc>
                  <a:txBody>
                    <a:bodyPr/>
                    <a:lstStyle/>
                    <a:p>
                      <a:pPr algn="r" indent="0" marL="0">
                        <a:buNone/>
                      </a:pPr>
                      <a:r>
                        <a:rPr lang="en-US" sz="1000" b="1" dirty="0">
                          <a:solidFill>
                            <a:schemeClr val="tx1"/>
                          </a:solidFill>
                        </a:rPr>
                        <a:t>Optical crown</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933"/>
                          </a:solidFill>
                        </a:rPr>
                        <a:t>0.21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DFD4"/>
                    </a:solidFill>
                  </a:tcPr>
                </a:tc>
                <a:tc>
                  <a:txBody>
                    <a:bodyPr/>
                    <a:lstStyle/>
                    <a:p>
                      <a:pPr algn="ctr" indent="0" marL="0">
                        <a:buNone/>
                      </a:pPr>
                      <a:r>
                        <a:rPr lang="en-US" sz="1000" dirty="0">
                          <a:solidFill>
                            <a:srgbClr val="1F2933"/>
                          </a:solidFill>
                        </a:rPr>
                        <a:t>-0.30</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D7F3"/>
                    </a:solidFill>
                  </a:tcPr>
                </a:tc>
                <a:tc>
                  <a:txBody>
                    <a:bodyPr/>
                    <a:lstStyle/>
                    <a:p>
                      <a:pPr algn="ctr" indent="0" marL="0">
                        <a:buNone/>
                      </a:pPr>
                      <a:r>
                        <a:rPr lang="en-US" sz="1000" dirty="0">
                          <a:solidFill>
                            <a:srgbClr val="1F2933"/>
                          </a:solidFill>
                        </a:rPr>
                        <a:t>-0.25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ADDF5"/>
                    </a:solidFill>
                  </a:tcPr>
                </a:tc>
                <a:tc>
                  <a:txBody>
                    <a:bodyPr/>
                    <a:lstStyle/>
                    <a:p>
                      <a:pPr algn="ctr" indent="0" marL="0">
                        <a:buNone/>
                      </a:pPr>
                      <a:r>
                        <a:rPr lang="en-US" sz="1000" dirty="0">
                          <a:solidFill>
                            <a:srgbClr val="1F2933"/>
                          </a:solidFill>
                        </a:rPr>
                        <a:t>0.29</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9D3C4"/>
                    </a:solidFill>
                  </a:tcPr>
                </a:tc>
                <a:tc>
                  <a:txBody>
                    <a:bodyPr/>
                    <a:lstStyle/>
                    <a:p>
                      <a:pPr algn="ctr" indent="0" marL="0">
                        <a:buNone/>
                      </a:pPr>
                      <a:r>
                        <a:rPr lang="en-US" sz="1000" dirty="0">
                          <a:solidFill>
                            <a:srgbClr val="1F2933"/>
                          </a:solidFill>
                        </a:rPr>
                        <a:t>0.18</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E4DA"/>
                    </a:solidFill>
                  </a:tcPr>
                </a:tc>
                <a:tc>
                  <a:txBody>
                    <a:bodyPr/>
                    <a:lstStyle/>
                    <a:p>
                      <a:pPr algn="ctr" indent="0" marL="0">
                        <a:buNone/>
                      </a:pPr>
                      <a:r>
                        <a:rPr lang="en-US" sz="1000" dirty="0">
                          <a:solidFill>
                            <a:srgbClr val="1F2933"/>
                          </a:solidFill>
                        </a:rPr>
                        <a:t>0.37</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8C7B4"/>
                    </a:solidFill>
                  </a:tcPr>
                </a:tc>
                <a:tc>
                  <a:txBody>
                    <a:bodyPr/>
                    <a:lstStyle/>
                    <a:p>
                      <a:pPr algn="ctr" indent="0" marL="0">
                        <a:buNone/>
                      </a:pPr>
                      <a:r>
                        <a:rPr lang="en-US" sz="1000" dirty="0">
                          <a:solidFill>
                            <a:srgbClr val="1F2933"/>
                          </a:solidFill>
                        </a:rPr>
                        <a:t>0.24</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ADBCE"/>
                    </a:solidFill>
                  </a:tcPr>
                </a:tc>
                <a:tc>
                  <a:txBody>
                    <a:bodyPr/>
                    <a:lstStyle/>
                    <a:p>
                      <a:pPr algn="ctr" indent="0" marL="0">
                        <a:buNone/>
                      </a:pPr>
                      <a:r>
                        <a:rPr lang="en-US" sz="1000" dirty="0">
                          <a:solidFill>
                            <a:srgbClr val="1F2933"/>
                          </a:solidFill>
                        </a:rPr>
                        <a:t>-0.12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5EFFA"/>
                    </a:solidFill>
                  </a:tcPr>
                </a:tc>
                <a:tc>
                  <a:txBody>
                    <a:bodyPr/>
                    <a:lstStyle/>
                    <a:p>
                      <a:pPr algn="ctr" indent="0" marL="0">
                        <a:buNone/>
                      </a:pPr>
                      <a:r>
                        <a:rPr lang="en-US" sz="1000" dirty="0">
                          <a:solidFill>
                            <a:srgbClr val="1F2933"/>
                          </a:solidFill>
                        </a:rPr>
                        <a:t>0.22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DED2"/>
                    </a:solidFill>
                  </a:tcPr>
                </a:tc>
                <a:tc>
                  <a:txBody>
                    <a:bodyPr/>
                    <a:lstStyle/>
                    <a:p>
                      <a:pPr algn="ctr" indent="0" marL="0">
                        <a:buNone/>
                      </a:pPr>
                      <a:r>
                        <a:rPr lang="en-US" sz="1000" dirty="0">
                          <a:solidFill>
                            <a:srgbClr val="1F2933"/>
                          </a:solidFill>
                        </a:rPr>
                        <a:t>0.13</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BE5"/>
                    </a:solidFill>
                  </a:tcPr>
                </a:tc>
                <a:tc>
                  <a:txBody>
                    <a:bodyPr/>
                    <a:lstStyle/>
                    <a:p>
                      <a:pPr algn="ctr" indent="0" marL="0">
                        <a:buNone/>
                      </a:pPr>
                      <a:r>
                        <a:rPr lang="en-US" sz="1000" dirty="0">
                          <a:solidFill>
                            <a:srgbClr val="FFFFFF"/>
                          </a:solidFill>
                        </a:rPr>
                        <a:t>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B6834"/>
                    </a:solidFill>
                  </a:tcPr>
                </a:tc>
                <a:tc>
                  <a:txBody>
                    <a:bodyPr/>
                    <a:lstStyle/>
                    <a:p>
                      <a:pPr algn="ctr" indent="0" marL="0">
                        <a:buNone/>
                      </a:pPr>
                      <a:r>
                        <a:rPr lang="en-US" sz="1000" dirty="0">
                          <a:solidFill>
                            <a:srgbClr val="FFFFFF"/>
                          </a:solidFill>
                        </a:rPr>
                        <a:t>0.68</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19875"/>
                    </a:solidFill>
                  </a:tcPr>
                </a:tc>
                <a:tc>
                  <a:txBody>
                    <a:bodyPr/>
                    <a:lstStyle/>
                    <a:p>
                      <a:pPr algn="ctr" indent="0" marL="0">
                        <a:buNone/>
                      </a:pPr>
                      <a:r>
                        <a:rPr lang="en-US" sz="1000" dirty="0">
                          <a:solidFill>
                            <a:srgbClr val="1F2933"/>
                          </a:solidFill>
                        </a:rPr>
                        <a:t>-0.04</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6FAFD"/>
                    </a:solidFill>
                  </a:tcPr>
                </a:tc>
                <a:tc>
                  <a:txBody>
                    <a:bodyPr/>
                    <a:lstStyle/>
                    <a:p>
                      <a:pPr algn="ctr" indent="0" marL="0">
                        <a:buNone/>
                      </a:pPr>
                      <a:r>
                        <a:rPr lang="en-US" sz="1000" dirty="0">
                          <a:solidFill>
                            <a:srgbClr val="1F2933"/>
                          </a:solidFill>
                        </a:rPr>
                        <a:t>-0.01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FEFF"/>
                    </a:solidFill>
                  </a:tcPr>
                </a:tc>
              </a:tr>
              <a:tr h="283464">
                <a:tc>
                  <a:txBody>
                    <a:bodyPr/>
                    <a:lstStyle/>
                    <a:p>
                      <a:pPr algn="r" indent="0" marL="0">
                        <a:buNone/>
                      </a:pPr>
                      <a:r>
                        <a:rPr lang="en-US" sz="1000" b="1" dirty="0">
                          <a:solidFill>
                            <a:schemeClr val="tx1"/>
                          </a:solidFill>
                        </a:rPr>
                        <a:t>Crown TC</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933"/>
                          </a:solidFill>
                        </a:rPr>
                        <a:t>0.19</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E2D8"/>
                    </a:solidFill>
                  </a:tcPr>
                </a:tc>
                <a:tc>
                  <a:txBody>
                    <a:bodyPr/>
                    <a:lstStyle/>
                    <a:p>
                      <a:pPr algn="ctr" indent="0" marL="0">
                        <a:buNone/>
                      </a:pPr>
                      <a:r>
                        <a:rPr lang="en-US" sz="1000" dirty="0">
                          <a:solidFill>
                            <a:srgbClr val="1F2933"/>
                          </a:solidFill>
                        </a:rPr>
                        <a:t>-0.35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D0F1"/>
                    </a:solidFill>
                  </a:tcPr>
                </a:tc>
                <a:tc>
                  <a:txBody>
                    <a:bodyPr/>
                    <a:lstStyle/>
                    <a:p>
                      <a:pPr algn="ctr" indent="0" marL="0">
                        <a:buNone/>
                      </a:pPr>
                      <a:r>
                        <a:rPr lang="en-US" sz="1000" dirty="0">
                          <a:solidFill>
                            <a:srgbClr val="1F2933"/>
                          </a:solidFill>
                        </a:rPr>
                        <a:t>-0.50</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95BCEB"/>
                    </a:solidFill>
                  </a:tcPr>
                </a:tc>
                <a:tc>
                  <a:txBody>
                    <a:bodyPr/>
                    <a:lstStyle/>
                    <a:p>
                      <a:pPr algn="ctr" indent="0" marL="0">
                        <a:buNone/>
                      </a:pPr>
                      <a:r>
                        <a:rPr lang="en-US" sz="1000" dirty="0">
                          <a:solidFill>
                            <a:srgbClr val="1F2933"/>
                          </a:solidFill>
                        </a:rPr>
                        <a:t>0.37</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8C7B4"/>
                    </a:solidFill>
                  </a:tcPr>
                </a:tc>
                <a:tc>
                  <a:txBody>
                    <a:bodyPr/>
                    <a:lstStyle/>
                    <a:p>
                      <a:pPr algn="ctr" indent="0" marL="0">
                        <a:buNone/>
                      </a:pPr>
                      <a:r>
                        <a:rPr lang="en-US" sz="1000" dirty="0">
                          <a:solidFill>
                            <a:srgbClr val="1F2933"/>
                          </a:solidFill>
                        </a:rPr>
                        <a:t>0.22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DED2"/>
                    </a:solidFill>
                  </a:tcPr>
                </a:tc>
                <a:tc>
                  <a:txBody>
                    <a:bodyPr/>
                    <a:lstStyle/>
                    <a:p>
                      <a:pPr algn="ctr" indent="0" marL="0">
                        <a:buNone/>
                      </a:pPr>
                      <a:r>
                        <a:rPr lang="en-US" sz="1000" dirty="0">
                          <a:solidFill>
                            <a:srgbClr val="1F2933"/>
                          </a:solidFill>
                        </a:rPr>
                        <a:t>0.50</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B49A"/>
                    </a:solidFill>
                  </a:tcPr>
                </a:tc>
                <a:tc>
                  <a:txBody>
                    <a:bodyPr/>
                    <a:lstStyle/>
                    <a:p>
                      <a:pPr algn="ctr" indent="0" marL="0">
                        <a:buNone/>
                      </a:pPr>
                      <a:r>
                        <a:rPr lang="en-US" sz="1000" dirty="0">
                          <a:solidFill>
                            <a:srgbClr val="1F2933"/>
                          </a:solidFill>
                        </a:rPr>
                        <a:t>0.19</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E2D8"/>
                    </a:solidFill>
                  </a:tcPr>
                </a:tc>
                <a:tc>
                  <a:txBody>
                    <a:bodyPr/>
                    <a:lstStyle/>
                    <a:p>
                      <a:pPr algn="ctr" indent="0" marL="0">
                        <a:buNone/>
                      </a:pPr>
                      <a:r>
                        <a:rPr lang="en-US" sz="1000" dirty="0">
                          <a:solidFill>
                            <a:srgbClr val="1F2933"/>
                          </a:solidFill>
                        </a:rPr>
                        <a:t>-0.33</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9D2F1"/>
                    </a:solidFill>
                  </a:tcPr>
                </a:tc>
                <a:tc>
                  <a:txBody>
                    <a:bodyPr/>
                    <a:lstStyle/>
                    <a:p>
                      <a:pPr algn="ctr" indent="0" marL="0">
                        <a:buNone/>
                      </a:pPr>
                      <a:r>
                        <a:rPr lang="en-US" sz="1000" dirty="0">
                          <a:solidFill>
                            <a:srgbClr val="1F2933"/>
                          </a:solidFill>
                        </a:rPr>
                        <a:t>0.10</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F0EB"/>
                    </a:solidFill>
                  </a:tcPr>
                </a:tc>
                <a:tc>
                  <a:txBody>
                    <a:bodyPr/>
                    <a:lstStyle/>
                    <a:p>
                      <a:pPr algn="ctr" indent="0" marL="0">
                        <a:buNone/>
                      </a:pPr>
                      <a:r>
                        <a:rPr lang="en-US" sz="1000" dirty="0">
                          <a:solidFill>
                            <a:srgbClr val="1F2933"/>
                          </a:solidFill>
                        </a:rPr>
                        <a:t>-0.03</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9FBFE"/>
                    </a:solidFill>
                  </a:tcPr>
                </a:tc>
                <a:tc>
                  <a:txBody>
                    <a:bodyPr/>
                    <a:lstStyle/>
                    <a:p>
                      <a:pPr algn="ctr" indent="0" marL="0">
                        <a:buNone/>
                      </a:pPr>
                      <a:r>
                        <a:rPr lang="en-US" sz="1000" dirty="0">
                          <a:solidFill>
                            <a:srgbClr val="FFFFFF"/>
                          </a:solidFill>
                        </a:rPr>
                        <a:t>0.68</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19875"/>
                    </a:solidFill>
                  </a:tcPr>
                </a:tc>
                <a:tc>
                  <a:txBody>
                    <a:bodyPr/>
                    <a:lstStyle/>
                    <a:p>
                      <a:pPr algn="ctr" indent="0" marL="0">
                        <a:buNone/>
                      </a:pPr>
                      <a:r>
                        <a:rPr lang="en-US" sz="1000" dirty="0">
                          <a:solidFill>
                            <a:srgbClr val="FFFFFF"/>
                          </a:solidFill>
                        </a:rPr>
                        <a:t>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B6834"/>
                    </a:solidFill>
                  </a:tcPr>
                </a:tc>
                <a:tc>
                  <a:txBody>
                    <a:bodyPr/>
                    <a:lstStyle/>
                    <a:p>
                      <a:pPr algn="ctr" indent="0" marL="0">
                        <a:buNone/>
                      </a:pPr>
                      <a:r>
                        <a:rPr lang="en-US" sz="1000" dirty="0">
                          <a:solidFill>
                            <a:srgbClr val="1F2933"/>
                          </a:solidFill>
                        </a:rPr>
                        <a:t>-0.27</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5DBF4"/>
                    </a:solidFill>
                  </a:tcPr>
                </a:tc>
                <a:tc>
                  <a:txBody>
                    <a:bodyPr/>
                    <a:lstStyle/>
                    <a:p>
                      <a:pPr algn="ctr" indent="0" marL="0">
                        <a:buNone/>
                      </a:pPr>
                      <a:r>
                        <a:rPr lang="en-US" sz="1000" dirty="0">
                          <a:solidFill>
                            <a:srgbClr val="1F2933"/>
                          </a:solidFill>
                        </a:rPr>
                        <a:t>-0.07</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0F6FC"/>
                    </a:solidFill>
                  </a:tcPr>
                </a:tc>
              </a:tr>
              <a:tr h="283464">
                <a:tc>
                  <a:txBody>
                    <a:bodyPr/>
                    <a:lstStyle/>
                    <a:p>
                      <a:pPr algn="r" indent="0" marL="0">
                        <a:buNone/>
                      </a:pPr>
                      <a:r>
                        <a:rPr lang="en-US" sz="1000" b="1" dirty="0">
                          <a:solidFill>
                            <a:schemeClr val="tx1"/>
                          </a:solidFill>
                        </a:rPr>
                        <a:t>Cullet %</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933"/>
                          </a:solidFill>
                        </a:rPr>
                        <a:t>0.02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CFB"/>
                    </a:solidFill>
                  </a:tcPr>
                </a:tc>
                <a:tc>
                  <a:txBody>
                    <a:bodyPr/>
                    <a:lstStyle/>
                    <a:p>
                      <a:pPr algn="ctr" indent="0" marL="0">
                        <a:buNone/>
                      </a:pPr>
                      <a:r>
                        <a:rPr lang="en-US" sz="1000" dirty="0">
                          <a:solidFill>
                            <a:srgbClr val="1F2933"/>
                          </a:solidFill>
                        </a:rPr>
                        <a:t>0.09</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F1ED"/>
                    </a:solidFill>
                  </a:tcPr>
                </a:tc>
                <a:tc>
                  <a:txBody>
                    <a:bodyPr/>
                    <a:lstStyle/>
                    <a:p>
                      <a:pPr algn="ctr" indent="0" marL="0">
                        <a:buNone/>
                      </a:pPr>
                      <a:r>
                        <a:rPr lang="en-US" sz="1000" dirty="0">
                          <a:solidFill>
                            <a:srgbClr val="1F2933"/>
                          </a:solidFill>
                        </a:rPr>
                        <a:t>0.36</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8C9B6"/>
                    </a:solidFill>
                  </a:tcPr>
                </a:tc>
                <a:tc>
                  <a:txBody>
                    <a:bodyPr/>
                    <a:lstStyle/>
                    <a:p>
                      <a:pPr algn="ctr" indent="0" marL="0">
                        <a:buNone/>
                      </a:pPr>
                      <a:r>
                        <a:rPr lang="en-US" sz="1000" dirty="0">
                          <a:solidFill>
                            <a:srgbClr val="1F2933"/>
                          </a:solidFill>
                        </a:rPr>
                        <a:t>-0.15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BF9"/>
                    </a:solidFill>
                  </a:tcPr>
                </a:tc>
                <a:tc>
                  <a:txBody>
                    <a:bodyPr/>
                    <a:lstStyle/>
                    <a:p>
                      <a:pPr algn="ctr" indent="0" marL="0">
                        <a:buNone/>
                      </a:pPr>
                      <a:r>
                        <a:rPr lang="en-US" sz="1000" dirty="0">
                          <a:solidFill>
                            <a:srgbClr val="1F2933"/>
                          </a:solidFill>
                        </a:rPr>
                        <a:t>-0.02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FCFE"/>
                    </a:solidFill>
                  </a:tcPr>
                </a:tc>
                <a:tc>
                  <a:txBody>
                    <a:bodyPr/>
                    <a:lstStyle/>
                    <a:p>
                      <a:pPr algn="ctr" indent="0" marL="0">
                        <a:buNone/>
                      </a:pPr>
                      <a:r>
                        <a:rPr lang="en-US" sz="1000" dirty="0">
                          <a:solidFill>
                            <a:srgbClr val="1F2933"/>
                          </a:solidFill>
                        </a:rPr>
                        <a:t>-0.37</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0CDF0"/>
                    </a:solidFill>
                  </a:tcPr>
                </a:tc>
                <a:tc>
                  <a:txBody>
                    <a:bodyPr/>
                    <a:lstStyle/>
                    <a:p>
                      <a:pPr algn="ctr" indent="0" marL="0">
                        <a:buNone/>
                      </a:pPr>
                      <a:r>
                        <a:rPr lang="en-US" sz="1000" dirty="0">
                          <a:solidFill>
                            <a:srgbClr val="1F2933"/>
                          </a:solidFill>
                        </a:rPr>
                        <a:t>0.00</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933"/>
                          </a:solidFill>
                        </a:rPr>
                        <a:t>0.34</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8CCBA"/>
                    </a:solidFill>
                  </a:tcPr>
                </a:tc>
                <a:tc>
                  <a:txBody>
                    <a:bodyPr/>
                    <a:lstStyle/>
                    <a:p>
                      <a:pPr algn="ctr" indent="0" marL="0">
                        <a:buNone/>
                      </a:pPr>
                      <a:r>
                        <a:rPr lang="en-US" sz="1000" dirty="0">
                          <a:solidFill>
                            <a:srgbClr val="1F2933"/>
                          </a:solidFill>
                        </a:rPr>
                        <a:t>0.11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EE9"/>
                    </a:solidFill>
                  </a:tcPr>
                </a:tc>
                <a:tc>
                  <a:txBody>
                    <a:bodyPr/>
                    <a:lstStyle/>
                    <a:p>
                      <a:pPr algn="ctr" indent="0" marL="0">
                        <a:buNone/>
                      </a:pPr>
                      <a:r>
                        <a:rPr lang="en-US" sz="1000" dirty="0">
                          <a:solidFill>
                            <a:srgbClr val="1F2933"/>
                          </a:solidFill>
                        </a:rPr>
                        <a:t>0.12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DE7"/>
                    </a:solidFill>
                  </a:tcPr>
                </a:tc>
                <a:tc>
                  <a:txBody>
                    <a:bodyPr/>
                    <a:lstStyle/>
                    <a:p>
                      <a:pPr algn="ctr" indent="0" marL="0">
                        <a:buNone/>
                      </a:pPr>
                      <a:r>
                        <a:rPr lang="en-US" sz="1000" dirty="0">
                          <a:solidFill>
                            <a:srgbClr val="1F2933"/>
                          </a:solidFill>
                        </a:rPr>
                        <a:t>-0.04</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6FAFD"/>
                    </a:solidFill>
                  </a:tcPr>
                </a:tc>
                <a:tc>
                  <a:txBody>
                    <a:bodyPr/>
                    <a:lstStyle/>
                    <a:p>
                      <a:pPr algn="ctr" indent="0" marL="0">
                        <a:buNone/>
                      </a:pPr>
                      <a:r>
                        <a:rPr lang="en-US" sz="1000" dirty="0">
                          <a:solidFill>
                            <a:srgbClr val="1F2933"/>
                          </a:solidFill>
                        </a:rPr>
                        <a:t>-0.27</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5DBF4"/>
                    </a:solidFill>
                  </a:tcPr>
                </a:tc>
                <a:tc>
                  <a:txBody>
                    <a:bodyPr/>
                    <a:lstStyle/>
                    <a:p>
                      <a:pPr algn="ctr" indent="0" marL="0">
                        <a:buNone/>
                      </a:pPr>
                      <a:r>
                        <a:rPr lang="en-US" sz="1000" dirty="0">
                          <a:solidFill>
                            <a:srgbClr val="FFFFFF"/>
                          </a:solidFill>
                        </a:rPr>
                        <a:t>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B6834"/>
                    </a:solidFill>
                  </a:tcPr>
                </a:tc>
                <a:tc>
                  <a:txBody>
                    <a:bodyPr/>
                    <a:lstStyle/>
                    <a:p>
                      <a:pPr algn="ctr" indent="0" marL="0">
                        <a:buNone/>
                      </a:pPr>
                      <a:r>
                        <a:rPr lang="en-US" sz="1000" dirty="0">
                          <a:solidFill>
                            <a:srgbClr val="1F2933"/>
                          </a:solidFill>
                        </a:rPr>
                        <a:t>0.12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DE7"/>
                    </a:solidFill>
                  </a:tcPr>
                </a:tc>
              </a:tr>
              <a:tr h="283464">
                <a:tc>
                  <a:txBody>
                    <a:bodyPr/>
                    <a:lstStyle/>
                    <a:p>
                      <a:pPr algn="r" indent="0" marL="0">
                        <a:buNone/>
                      </a:pPr>
                      <a:r>
                        <a:rPr lang="en-US" sz="1000" b="1" dirty="0">
                          <a:solidFill>
                            <a:schemeClr val="tx1"/>
                          </a:solidFill>
                        </a:rPr>
                        <a:t>Seeds</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933"/>
                          </a:solidFill>
                        </a:rPr>
                        <a:t>0.06</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EF6F3"/>
                    </a:solidFill>
                  </a:tcPr>
                </a:tc>
                <a:tc>
                  <a:txBody>
                    <a:bodyPr/>
                    <a:lstStyle/>
                    <a:p>
                      <a:pPr algn="ctr" indent="0" marL="0">
                        <a:buNone/>
                      </a:pPr>
                      <a:r>
                        <a:rPr lang="en-US" sz="1000" dirty="0">
                          <a:solidFill>
                            <a:srgbClr val="1F2933"/>
                          </a:solidFill>
                        </a:rPr>
                        <a:t>0.05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EF7F5"/>
                    </a:solidFill>
                  </a:tcPr>
                </a:tc>
                <a:tc>
                  <a:txBody>
                    <a:bodyPr/>
                    <a:lstStyle/>
                    <a:p>
                      <a:pPr algn="ctr" indent="0" marL="0">
                        <a:buNone/>
                      </a:pPr>
                      <a:r>
                        <a:rPr lang="en-US" sz="1000" dirty="0">
                          <a:solidFill>
                            <a:srgbClr val="1F2933"/>
                          </a:solidFill>
                        </a:rPr>
                        <a:t>0.23</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ADCD0"/>
                    </a:solidFill>
                  </a:tcPr>
                </a:tc>
                <a:tc>
                  <a:txBody>
                    <a:bodyPr/>
                    <a:lstStyle/>
                    <a:p>
                      <a:pPr algn="ctr" indent="0" marL="0">
                        <a:buNone/>
                      </a:pPr>
                      <a:r>
                        <a:rPr lang="en-US" sz="1000" dirty="0">
                          <a:solidFill>
                            <a:srgbClr val="1F2933"/>
                          </a:solidFill>
                        </a:rPr>
                        <a:t>0.05</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EF7F5"/>
                    </a:solidFill>
                  </a:tcPr>
                </a:tc>
                <a:tc>
                  <a:txBody>
                    <a:bodyPr/>
                    <a:lstStyle/>
                    <a:p>
                      <a:pPr algn="ctr" indent="0" marL="0">
                        <a:buNone/>
                      </a:pPr>
                      <a:r>
                        <a:rPr lang="en-US" sz="1000" dirty="0">
                          <a:solidFill>
                            <a:srgbClr val="1F2933"/>
                          </a:solidFill>
                        </a:rPr>
                        <a:t>0.04</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EF9F7"/>
                    </a:solidFill>
                  </a:tcPr>
                </a:tc>
                <a:tc>
                  <a:txBody>
                    <a:bodyPr/>
                    <a:lstStyle/>
                    <a:p>
                      <a:pPr algn="ctr" indent="0" marL="0">
                        <a:buNone/>
                      </a:pPr>
                      <a:r>
                        <a:rPr lang="en-US" sz="1000" dirty="0">
                          <a:solidFill>
                            <a:srgbClr val="1F2933"/>
                          </a:solidFill>
                        </a:rPr>
                        <a:t>0.04</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EF9F7"/>
                    </a:solidFill>
                  </a:tcPr>
                </a:tc>
                <a:tc>
                  <a:txBody>
                    <a:bodyPr/>
                    <a:lstStyle/>
                    <a:p>
                      <a:pPr algn="ctr" indent="0" marL="0">
                        <a:buNone/>
                      </a:pPr>
                      <a:r>
                        <a:rPr lang="en-US" sz="1000" dirty="0">
                          <a:solidFill>
                            <a:srgbClr val="1F2933"/>
                          </a:solidFill>
                        </a:rPr>
                        <a:t>-0.22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0E1F6"/>
                    </a:solidFill>
                  </a:tcPr>
                </a:tc>
                <a:tc>
                  <a:txBody>
                    <a:bodyPr/>
                    <a:lstStyle/>
                    <a:p>
                      <a:pPr algn="ctr" indent="0" marL="0">
                        <a:buNone/>
                      </a:pPr>
                      <a:r>
                        <a:rPr lang="en-US" sz="1000" dirty="0">
                          <a:solidFill>
                            <a:srgbClr val="1F2933"/>
                          </a:solidFill>
                        </a:rPr>
                        <a:t>0.18</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E4DA"/>
                    </a:solidFill>
                  </a:tcPr>
                </a:tc>
                <a:tc>
                  <a:txBody>
                    <a:bodyPr/>
                    <a:lstStyle/>
                    <a:p>
                      <a:pPr algn="ctr" indent="0" marL="0">
                        <a:buNone/>
                      </a:pPr>
                      <a:r>
                        <a:rPr lang="en-US" sz="1000" dirty="0">
                          <a:solidFill>
                            <a:srgbClr val="1F2933"/>
                          </a:solidFill>
                        </a:rPr>
                        <a:t>-0.19</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7E5F7"/>
                    </a:solidFill>
                  </a:tcPr>
                </a:tc>
                <a:tc>
                  <a:txBody>
                    <a:bodyPr/>
                    <a:lstStyle/>
                    <a:p>
                      <a:pPr algn="ctr" indent="0" marL="0">
                        <a:buNone/>
                      </a:pPr>
                      <a:r>
                        <a:rPr lang="en-US" sz="1000" dirty="0">
                          <a:solidFill>
                            <a:srgbClr val="1F2933"/>
                          </a:solidFill>
                        </a:rPr>
                        <a:t>0.12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DE7"/>
                    </a:solidFill>
                  </a:tcPr>
                </a:tc>
                <a:tc>
                  <a:txBody>
                    <a:bodyPr/>
                    <a:lstStyle/>
                    <a:p>
                      <a:pPr algn="ctr" indent="0" marL="0">
                        <a:buNone/>
                      </a:pPr>
                      <a:r>
                        <a:rPr lang="en-US" sz="1000" dirty="0">
                          <a:solidFill>
                            <a:srgbClr val="1F2933"/>
                          </a:solidFill>
                        </a:rPr>
                        <a:t>-0.01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FEFF"/>
                    </a:solidFill>
                  </a:tcPr>
                </a:tc>
                <a:tc>
                  <a:txBody>
                    <a:bodyPr/>
                    <a:lstStyle/>
                    <a:p>
                      <a:pPr algn="ctr" indent="0" marL="0">
                        <a:buNone/>
                      </a:pPr>
                      <a:r>
                        <a:rPr lang="en-US" sz="1000" dirty="0">
                          <a:solidFill>
                            <a:srgbClr val="1F2933"/>
                          </a:solidFill>
                        </a:rPr>
                        <a:t>-0.07</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0F6FC"/>
                    </a:solidFill>
                  </a:tcPr>
                </a:tc>
                <a:tc>
                  <a:txBody>
                    <a:bodyPr/>
                    <a:lstStyle/>
                    <a:p>
                      <a:pPr algn="ctr" indent="0" marL="0">
                        <a:buNone/>
                      </a:pPr>
                      <a:r>
                        <a:rPr lang="en-US" sz="1000" dirty="0">
                          <a:solidFill>
                            <a:srgbClr val="1F2933"/>
                          </a:solidFill>
                        </a:rPr>
                        <a:t>0.12</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DE7"/>
                    </a:solidFill>
                  </a:tcPr>
                </a:tc>
                <a:tc>
                  <a:txBody>
                    <a:bodyPr/>
                    <a:lstStyle/>
                    <a:p>
                      <a:pPr algn="ctr" indent="0" marL="0">
                        <a:buNone/>
                      </a:pPr>
                      <a:r>
                        <a:rPr lang="en-US" sz="1000" dirty="0">
                          <a:solidFill>
                            <a:srgbClr val="FFFFFF"/>
                          </a:solidFill>
                        </a:rPr>
                        <a:t>1</a:t>
                      </a:r>
                      <a:endParaRPr lang="en-US" sz="1000" dirty="0"/>
                    </a:p>
                  </a:txBody>
                  <a:tcPr marL="27432" marR="27432" marT="9144" marB="914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B6834"/>
                    </a:solidFill>
                  </a:tcPr>
                </a:tc>
              </a:tr>
            </a:tbl>
          </a:graphicData>
        </a:graphic>
      </p:graphicFrame>
      <p:sp>
        <p:nvSpPr>
          <p:cNvPr id="5" name="card"/>
          <p:cNvSpPr/>
          <p:nvPr/>
        </p:nvSpPr>
        <p:spPr>
          <a:xfrm>
            <a:off x="9098280" y="1645920"/>
            <a:ext cx="2542032" cy="4572000"/>
          </a:xfrm>
          <a:prstGeom prst="roundRect">
            <a:avLst>
              <a:gd name="adj" fmla="val 2878"/>
            </a:avLst>
          </a:prstGeom>
          <a:solidFill>
            <a:schemeClr val="bg2"/>
          </a:solidFill>
          <a:ln/>
        </p:spPr>
      </p:sp>
      <p:sp>
        <p:nvSpPr>
          <p:cNvPr id="6" name="Text 3"/>
          <p:cNvSpPr txBox="1"/>
          <p:nvPr/>
        </p:nvSpPr>
        <p:spPr>
          <a:xfrm>
            <a:off x="9281160" y="1783080"/>
            <a:ext cx="2194560" cy="365760"/>
          </a:xfrm>
          <a:prstGeom prst="rect">
            <a:avLst/>
          </a:prstGeom>
          <a:noFill/>
          <a:ln/>
        </p:spPr>
        <p:txBody>
          <a:bodyPr wrap="square" lIns="0" tIns="0" rIns="0" bIns="0" rtlCol="0" anchor="t"/>
          <a:lstStyle/>
          <a:p>
            <a:pPr indent="0" marL="0">
              <a:buNone/>
            </a:pPr>
            <a:r>
              <a:rPr lang="en-US" sz="1700" b="1" dirty="0">
                <a:solidFill>
                  <a:schemeClr val="tx2"/>
                </a:solidFill>
              </a:rPr>
              <a:t>Read-outs</a:t>
            </a:r>
            <a:endParaRPr lang="en-US" sz="1700" dirty="0"/>
          </a:p>
        </p:txBody>
      </p:sp>
      <p:sp>
        <p:nvSpPr>
          <p:cNvPr id="7" name="Text 4"/>
          <p:cNvSpPr txBox="1"/>
          <p:nvPr/>
        </p:nvSpPr>
        <p:spPr>
          <a:xfrm>
            <a:off x="9281160" y="2194560"/>
            <a:ext cx="2240280" cy="3931920"/>
          </a:xfrm>
          <a:prstGeom prst="rect">
            <a:avLst/>
          </a:prstGeom>
          <a:noFill/>
          <a:ln/>
        </p:spPr>
        <p:txBody>
          <a:bodyPr wrap="square" lIns="0" tIns="0" rIns="0" bIns="0" rtlCol="0" anchor="t"/>
          <a:lstStyle/>
          <a:p>
            <a:pPr marL="190500" indent="-190500">
              <a:spcAft>
                <a:spcPts val="600"/>
              </a:spcAft>
              <a:buSzPct val="100000"/>
              <a:buChar char="•"/>
            </a:pPr>
            <a:r>
              <a:rPr lang="en-US" sz="1200" dirty="0">
                <a:solidFill>
                  <a:schemeClr val="tx1"/>
                </a:solidFill>
              </a:rPr>
              <a:t>Draw vs SFC: −0.92</a:t>
            </a:r>
            <a:endParaRPr lang="en-US" sz="1200" dirty="0"/>
          </a:p>
          <a:p>
            <a:pPr marL="190500" indent="-190500">
              <a:spcAft>
                <a:spcPts val="600"/>
              </a:spcAft>
              <a:buSzPct val="100000"/>
              <a:buChar char="•"/>
            </a:pPr>
            <a:r>
              <a:rPr lang="en-US" sz="1200" dirty="0">
                <a:solidFill>
                  <a:schemeClr val="tx1"/>
                </a:solidFill>
              </a:rPr>
              <a:t>Draw vs barrier boost: +0.84, boost is raised with draw</a:t>
            </a:r>
            <a:endParaRPr lang="en-US" sz="1200" dirty="0"/>
          </a:p>
          <a:p>
            <a:pPr marL="190500" indent="-190500">
              <a:spcAft>
                <a:spcPts val="600"/>
              </a:spcAft>
              <a:buSzPct val="100000"/>
              <a:buChar char="•"/>
            </a:pPr>
            <a:r>
              <a:rPr lang="en-US" sz="1200" dirty="0">
                <a:solidFill>
                  <a:schemeClr val="tx1"/>
                </a:solidFill>
              </a:rPr>
              <a:t>NCV vs AFR: +0.95, air already follows heat</a:t>
            </a:r>
            <a:endParaRPr lang="en-US" sz="1200" dirty="0"/>
          </a:p>
          <a:p>
            <a:pPr marL="190500" indent="-190500">
              <a:spcAft>
                <a:spcPts val="600"/>
              </a:spcAft>
              <a:buSzPct val="100000"/>
              <a:buChar char="•"/>
            </a:pPr>
            <a:r>
              <a:rPr lang="en-US" sz="1200" dirty="0">
                <a:solidFill>
                  <a:schemeClr val="tx1"/>
                </a:solidFill>
              </a:rPr>
              <a:t>Gas heat vs crown TC: −0.50, operators fire to the crown</a:t>
            </a:r>
            <a:endParaRPr lang="en-US" sz="1200" dirty="0"/>
          </a:p>
          <a:p>
            <a:pPr marL="190500" indent="-190500">
              <a:spcAft>
                <a:spcPts val="600"/>
              </a:spcAft>
              <a:buSzPct val="100000"/>
              <a:buChar char="•"/>
            </a:pPr>
            <a:r>
              <a:rPr lang="en-US" sz="1200" dirty="0">
                <a:solidFill>
                  <a:schemeClr val="tx1"/>
                </a:solidFill>
              </a:rPr>
              <a:t>Cullet vs energy: no significant effect once age is controlled</a:t>
            </a:r>
            <a:endParaRPr lang="en-US" sz="12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Historical insights</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Eight findings from 13 months of data shape the recommender</a:t>
            </a:r>
            <a:endParaRPr lang="en-US" sz="1600" dirty="0"/>
          </a:p>
        </p:txBody>
      </p:sp>
      <p:sp>
        <p:nvSpPr>
          <p:cNvPr id="4" name="card"/>
          <p:cNvSpPr/>
          <p:nvPr/>
        </p:nvSpPr>
        <p:spPr>
          <a:xfrm>
            <a:off x="548640" y="1691640"/>
            <a:ext cx="2615184" cy="2057400"/>
          </a:xfrm>
          <a:prstGeom prst="roundRect">
            <a:avLst>
              <a:gd name="adj" fmla="val 3556"/>
            </a:avLst>
          </a:prstGeom>
          <a:solidFill>
            <a:schemeClr val="bg2"/>
          </a:solidFill>
          <a:ln/>
        </p:spPr>
      </p:sp>
      <p:sp>
        <p:nvSpPr>
          <p:cNvPr id="5" name="icon circle"/>
          <p:cNvSpPr/>
          <p:nvPr/>
        </p:nvSpPr>
        <p:spPr>
          <a:xfrm>
            <a:off x="777240" y="1920240"/>
            <a:ext cx="548640" cy="548640"/>
          </a:xfrm>
          <a:prstGeom prst="ellipse">
            <a:avLst/>
          </a:prstGeom>
          <a:solidFill>
            <a:schemeClr val="accent2"/>
          </a:solidFill>
          <a:ln/>
        </p:spPr>
      </p:sp>
      <p:pic>
        <p:nvPicPr>
          <p:cNvPr id="6" name="Image 0" descr="FaTruck">    </p:cNvPr>
          <p:cNvPicPr>
            <a:picLocks noChangeAspect="1"/>
          </p:cNvPicPr>
          <p:nvPr/>
        </p:nvPicPr>
        <p:blipFill>
          <a:blip r:embed="rId1"/>
          <a:stretch>
            <a:fillRect/>
          </a:stretch>
        </p:blipFill>
        <p:spPr>
          <a:xfrm>
            <a:off x="919886" y="2062886"/>
            <a:ext cx="263347" cy="263347"/>
          </a:xfrm>
          <a:prstGeom prst="rect">
            <a:avLst/>
          </a:prstGeom>
        </p:spPr>
      </p:pic>
      <p:sp>
        <p:nvSpPr>
          <p:cNvPr id="7" name="Text 4"/>
          <p:cNvSpPr txBox="1"/>
          <p:nvPr/>
        </p:nvSpPr>
        <p:spPr>
          <a:xfrm>
            <a:off x="1463040" y="196596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Draw</a:t>
            </a:r>
            <a:endParaRPr lang="en-US" sz="1800" dirty="0"/>
          </a:p>
        </p:txBody>
      </p:sp>
      <p:sp>
        <p:nvSpPr>
          <p:cNvPr id="8" name="Text 5"/>
          <p:cNvSpPr txBox="1"/>
          <p:nvPr/>
        </p:nvSpPr>
        <p:spPr>
          <a:xfrm>
            <a:off x="777240" y="2651760"/>
            <a:ext cx="2194560" cy="960120"/>
          </a:xfrm>
          <a:prstGeom prst="rect">
            <a:avLst/>
          </a:prstGeom>
          <a:noFill/>
          <a:ln/>
        </p:spPr>
        <p:txBody>
          <a:bodyPr wrap="square" lIns="0" tIns="0" rIns="0" bIns="0" rtlCol="0" anchor="t"/>
          <a:lstStyle/>
          <a:p>
            <a:pPr indent="0" marL="0">
              <a:buNone/>
            </a:pPr>
            <a:r>
              <a:rPr lang="en-US" sz="1600" dirty="0">
                <a:solidFill>
                  <a:schemeClr val="tx1"/>
                </a:solidFill>
              </a:rPr>
              <a:t>+1 t/day ≈ −1% SFC; 54 Gcal/day is fixed loss</a:t>
            </a:r>
            <a:endParaRPr lang="en-US" sz="1600" dirty="0"/>
          </a:p>
        </p:txBody>
      </p:sp>
      <p:sp>
        <p:nvSpPr>
          <p:cNvPr id="9" name="card"/>
          <p:cNvSpPr/>
          <p:nvPr/>
        </p:nvSpPr>
        <p:spPr>
          <a:xfrm>
            <a:off x="3364992" y="1691640"/>
            <a:ext cx="2615184" cy="2057400"/>
          </a:xfrm>
          <a:prstGeom prst="roundRect">
            <a:avLst>
              <a:gd name="adj" fmla="val 3556"/>
            </a:avLst>
          </a:prstGeom>
          <a:solidFill>
            <a:schemeClr val="bg2"/>
          </a:solidFill>
          <a:ln/>
        </p:spPr>
      </p:sp>
      <p:sp>
        <p:nvSpPr>
          <p:cNvPr id="10" name="icon circle"/>
          <p:cNvSpPr/>
          <p:nvPr/>
        </p:nvSpPr>
        <p:spPr>
          <a:xfrm>
            <a:off x="3593592" y="1920240"/>
            <a:ext cx="548640" cy="548640"/>
          </a:xfrm>
          <a:prstGeom prst="ellipse">
            <a:avLst/>
          </a:prstGeom>
          <a:solidFill>
            <a:schemeClr val="accent1"/>
          </a:solidFill>
          <a:ln/>
        </p:spPr>
      </p:sp>
      <p:pic>
        <p:nvPicPr>
          <p:cNvPr id="11" name="Image 1" descr="FaHourglassHalf">    </p:cNvPr>
          <p:cNvPicPr>
            <a:picLocks noChangeAspect="1"/>
          </p:cNvPicPr>
          <p:nvPr/>
        </p:nvPicPr>
        <p:blipFill>
          <a:blip r:embed="rId2"/>
          <a:stretch>
            <a:fillRect/>
          </a:stretch>
        </p:blipFill>
        <p:spPr>
          <a:xfrm>
            <a:off x="3736238" y="2062886"/>
            <a:ext cx="263347" cy="263347"/>
          </a:xfrm>
          <a:prstGeom prst="rect">
            <a:avLst/>
          </a:prstGeom>
        </p:spPr>
      </p:pic>
      <p:sp>
        <p:nvSpPr>
          <p:cNvPr id="12" name="Text 8"/>
          <p:cNvSpPr txBox="1"/>
          <p:nvPr/>
        </p:nvSpPr>
        <p:spPr>
          <a:xfrm>
            <a:off x="4279392" y="196596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Ageing</a:t>
            </a:r>
            <a:endParaRPr lang="en-US" sz="1800" dirty="0"/>
          </a:p>
        </p:txBody>
      </p:sp>
      <p:sp>
        <p:nvSpPr>
          <p:cNvPr id="13" name="Text 9"/>
          <p:cNvSpPr txBox="1"/>
          <p:nvPr/>
        </p:nvSpPr>
        <p:spPr>
          <a:xfrm>
            <a:off x="3593592" y="2651760"/>
            <a:ext cx="2194560" cy="960120"/>
          </a:xfrm>
          <a:prstGeom prst="rect">
            <a:avLst/>
          </a:prstGeom>
          <a:noFill/>
          <a:ln/>
        </p:spPr>
        <p:txBody>
          <a:bodyPr wrap="square" lIns="0" tIns="0" rIns="0" bIns="0" rtlCol="0" anchor="t"/>
          <a:lstStyle/>
          <a:p>
            <a:pPr indent="0" marL="0">
              <a:buNone/>
            </a:pPr>
            <a:r>
              <a:rPr lang="en-US" sz="1600" dirty="0">
                <a:solidFill>
                  <a:schemeClr val="tx1"/>
                </a:solidFill>
              </a:rPr>
              <a:t>+0.19% energy per month at the same draw</a:t>
            </a:r>
            <a:endParaRPr lang="en-US" sz="1600" dirty="0"/>
          </a:p>
        </p:txBody>
      </p:sp>
      <p:sp>
        <p:nvSpPr>
          <p:cNvPr id="14" name="card"/>
          <p:cNvSpPr/>
          <p:nvPr/>
        </p:nvSpPr>
        <p:spPr>
          <a:xfrm>
            <a:off x="6181344" y="1691640"/>
            <a:ext cx="2615184" cy="2057400"/>
          </a:xfrm>
          <a:prstGeom prst="roundRect">
            <a:avLst>
              <a:gd name="adj" fmla="val 3556"/>
            </a:avLst>
          </a:prstGeom>
          <a:solidFill>
            <a:schemeClr val="bg2"/>
          </a:solidFill>
          <a:ln/>
        </p:spPr>
      </p:sp>
      <p:sp>
        <p:nvSpPr>
          <p:cNvPr id="15" name="icon circle"/>
          <p:cNvSpPr/>
          <p:nvPr/>
        </p:nvSpPr>
        <p:spPr>
          <a:xfrm>
            <a:off x="6409944" y="1920240"/>
            <a:ext cx="548640" cy="548640"/>
          </a:xfrm>
          <a:prstGeom prst="ellipse">
            <a:avLst/>
          </a:prstGeom>
          <a:solidFill>
            <a:schemeClr val="accent2"/>
          </a:solidFill>
          <a:ln/>
        </p:spPr>
      </p:sp>
      <p:pic>
        <p:nvPicPr>
          <p:cNvPr id="16" name="Image 2" descr="FaGasPump">    </p:cNvPr>
          <p:cNvPicPr>
            <a:picLocks noChangeAspect="1"/>
          </p:cNvPicPr>
          <p:nvPr/>
        </p:nvPicPr>
        <p:blipFill>
          <a:blip r:embed="rId3"/>
          <a:stretch>
            <a:fillRect/>
          </a:stretch>
        </p:blipFill>
        <p:spPr>
          <a:xfrm>
            <a:off x="6552590" y="2062886"/>
            <a:ext cx="263347" cy="263347"/>
          </a:xfrm>
          <a:prstGeom prst="rect">
            <a:avLst/>
          </a:prstGeom>
        </p:spPr>
      </p:pic>
      <p:sp>
        <p:nvSpPr>
          <p:cNvPr id="17" name="Text 12"/>
          <p:cNvSpPr txBox="1"/>
          <p:nvPr/>
        </p:nvSpPr>
        <p:spPr>
          <a:xfrm>
            <a:off x="7095744" y="196596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NCV lag</a:t>
            </a:r>
            <a:endParaRPr lang="en-US" sz="1800" dirty="0"/>
          </a:p>
        </p:txBody>
      </p:sp>
      <p:sp>
        <p:nvSpPr>
          <p:cNvPr id="18" name="Text 13"/>
          <p:cNvSpPr txBox="1"/>
          <p:nvPr/>
        </p:nvSpPr>
        <p:spPr>
          <a:xfrm>
            <a:off x="6409944" y="2651760"/>
            <a:ext cx="2194560" cy="960120"/>
          </a:xfrm>
          <a:prstGeom prst="rect">
            <a:avLst/>
          </a:prstGeom>
          <a:noFill/>
          <a:ln/>
        </p:spPr>
        <p:txBody>
          <a:bodyPr wrap="square" lIns="0" tIns="0" rIns="0" bIns="0" rtlCol="0" anchor="t"/>
          <a:lstStyle/>
          <a:p>
            <a:pPr indent="0" marL="0">
              <a:buNone/>
            </a:pPr>
            <a:r>
              <a:rPr lang="en-US" sz="1600" dirty="0">
                <a:solidFill>
                  <a:schemeClr val="tx1"/>
                </a:solidFill>
              </a:rPr>
              <a:t>17% corrected in the same hour, 73% after 1 h</a:t>
            </a:r>
            <a:endParaRPr lang="en-US" sz="1600" dirty="0"/>
          </a:p>
        </p:txBody>
      </p:sp>
      <p:sp>
        <p:nvSpPr>
          <p:cNvPr id="19" name="card"/>
          <p:cNvSpPr/>
          <p:nvPr/>
        </p:nvSpPr>
        <p:spPr>
          <a:xfrm>
            <a:off x="8997696" y="1691640"/>
            <a:ext cx="2615184" cy="2057400"/>
          </a:xfrm>
          <a:prstGeom prst="roundRect">
            <a:avLst>
              <a:gd name="adj" fmla="val 3556"/>
            </a:avLst>
          </a:prstGeom>
          <a:solidFill>
            <a:schemeClr val="bg2"/>
          </a:solidFill>
          <a:ln/>
        </p:spPr>
      </p:sp>
      <p:sp>
        <p:nvSpPr>
          <p:cNvPr id="20" name="icon circle"/>
          <p:cNvSpPr/>
          <p:nvPr/>
        </p:nvSpPr>
        <p:spPr>
          <a:xfrm>
            <a:off x="9226296" y="1920240"/>
            <a:ext cx="548640" cy="548640"/>
          </a:xfrm>
          <a:prstGeom prst="ellipse">
            <a:avLst/>
          </a:prstGeom>
          <a:solidFill>
            <a:schemeClr val="accent1"/>
          </a:solidFill>
          <a:ln/>
        </p:spPr>
      </p:sp>
      <p:pic>
        <p:nvPicPr>
          <p:cNvPr id="21" name="Image 3" descr="FaBolt">    </p:cNvPr>
          <p:cNvPicPr>
            <a:picLocks noChangeAspect="1"/>
          </p:cNvPicPr>
          <p:nvPr/>
        </p:nvPicPr>
        <p:blipFill>
          <a:blip r:embed="rId4"/>
          <a:stretch>
            <a:fillRect/>
          </a:stretch>
        </p:blipFill>
        <p:spPr>
          <a:xfrm>
            <a:off x="9368942" y="2062886"/>
            <a:ext cx="263347" cy="263347"/>
          </a:xfrm>
          <a:prstGeom prst="rect">
            <a:avLst/>
          </a:prstGeom>
        </p:spPr>
      </p:pic>
      <p:sp>
        <p:nvSpPr>
          <p:cNvPr id="22" name="Text 16"/>
          <p:cNvSpPr txBox="1"/>
          <p:nvPr/>
        </p:nvSpPr>
        <p:spPr>
          <a:xfrm>
            <a:off x="9912096" y="196596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Boost</a:t>
            </a:r>
            <a:endParaRPr lang="en-US" sz="1800" dirty="0"/>
          </a:p>
        </p:txBody>
      </p:sp>
      <p:sp>
        <p:nvSpPr>
          <p:cNvPr id="23" name="Text 17"/>
          <p:cNvSpPr txBox="1"/>
          <p:nvPr/>
        </p:nvSpPr>
        <p:spPr>
          <a:xfrm>
            <a:off x="9226296" y="2651760"/>
            <a:ext cx="2194560" cy="960120"/>
          </a:xfrm>
          <a:prstGeom prst="rect">
            <a:avLst/>
          </a:prstGeom>
          <a:noFill/>
          <a:ln/>
        </p:spPr>
        <p:txBody>
          <a:bodyPr wrap="square" lIns="0" tIns="0" rIns="0" bIns="0" rtlCol="0" anchor="t"/>
          <a:lstStyle/>
          <a:p>
            <a:pPr indent="0" marL="0">
              <a:buNone/>
            </a:pPr>
            <a:r>
              <a:rPr lang="en-US" sz="1600" dirty="0">
                <a:solidFill>
                  <a:schemeClr val="tx1"/>
                </a:solidFill>
              </a:rPr>
              <a:t>1 Gcal boost replaces only 0.77 Gcal gas</a:t>
            </a:r>
            <a:endParaRPr lang="en-US" sz="1600" dirty="0"/>
          </a:p>
        </p:txBody>
      </p:sp>
      <p:sp>
        <p:nvSpPr>
          <p:cNvPr id="24" name="card"/>
          <p:cNvSpPr/>
          <p:nvPr/>
        </p:nvSpPr>
        <p:spPr>
          <a:xfrm>
            <a:off x="548640" y="3977640"/>
            <a:ext cx="2615184" cy="2057400"/>
          </a:xfrm>
          <a:prstGeom prst="roundRect">
            <a:avLst>
              <a:gd name="adj" fmla="val 3556"/>
            </a:avLst>
          </a:prstGeom>
          <a:solidFill>
            <a:schemeClr val="bg2"/>
          </a:solidFill>
          <a:ln/>
        </p:spPr>
      </p:sp>
      <p:sp>
        <p:nvSpPr>
          <p:cNvPr id="25" name="icon circle"/>
          <p:cNvSpPr/>
          <p:nvPr/>
        </p:nvSpPr>
        <p:spPr>
          <a:xfrm>
            <a:off x="777240" y="4206240"/>
            <a:ext cx="548640" cy="548640"/>
          </a:xfrm>
          <a:prstGeom prst="ellipse">
            <a:avLst/>
          </a:prstGeom>
          <a:solidFill>
            <a:schemeClr val="accent2"/>
          </a:solidFill>
          <a:ln/>
        </p:spPr>
      </p:sp>
      <p:pic>
        <p:nvPicPr>
          <p:cNvPr id="26" name="Image 4" descr="FaThermometerHalf">    </p:cNvPr>
          <p:cNvPicPr>
            <a:picLocks noChangeAspect="1"/>
          </p:cNvPicPr>
          <p:nvPr/>
        </p:nvPicPr>
        <p:blipFill>
          <a:blip r:embed="rId5"/>
          <a:stretch>
            <a:fillRect/>
          </a:stretch>
        </p:blipFill>
        <p:spPr>
          <a:xfrm>
            <a:off x="919886" y="4348886"/>
            <a:ext cx="263347" cy="263347"/>
          </a:xfrm>
          <a:prstGeom prst="rect">
            <a:avLst/>
          </a:prstGeom>
        </p:spPr>
      </p:pic>
      <p:sp>
        <p:nvSpPr>
          <p:cNvPr id="27" name="Text 20"/>
          <p:cNvSpPr txBox="1"/>
          <p:nvPr/>
        </p:nvSpPr>
        <p:spPr>
          <a:xfrm>
            <a:off x="1463040" y="425196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MB3</a:t>
            </a:r>
            <a:endParaRPr lang="en-US" sz="1800" dirty="0"/>
          </a:p>
        </p:txBody>
      </p:sp>
      <p:sp>
        <p:nvSpPr>
          <p:cNvPr id="28" name="Text 21"/>
          <p:cNvSpPr txBox="1"/>
          <p:nvPr/>
        </p:nvSpPr>
        <p:spPr>
          <a:xfrm>
            <a:off x="777240" y="4937760"/>
            <a:ext cx="2194560" cy="960120"/>
          </a:xfrm>
          <a:prstGeom prst="rect">
            <a:avLst/>
          </a:prstGeom>
          <a:noFill/>
          <a:ln/>
        </p:spPr>
        <p:txBody>
          <a:bodyPr wrap="square" lIns="0" tIns="0" rIns="0" bIns="0" rtlCol="0" anchor="t"/>
          <a:lstStyle/>
          <a:p>
            <a:pPr indent="0" marL="0">
              <a:buNone/>
            </a:pPr>
            <a:r>
              <a:rPr lang="en-US" sz="1600" dirty="0">
                <a:solidFill>
                  <a:schemeClr val="tx1"/>
                </a:solidFill>
              </a:rPr>
              <a:t>+1.9 °C per +100 kWh/h barrier boost</a:t>
            </a:r>
            <a:endParaRPr lang="en-US" sz="1600" dirty="0"/>
          </a:p>
        </p:txBody>
      </p:sp>
      <p:sp>
        <p:nvSpPr>
          <p:cNvPr id="29" name="card"/>
          <p:cNvSpPr/>
          <p:nvPr/>
        </p:nvSpPr>
        <p:spPr>
          <a:xfrm>
            <a:off x="3364992" y="3977640"/>
            <a:ext cx="2615184" cy="2057400"/>
          </a:xfrm>
          <a:prstGeom prst="roundRect">
            <a:avLst>
              <a:gd name="adj" fmla="val 3556"/>
            </a:avLst>
          </a:prstGeom>
          <a:solidFill>
            <a:schemeClr val="bg2"/>
          </a:solidFill>
          <a:ln/>
        </p:spPr>
      </p:sp>
      <p:sp>
        <p:nvSpPr>
          <p:cNvPr id="30" name="icon circle"/>
          <p:cNvSpPr/>
          <p:nvPr/>
        </p:nvSpPr>
        <p:spPr>
          <a:xfrm>
            <a:off x="3593592" y="4206240"/>
            <a:ext cx="548640" cy="548640"/>
          </a:xfrm>
          <a:prstGeom prst="ellipse">
            <a:avLst/>
          </a:prstGeom>
          <a:solidFill>
            <a:schemeClr val="accent1"/>
          </a:solidFill>
          <a:ln/>
        </p:spPr>
      </p:sp>
      <p:pic>
        <p:nvPicPr>
          <p:cNvPr id="31" name="Image 5" descr="FaWind">    </p:cNvPr>
          <p:cNvPicPr>
            <a:picLocks noChangeAspect="1"/>
          </p:cNvPicPr>
          <p:nvPr/>
        </p:nvPicPr>
        <p:blipFill>
          <a:blip r:embed="rId6"/>
          <a:stretch>
            <a:fillRect/>
          </a:stretch>
        </p:blipFill>
        <p:spPr>
          <a:xfrm>
            <a:off x="3736238" y="4348886"/>
            <a:ext cx="263347" cy="263347"/>
          </a:xfrm>
          <a:prstGeom prst="rect">
            <a:avLst/>
          </a:prstGeom>
        </p:spPr>
      </p:pic>
      <p:sp>
        <p:nvSpPr>
          <p:cNvPr id="32" name="Text 24"/>
          <p:cNvSpPr txBox="1"/>
          <p:nvPr/>
        </p:nvSpPr>
        <p:spPr>
          <a:xfrm>
            <a:off x="4279392" y="425196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Air</a:t>
            </a:r>
            <a:endParaRPr lang="en-US" sz="1800" dirty="0"/>
          </a:p>
        </p:txBody>
      </p:sp>
      <p:sp>
        <p:nvSpPr>
          <p:cNvPr id="33" name="Text 25"/>
          <p:cNvSpPr txBox="1"/>
          <p:nvPr/>
        </p:nvSpPr>
        <p:spPr>
          <a:xfrm>
            <a:off x="3593592" y="4937760"/>
            <a:ext cx="2194560" cy="960120"/>
          </a:xfrm>
          <a:prstGeom prst="rect">
            <a:avLst/>
          </a:prstGeom>
          <a:noFill/>
          <a:ln/>
        </p:spPr>
        <p:txBody>
          <a:bodyPr wrap="square" lIns="0" tIns="0" rIns="0" bIns="0" rtlCol="0" anchor="t"/>
          <a:lstStyle/>
          <a:p>
            <a:pPr indent="0" marL="0">
              <a:buNone/>
            </a:pPr>
            <a:r>
              <a:rPr lang="en-US" sz="1600" dirty="0">
                <a:solidFill>
                  <a:schemeClr val="tx1"/>
                </a:solidFill>
              </a:rPr>
              <a:t>−0.01 SCM/Mcal ≈ −0.13 Gcal/day</a:t>
            </a:r>
            <a:endParaRPr lang="en-US" sz="1600" dirty="0"/>
          </a:p>
        </p:txBody>
      </p:sp>
      <p:sp>
        <p:nvSpPr>
          <p:cNvPr id="34" name="card"/>
          <p:cNvSpPr/>
          <p:nvPr/>
        </p:nvSpPr>
        <p:spPr>
          <a:xfrm>
            <a:off x="6181344" y="3977640"/>
            <a:ext cx="2615184" cy="2057400"/>
          </a:xfrm>
          <a:prstGeom prst="roundRect">
            <a:avLst>
              <a:gd name="adj" fmla="val 3556"/>
            </a:avLst>
          </a:prstGeom>
          <a:solidFill>
            <a:schemeClr val="bg2"/>
          </a:solidFill>
          <a:ln/>
        </p:spPr>
      </p:sp>
      <p:sp>
        <p:nvSpPr>
          <p:cNvPr id="35" name="icon circle"/>
          <p:cNvSpPr/>
          <p:nvPr/>
        </p:nvSpPr>
        <p:spPr>
          <a:xfrm>
            <a:off x="6409944" y="4206240"/>
            <a:ext cx="548640" cy="548640"/>
          </a:xfrm>
          <a:prstGeom prst="ellipse">
            <a:avLst/>
          </a:prstGeom>
          <a:solidFill>
            <a:schemeClr val="accent2"/>
          </a:solidFill>
          <a:ln/>
        </p:spPr>
      </p:sp>
      <p:pic>
        <p:nvPicPr>
          <p:cNvPr id="36" name="Image 6" descr="FaCheckCircle">    </p:cNvPr>
          <p:cNvPicPr>
            <a:picLocks noChangeAspect="1"/>
          </p:cNvPicPr>
          <p:nvPr/>
        </p:nvPicPr>
        <p:blipFill>
          <a:blip r:embed="rId7"/>
          <a:stretch>
            <a:fillRect/>
          </a:stretch>
        </p:blipFill>
        <p:spPr>
          <a:xfrm>
            <a:off x="6552590" y="4348886"/>
            <a:ext cx="263347" cy="263347"/>
          </a:xfrm>
          <a:prstGeom prst="rect">
            <a:avLst/>
          </a:prstGeom>
        </p:spPr>
      </p:pic>
      <p:sp>
        <p:nvSpPr>
          <p:cNvPr id="37" name="Text 28"/>
          <p:cNvSpPr txBox="1"/>
          <p:nvPr/>
        </p:nvSpPr>
        <p:spPr>
          <a:xfrm>
            <a:off x="7095744" y="425196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Quality</a:t>
            </a:r>
            <a:endParaRPr lang="en-US" sz="1800" dirty="0"/>
          </a:p>
        </p:txBody>
      </p:sp>
      <p:sp>
        <p:nvSpPr>
          <p:cNvPr id="38" name="Text 29"/>
          <p:cNvSpPr txBox="1"/>
          <p:nvPr/>
        </p:nvSpPr>
        <p:spPr>
          <a:xfrm>
            <a:off x="6409944" y="4937760"/>
            <a:ext cx="2194560" cy="960120"/>
          </a:xfrm>
          <a:prstGeom prst="rect">
            <a:avLst/>
          </a:prstGeom>
          <a:noFill/>
          <a:ln/>
        </p:spPr>
        <p:txBody>
          <a:bodyPr wrap="square" lIns="0" tIns="0" rIns="0" bIns="0" rtlCol="0" anchor="t"/>
          <a:lstStyle/>
          <a:p>
            <a:pPr indent="0" marL="0">
              <a:buNone/>
            </a:pPr>
            <a:r>
              <a:rPr lang="en-US" sz="1600" dirty="0">
                <a:solidFill>
                  <a:schemeClr val="tx1"/>
                </a:solidFill>
              </a:rPr>
              <a:t>Seeds P95 21, max 28, spec 30</a:t>
            </a:r>
            <a:endParaRPr lang="en-US" sz="1600" dirty="0"/>
          </a:p>
        </p:txBody>
      </p:sp>
      <p:sp>
        <p:nvSpPr>
          <p:cNvPr id="39" name="card"/>
          <p:cNvSpPr/>
          <p:nvPr/>
        </p:nvSpPr>
        <p:spPr>
          <a:xfrm>
            <a:off x="8997696" y="3977640"/>
            <a:ext cx="2615184" cy="2057400"/>
          </a:xfrm>
          <a:prstGeom prst="roundRect">
            <a:avLst>
              <a:gd name="adj" fmla="val 3556"/>
            </a:avLst>
          </a:prstGeom>
          <a:solidFill>
            <a:schemeClr val="bg2"/>
          </a:solidFill>
          <a:ln/>
        </p:spPr>
      </p:sp>
      <p:sp>
        <p:nvSpPr>
          <p:cNvPr id="40" name="icon circle"/>
          <p:cNvSpPr/>
          <p:nvPr/>
        </p:nvSpPr>
        <p:spPr>
          <a:xfrm>
            <a:off x="9226296" y="4206240"/>
            <a:ext cx="548640" cy="548640"/>
          </a:xfrm>
          <a:prstGeom prst="ellipse">
            <a:avLst/>
          </a:prstGeom>
          <a:solidFill>
            <a:schemeClr val="accent1"/>
          </a:solidFill>
          <a:ln/>
        </p:spPr>
      </p:sp>
      <p:pic>
        <p:nvPicPr>
          <p:cNvPr id="41" name="Image 7" descr="FaRecycle">    </p:cNvPr>
          <p:cNvPicPr>
            <a:picLocks noChangeAspect="1"/>
          </p:cNvPicPr>
          <p:nvPr/>
        </p:nvPicPr>
        <p:blipFill>
          <a:blip r:embed="rId8"/>
          <a:stretch>
            <a:fillRect/>
          </a:stretch>
        </p:blipFill>
        <p:spPr>
          <a:xfrm>
            <a:off x="9368942" y="4348886"/>
            <a:ext cx="263347" cy="263347"/>
          </a:xfrm>
          <a:prstGeom prst="rect">
            <a:avLst/>
          </a:prstGeom>
        </p:spPr>
      </p:pic>
      <p:sp>
        <p:nvSpPr>
          <p:cNvPr id="42" name="Text 32"/>
          <p:cNvSpPr txBox="1"/>
          <p:nvPr/>
        </p:nvSpPr>
        <p:spPr>
          <a:xfrm>
            <a:off x="9912096" y="425196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Cullet</a:t>
            </a:r>
            <a:endParaRPr lang="en-US" sz="1800" dirty="0"/>
          </a:p>
        </p:txBody>
      </p:sp>
      <p:sp>
        <p:nvSpPr>
          <p:cNvPr id="43" name="Text 33"/>
          <p:cNvSpPr txBox="1"/>
          <p:nvPr/>
        </p:nvSpPr>
        <p:spPr>
          <a:xfrm>
            <a:off x="9226296" y="4937760"/>
            <a:ext cx="2194560" cy="960120"/>
          </a:xfrm>
          <a:prstGeom prst="rect">
            <a:avLst/>
          </a:prstGeom>
          <a:noFill/>
          <a:ln/>
        </p:spPr>
        <p:txBody>
          <a:bodyPr wrap="square" lIns="0" tIns="0" rIns="0" bIns="0" rtlCol="0" anchor="t"/>
          <a:lstStyle/>
          <a:p>
            <a:pPr indent="0" marL="0">
              <a:buNone/>
            </a:pPr>
            <a:r>
              <a:rPr lang="en-US" sz="1600" dirty="0">
                <a:solidFill>
                  <a:schemeClr val="tx1"/>
                </a:solidFill>
              </a:rPr>
              <a:t>16–20% cullet: no significant energy effect</a:t>
            </a:r>
            <a:endParaRPr lang="en-US" sz="16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Golden batch: what the best days do differently</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The most efficient 25% of days (86 days) used ≈ 3% less energy than the least efficient 25% at the same draw</a:t>
            </a:r>
            <a:endParaRPr lang="en-US" sz="1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7223760" cy="914400"/>
        </p:xfrm>
        <a:graphic>
          <a:graphicData uri="http://schemas.openxmlformats.org/drawingml/2006/table">
            <a:tbl>
              <a:tblPr/>
              <a:tblGrid>
                <a:gridCol w="3108960"/>
                <a:gridCol w="1371600"/>
                <a:gridCol w="1371600"/>
                <a:gridCol w="1371600"/>
              </a:tblGrid>
              <a:tr h="393192">
                <a:tc>
                  <a:txBody>
                    <a:bodyPr/>
                    <a:lstStyle/>
                    <a:p>
                      <a:pPr algn="l" indent="0" marL="0">
                        <a:buNone/>
                      </a:pPr>
                      <a:r>
                        <a:rPr lang="en-US" sz="1200" b="1" dirty="0">
                          <a:solidFill>
                            <a:schemeClr val="bg1"/>
                          </a:solidFill>
                        </a:rPr>
                        <a:t>Daily average</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algn="l" indent="0" marL="0">
                        <a:buNone/>
                      </a:pPr>
                      <a:r>
                        <a:rPr lang="en-US" sz="1200" b="1" dirty="0">
                          <a:solidFill>
                            <a:schemeClr val="bg1"/>
                          </a:solidFill>
                        </a:rPr>
                        <a:t>Best 25%</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algn="l" indent="0" marL="0">
                        <a:buNone/>
                      </a:pPr>
                      <a:r>
                        <a:rPr lang="en-US" sz="1200" b="1" dirty="0">
                          <a:solidFill>
                            <a:schemeClr val="bg1"/>
                          </a:solidFill>
                        </a:rPr>
                        <a:t>All days</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algn="l" indent="0" marL="0">
                        <a:buNone/>
                      </a:pPr>
                      <a:r>
                        <a:rPr lang="en-US" sz="1200" b="1" dirty="0">
                          <a:solidFill>
                            <a:schemeClr val="bg1"/>
                          </a:solidFill>
                        </a:rPr>
                        <a:t>Worst 25%</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r>
              <a:tr h="393192">
                <a:tc>
                  <a:txBody>
                    <a:bodyPr/>
                    <a:lstStyle/>
                    <a:p>
                      <a:pPr algn="l" indent="0" marL="0">
                        <a:buNone/>
                      </a:pPr>
                      <a:r>
                        <a:rPr lang="en-US" sz="1200" dirty="0">
                          <a:solidFill>
                            <a:schemeClr val="tx1"/>
                          </a:solidFill>
                        </a:rPr>
                        <a:t>Draw, t/day</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algn="l" indent="0" marL="0">
                        <a:buNone/>
                      </a:pPr>
                      <a:r>
                        <a:rPr lang="en-US" sz="1200" b="1" dirty="0">
                          <a:solidFill>
                            <a:schemeClr val="accent3"/>
                          </a:solidFill>
                        </a:rPr>
                        <a:t>57.8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57.7</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57.5</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393192">
                <a:tc>
                  <a:txBody>
                    <a:bodyPr/>
                    <a:lstStyle/>
                    <a:p>
                      <a:pPr algn="l" indent="0" marL="0">
                        <a:buNone/>
                      </a:pPr>
                      <a:r>
                        <a:rPr lang="en-US" sz="1200" dirty="0">
                          <a:solidFill>
                            <a:schemeClr val="tx1"/>
                          </a:solidFill>
                        </a:rPr>
                        <a:t>SFC, kcal/kg</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accent3"/>
                          </a:solidFill>
                        </a:rPr>
                        <a:t>1,550</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1,579</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1,604</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393192">
                <a:tc>
                  <a:txBody>
                    <a:bodyPr/>
                    <a:lstStyle/>
                    <a:p>
                      <a:pPr algn="l" indent="0" marL="0">
                        <a:buNone/>
                      </a:pPr>
                      <a:r>
                        <a:rPr lang="en-US" sz="1200" dirty="0">
                          <a:solidFill>
                            <a:schemeClr val="tx1"/>
                          </a:solidFill>
                        </a:rPr>
                        <a:t>Energy vs baseline (draw-adjusted)</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algn="l" indent="0" marL="0">
                        <a:buNone/>
                      </a:pPr>
                      <a:r>
                        <a:rPr lang="en-US" sz="1200" b="1" dirty="0">
                          <a:solidFill>
                            <a:schemeClr val="accent3"/>
                          </a:solidFill>
                        </a:rPr>
                        <a:t>-1.35%</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+0.29%</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+1.64%</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393192">
                <a:tc>
                  <a:txBody>
                    <a:bodyPr/>
                    <a:lstStyle/>
                    <a:p>
                      <a:pPr algn="l" indent="0" marL="0">
                        <a:buNone/>
                      </a:pPr>
                      <a:r>
                        <a:rPr lang="en-US" sz="1200" dirty="0">
                          <a:solidFill>
                            <a:schemeClr val="tx1"/>
                          </a:solidFill>
                        </a:rPr>
                        <a:t>Secondary air per Mcal, SCM</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accent3"/>
                          </a:solidFill>
                        </a:rPr>
                        <a:t>1.261</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1.268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1.271</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393192">
                <a:tc>
                  <a:txBody>
                    <a:bodyPr/>
                    <a:lstStyle/>
                    <a:p>
                      <a:pPr algn="l" indent="0" marL="0">
                        <a:buNone/>
                      </a:pPr>
                      <a:r>
                        <a:rPr lang="en-US" sz="1200" dirty="0">
                          <a:solidFill>
                            <a:schemeClr val="tx1"/>
                          </a:solidFill>
                        </a:rPr>
                        <a:t>Melter boost, kWh/day</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algn="l" indent="0" marL="0">
                        <a:buNone/>
                      </a:pPr>
                      <a:r>
                        <a:rPr lang="en-US" sz="1200" b="1" dirty="0">
                          <a:solidFill>
                            <a:schemeClr val="accent3"/>
                          </a:solidFill>
                        </a:rPr>
                        <a:t>7,603</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7,688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8,036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393192">
                <a:tc>
                  <a:txBody>
                    <a:bodyPr/>
                    <a:lstStyle/>
                    <a:p>
                      <a:pPr algn="l" indent="0" marL="0">
                        <a:buNone/>
                      </a:pPr>
                      <a:r>
                        <a:rPr lang="en-US" sz="1200" dirty="0">
                          <a:solidFill>
                            <a:schemeClr val="tx1"/>
                          </a:solidFill>
                        </a:rPr>
                        <a:t>Barrier boost, kWh/day</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accent3"/>
                          </a:solidFill>
                        </a:rPr>
                        <a:t>8,726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8,822</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8,801</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393192">
                <a:tc>
                  <a:txBody>
                    <a:bodyPr/>
                    <a:lstStyle/>
                    <a:p>
                      <a:pPr algn="l" indent="0" marL="0">
                        <a:buNone/>
                      </a:pPr>
                      <a:r>
                        <a:rPr lang="en-US" sz="1200" dirty="0">
                          <a:solidFill>
                            <a:schemeClr val="tx1"/>
                          </a:solidFill>
                        </a:rPr>
                        <a:t>MB3 bottom, °C</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algn="l" indent="0" marL="0">
                        <a:buNone/>
                      </a:pPr>
                      <a:r>
                        <a:rPr lang="en-US" sz="1200" b="1" dirty="0">
                          <a:solidFill>
                            <a:schemeClr val="accent3"/>
                          </a:solidFill>
                        </a:rPr>
                        <a:t>1,320.0</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1,320.5</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1,320.7</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393192">
                <a:tc>
                  <a:txBody>
                    <a:bodyPr/>
                    <a:lstStyle/>
                    <a:p>
                      <a:pPr algn="l" indent="0" marL="0">
                        <a:buNone/>
                      </a:pPr>
                      <a:r>
                        <a:rPr lang="en-US" sz="1200" dirty="0">
                          <a:solidFill>
                            <a:schemeClr val="tx1"/>
                          </a:solidFill>
                        </a:rPr>
                        <a:t>Gas NCV, kcal/SCM</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accent3"/>
                          </a:solidFill>
                        </a:rPr>
                        <a:t>9,807</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9,613</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9,415</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393192">
                <a:tc>
                  <a:txBody>
                    <a:bodyPr/>
                    <a:lstStyle/>
                    <a:p>
                      <a:pPr algn="l" indent="0" marL="0">
                        <a:buNone/>
                      </a:pPr>
                      <a:r>
                        <a:rPr lang="en-US" sz="1200" dirty="0">
                          <a:solidFill>
                            <a:schemeClr val="tx1"/>
                          </a:solidFill>
                        </a:rPr>
                        <a:t>Optical crown, °C</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algn="l" indent="0" marL="0">
                        <a:buNone/>
                      </a:pPr>
                      <a:r>
                        <a:rPr lang="en-US" sz="1200" b="1" dirty="0">
                          <a:solidFill>
                            <a:schemeClr val="accent3"/>
                          </a:solidFill>
                        </a:rPr>
                        <a:t>1,574.6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1,574.5</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1,574.5</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393192">
                <a:tc>
                  <a:txBody>
                    <a:bodyPr/>
                    <a:lstStyle/>
                    <a:p>
                      <a:pPr algn="l" indent="0" marL="0">
                        <a:buNone/>
                      </a:pPr>
                      <a:r>
                        <a:rPr lang="en-US" sz="1200" dirty="0">
                          <a:solidFill>
                            <a:schemeClr val="tx1"/>
                          </a:solidFill>
                        </a:rPr>
                        <a:t>Seeds</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accent3"/>
                          </a:solidFill>
                        </a:rPr>
                        <a:t>13.6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14.8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15.6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bl>
          </a:graphicData>
        </a:graphic>
      </p:graphicFrame>
      <p:sp>
        <p:nvSpPr>
          <p:cNvPr id="5" name="card"/>
          <p:cNvSpPr/>
          <p:nvPr/>
        </p:nvSpPr>
        <p:spPr>
          <a:xfrm>
            <a:off x="8092440" y="1600200"/>
            <a:ext cx="3547872" cy="4617720"/>
          </a:xfrm>
          <a:prstGeom prst="roundRect">
            <a:avLst>
              <a:gd name="adj" fmla="val 2062"/>
            </a:avLst>
          </a:prstGeom>
          <a:solidFill>
            <a:schemeClr val="tx2"/>
          </a:solidFill>
          <a:ln/>
        </p:spPr>
      </p:sp>
      <p:sp>
        <p:nvSpPr>
          <p:cNvPr id="6" name="Text 3"/>
          <p:cNvSpPr txBox="1"/>
          <p:nvPr/>
        </p:nvSpPr>
        <p:spPr>
          <a:xfrm>
            <a:off x="8321040" y="1783080"/>
            <a:ext cx="3108960" cy="365760"/>
          </a:xfrm>
          <a:prstGeom prst="rect">
            <a:avLst/>
          </a:prstGeom>
          <a:noFill/>
          <a:ln/>
        </p:spPr>
        <p:txBody>
          <a:bodyPr wrap="square" lIns="0" tIns="0" rIns="0" bIns="0" rtlCol="0" anchor="t"/>
          <a:lstStyle/>
          <a:p>
            <a:pPr indent="0" marL="0">
              <a:buNone/>
            </a:pPr>
            <a:r>
              <a:rPr lang="en-US" sz="1800" b="1" dirty="0">
                <a:solidFill>
                  <a:schemeClr val="accent5"/>
                </a:solidFill>
              </a:rPr>
              <a:t>Golden-day recipe</a:t>
            </a:r>
            <a:endParaRPr lang="en-US" sz="1800" dirty="0"/>
          </a:p>
        </p:txBody>
      </p:sp>
      <p:sp>
        <p:nvSpPr>
          <p:cNvPr id="7" name="Text 4"/>
          <p:cNvSpPr txBox="1"/>
          <p:nvPr/>
        </p:nvSpPr>
        <p:spPr>
          <a:xfrm>
            <a:off x="8321040" y="2286000"/>
            <a:ext cx="3108960" cy="2743200"/>
          </a:xfrm>
          <a:prstGeom prst="rect">
            <a:avLst/>
          </a:prstGeom>
          <a:noFill/>
          <a:ln/>
        </p:spPr>
        <p:txBody>
          <a:bodyPr wrap="square" lIns="0" tIns="0" rIns="0" bIns="0" rtlCol="0" anchor="t"/>
          <a:lstStyle/>
          <a:p>
            <a:pPr marL="190500" indent="-190500">
              <a:spcAft>
                <a:spcPts val="600"/>
              </a:spcAft>
              <a:buSzPct val="100000"/>
              <a:buChar char="•"/>
            </a:pPr>
            <a:r>
              <a:rPr lang="en-US" sz="1500" dirty="0">
                <a:solidFill>
                  <a:schemeClr val="bg1"/>
                </a:solidFill>
              </a:rPr>
              <a:t>Leaner air: ≈ 1.26 SCM per Mcal</a:t>
            </a:r>
            <a:endParaRPr lang="en-US" sz="1500" dirty="0"/>
          </a:p>
          <a:p>
            <a:pPr marL="190500" indent="-190500">
              <a:spcAft>
                <a:spcPts val="600"/>
              </a:spcAft>
              <a:buSzPct val="100000"/>
              <a:buChar char="•"/>
            </a:pPr>
            <a:r>
              <a:rPr lang="en-US" sz="1500" dirty="0">
                <a:solidFill>
                  <a:schemeClr val="bg1"/>
                </a:solidFill>
              </a:rPr>
              <a:t>Bottom held near 1,320 °C, not hotter</a:t>
            </a:r>
            <a:endParaRPr lang="en-US" sz="1500" dirty="0"/>
          </a:p>
          <a:p>
            <a:pPr marL="190500" indent="-190500">
              <a:spcAft>
                <a:spcPts val="600"/>
              </a:spcAft>
              <a:buSzPct val="100000"/>
              <a:buChar char="•"/>
            </a:pPr>
            <a:r>
              <a:rPr lang="en-US" sz="1500" dirty="0">
                <a:solidFill>
                  <a:schemeClr val="bg1"/>
                </a:solidFill>
              </a:rPr>
              <a:t>≈ 430 kWh/day less melter boost</a:t>
            </a:r>
            <a:endParaRPr lang="en-US" sz="1500" dirty="0"/>
          </a:p>
          <a:p>
            <a:pPr marL="190500" indent="-190500">
              <a:spcAft>
                <a:spcPts val="600"/>
              </a:spcAft>
              <a:buSzPct val="100000"/>
              <a:buChar char="•"/>
            </a:pPr>
            <a:r>
              <a:rPr lang="en-US" sz="1500" dirty="0">
                <a:solidFill>
                  <a:schemeClr val="bg1"/>
                </a:solidFill>
              </a:rPr>
              <a:t>Gas matched to NCV (richer gas, less SCM)</a:t>
            </a:r>
            <a:endParaRPr lang="en-US" sz="1500" dirty="0"/>
          </a:p>
          <a:p>
            <a:pPr marL="190500" indent="-190500">
              <a:spcAft>
                <a:spcPts val="600"/>
              </a:spcAft>
              <a:buSzPct val="100000"/>
              <a:buChar char="•"/>
            </a:pPr>
            <a:r>
              <a:rPr lang="en-US" sz="1500" dirty="0">
                <a:solidFill>
                  <a:schemeClr val="bg1"/>
                </a:solidFill>
              </a:rPr>
              <a:t>Same crown temperature, fewer seeds</a:t>
            </a:r>
            <a:endParaRPr lang="en-US" sz="1500" dirty="0"/>
          </a:p>
        </p:txBody>
      </p:sp>
      <p:sp>
        <p:nvSpPr>
          <p:cNvPr id="8" name="Text 5"/>
          <p:cNvSpPr txBox="1"/>
          <p:nvPr/>
        </p:nvSpPr>
        <p:spPr>
          <a:xfrm>
            <a:off x="8321040" y="5074920"/>
            <a:ext cx="3108960" cy="1005840"/>
          </a:xfrm>
          <a:prstGeom prst="rect">
            <a:avLst/>
          </a:prstGeom>
          <a:noFill/>
          <a:ln/>
        </p:spPr>
        <p:txBody>
          <a:bodyPr wrap="square" lIns="0" tIns="0" rIns="0" bIns="0" rtlCol="0" anchor="t"/>
          <a:lstStyle/>
          <a:p>
            <a:pPr indent="0" marL="0">
              <a:buNone/>
            </a:pPr>
            <a:r>
              <a:rPr lang="en-US" sz="1300" i="1" dirty="0">
                <a:solidFill>
                  <a:srgbClr val="C9D3E0"/>
                </a:solidFill>
              </a:rPr>
              <a:t>The recommender reproduces these days: its gas target is the level the best quarter of comparable days achieved.</a:t>
            </a:r>
            <a:endParaRPr lang="en-US" sz="13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Lowest vs highest SFC days: what happened</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The extremes are set by draw: the lowest-SFC days ran 60–61.5 t, the highest ran below 51 t</a:t>
            </a:r>
            <a:endParaRPr lang="en-US" sz="1600" dirty="0"/>
          </a:p>
        </p:txBody>
      </p:sp>
      <p:sp>
        <p:nvSpPr>
          <p:cNvPr id="4" name="Text 2"/>
          <p:cNvSpPr txBox="1"/>
          <p:nvPr/>
        </p:nvSpPr>
        <p:spPr>
          <a:xfrm>
            <a:off x="548640" y="1554480"/>
            <a:ext cx="5486400" cy="365760"/>
          </a:xfrm>
          <a:prstGeom prst="rect">
            <a:avLst/>
          </a:prstGeom>
          <a:noFill/>
          <a:ln/>
        </p:spPr>
        <p:txBody>
          <a:bodyPr wrap="square" lIns="0" tIns="0" rIns="0" bIns="0" rtlCol="0" anchor="t"/>
          <a:lstStyle/>
          <a:p>
            <a:pPr indent="0" marL="0">
              <a:buNone/>
            </a:pPr>
            <a:r>
              <a:rPr lang="en-US" sz="1600" b="1" dirty="0">
                <a:solidFill>
                  <a:schemeClr val="accent3"/>
                </a:solidFill>
              </a:rPr>
              <a:t>5 lowest-SFC days</a:t>
            </a:r>
            <a:endParaRPr lang="en-US" sz="1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5989320" cy="914400"/>
        </p:xfrm>
        <a:graphic>
          <a:graphicData uri="http://schemas.openxmlformats.org/drawingml/2006/table">
            <a:tbl>
              <a:tblPr/>
              <a:tblGrid>
                <a:gridCol w="1143000"/>
                <a:gridCol w="731520"/>
                <a:gridCol w="731520"/>
                <a:gridCol w="868680"/>
                <a:gridCol w="1005840"/>
                <a:gridCol w="868680"/>
                <a:gridCol w="640080"/>
              </a:tblGrid>
              <a:tr h="301752">
                <a:tc>
                  <a:txBody>
                    <a:bodyPr/>
                    <a:lstStyle/>
                    <a:p>
                      <a:pPr indent="0" marL="0">
                        <a:buNone/>
                      </a:pPr>
                      <a:r>
                        <a:rPr lang="en-US" sz="1200" b="1" dirty="0">
                          <a:solidFill>
                            <a:schemeClr val="bg1"/>
                          </a:solidFill>
                        </a:rPr>
                        <a:t>Date</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Draw t</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SFC</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Gas Gcal</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Barrier kWh</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MB3 °C</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Seeds</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r>
              <a:tr h="301752">
                <a:tc>
                  <a:txBody>
                    <a:bodyPr/>
                    <a:lstStyle/>
                    <a:p>
                      <a:pPr indent="0" marL="0">
                        <a:buNone/>
                      </a:pPr>
                      <a:r>
                        <a:rPr lang="en-US" sz="1200" dirty="0">
                          <a:solidFill>
                            <a:schemeClr val="tx1"/>
                          </a:solidFill>
                        </a:rPr>
                        <a:t>2025-10-20</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60.2</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1,483</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72.6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11,333</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1,319.7</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10</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301752">
                <a:tc>
                  <a:txBody>
                    <a:bodyPr/>
                    <a:lstStyle/>
                    <a:p>
                      <a:pPr indent="0" marL="0">
                        <a:buNone/>
                      </a:pPr>
                      <a:r>
                        <a:rPr lang="en-US" sz="1200" dirty="0">
                          <a:solidFill>
                            <a:schemeClr val="tx1"/>
                          </a:solidFill>
                        </a:rPr>
                        <a:t>2026-01-24</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61.5</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1,488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74.6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12,292</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1,324.3</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14</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301752">
                <a:tc>
                  <a:txBody>
                    <a:bodyPr/>
                    <a:lstStyle/>
                    <a:p>
                      <a:pPr indent="0" marL="0">
                        <a:buNone/>
                      </a:pPr>
                      <a:r>
                        <a:rPr lang="en-US" sz="1200" dirty="0">
                          <a:solidFill>
                            <a:schemeClr val="tx1"/>
                          </a:solidFill>
                        </a:rPr>
                        <a:t>2025-10-17</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60.2</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1,488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72.8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12,208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1,319.2</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11</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301752">
                <a:tc>
                  <a:txBody>
                    <a:bodyPr/>
                    <a:lstStyle/>
                    <a:p>
                      <a:pPr indent="0" marL="0">
                        <a:buNone/>
                      </a:pPr>
                      <a:r>
                        <a:rPr lang="en-US" sz="1200" dirty="0">
                          <a:solidFill>
                            <a:schemeClr val="tx1"/>
                          </a:solidFill>
                        </a:rPr>
                        <a:t>2025-10-16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59.7</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1,490</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73.5</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10,633</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1,318.6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11</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301752">
                <a:tc>
                  <a:txBody>
                    <a:bodyPr/>
                    <a:lstStyle/>
                    <a:p>
                      <a:pPr indent="0" marL="0">
                        <a:buNone/>
                      </a:pPr>
                      <a:r>
                        <a:rPr lang="en-US" sz="1200" dirty="0">
                          <a:solidFill>
                            <a:schemeClr val="tx1"/>
                          </a:solidFill>
                        </a:rPr>
                        <a:t>2025-10-22</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60.4</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1,491</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72.7</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12,072</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1,319.4</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7</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bl>
          </a:graphicData>
        </a:graphic>
      </p:graphicFrame>
      <p:sp>
        <p:nvSpPr>
          <p:cNvPr id="6" name="Text 3"/>
          <p:cNvSpPr txBox="1"/>
          <p:nvPr/>
        </p:nvSpPr>
        <p:spPr>
          <a:xfrm>
            <a:off x="548640" y="3931920"/>
            <a:ext cx="5486400" cy="365760"/>
          </a:xfrm>
          <a:prstGeom prst="rect">
            <a:avLst/>
          </a:prstGeom>
          <a:noFill/>
          <a:ln/>
        </p:spPr>
        <p:txBody>
          <a:bodyPr wrap="square" lIns="0" tIns="0" rIns="0" bIns="0" rtlCol="0" anchor="t"/>
          <a:lstStyle/>
          <a:p>
            <a:pPr indent="0" marL="0">
              <a:buNone/>
            </a:pPr>
            <a:r>
              <a:rPr lang="en-US" sz="1600" b="1" dirty="0">
                <a:solidFill>
                  <a:schemeClr val="accent2"/>
                </a:solidFill>
              </a:rPr>
              <a:t>5 highest-SFC days</a:t>
            </a:r>
            <a:endParaRPr lang="en-US" sz="1600" dirty="0"/>
          </a:p>
        </p:txBody>
      </p:sp>
      <p:graphicFrame>
        <p:nvGraphicFramePr>
          <p:cNvPr id="45" name="Table 1"/>
          <p:cNvGraphicFramePr>
            <a:graphicFrameLocks noGrp="1"/>
          </p:cNvGraphicFramePr>
          <p:nvPr>
            <p:extLst>
              <p:ext uri="{D42A27DB-BD31-4B8C-83A1-F6EECF244321}">
                <p14:modId xmlns:p14="http://schemas.microsoft.com/office/powerpoint/2010/main" val="1579011935"/>
              </p:ext>
            </p:extLst>
          </p:nvPr>
        </p:nvGraphicFramePr>
        <p:xfrm>
          <a:off x="548640" y="4297680"/>
          <a:ext cx="5989320" cy="914400"/>
        </p:xfrm>
        <a:graphic>
          <a:graphicData uri="http://schemas.openxmlformats.org/drawingml/2006/table">
            <a:tbl>
              <a:tblPr/>
              <a:tblGrid>
                <a:gridCol w="1143000"/>
                <a:gridCol w="731520"/>
                <a:gridCol w="731520"/>
                <a:gridCol w="868680"/>
                <a:gridCol w="1005840"/>
                <a:gridCol w="868680"/>
                <a:gridCol w="640080"/>
              </a:tblGrid>
              <a:tr h="301752">
                <a:tc>
                  <a:txBody>
                    <a:bodyPr/>
                    <a:lstStyle/>
                    <a:p>
                      <a:pPr indent="0" marL="0">
                        <a:buNone/>
                      </a:pPr>
                      <a:r>
                        <a:rPr lang="en-US" sz="1200" b="1" dirty="0">
                          <a:solidFill>
                            <a:schemeClr val="bg1"/>
                          </a:solidFill>
                        </a:rPr>
                        <a:t>Date</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Draw t</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SFC</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Gas Gcal</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Barrier kWh</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MB3 °C</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Seeds</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r>
              <a:tr h="301752">
                <a:tc>
                  <a:txBody>
                    <a:bodyPr/>
                    <a:lstStyle/>
                    <a:p>
                      <a:pPr indent="0" marL="0">
                        <a:buNone/>
                      </a:pPr>
                      <a:r>
                        <a:rPr lang="en-US" sz="1200" dirty="0">
                          <a:solidFill>
                            <a:schemeClr val="tx1"/>
                          </a:solidFill>
                        </a:rPr>
                        <a:t>2026-06-25</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47.8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1,787</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77.5</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3,381</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1,319.4</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14</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301752">
                <a:tc>
                  <a:txBody>
                    <a:bodyPr/>
                    <a:lstStyle/>
                    <a:p>
                      <a:pPr indent="0" marL="0">
                        <a:buNone/>
                      </a:pPr>
                      <a:r>
                        <a:rPr lang="en-US" sz="1200" dirty="0">
                          <a:solidFill>
                            <a:schemeClr val="tx1"/>
                          </a:solidFill>
                        </a:rPr>
                        <a:t>2026-06-26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48.0</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1,785</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78.0</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2,952</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1,320.1</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17</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301752">
                <a:tc>
                  <a:txBody>
                    <a:bodyPr/>
                    <a:lstStyle/>
                    <a:p>
                      <a:pPr indent="0" marL="0">
                        <a:buNone/>
                      </a:pPr>
                      <a:r>
                        <a:rPr lang="en-US" sz="1200" dirty="0">
                          <a:solidFill>
                            <a:schemeClr val="tx1"/>
                          </a:solidFill>
                        </a:rPr>
                        <a:t>2026-06-27</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47.8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1,769</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77.5</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2,602</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1,320.6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12</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301752">
                <a:tc>
                  <a:txBody>
                    <a:bodyPr/>
                    <a:lstStyle/>
                    <a:p>
                      <a:pPr indent="0" marL="0">
                        <a:buNone/>
                      </a:pPr>
                      <a:r>
                        <a:rPr lang="en-US" sz="1200" dirty="0">
                          <a:solidFill>
                            <a:schemeClr val="tx1"/>
                          </a:solidFill>
                        </a:rPr>
                        <a:t>2026-07-18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49.5</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1,763</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76.8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4,825</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1,318.3</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12</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301752">
                <a:tc>
                  <a:txBody>
                    <a:bodyPr/>
                    <a:lstStyle/>
                    <a:p>
                      <a:pPr indent="0" marL="0">
                        <a:buNone/>
                      </a:pPr>
                      <a:r>
                        <a:rPr lang="en-US" sz="1200" dirty="0">
                          <a:solidFill>
                            <a:schemeClr val="tx1"/>
                          </a:solidFill>
                        </a:rPr>
                        <a:t>2026-09-23</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50.6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1,754</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77.6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6,885</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1,317.1</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11</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bl>
          </a:graphicData>
        </a:graphic>
      </p:graphicFrame>
      <p:sp>
        <p:nvSpPr>
          <p:cNvPr id="8" name="card"/>
          <p:cNvSpPr/>
          <p:nvPr/>
        </p:nvSpPr>
        <p:spPr>
          <a:xfrm>
            <a:off x="6903720" y="1600200"/>
            <a:ext cx="4736592" cy="2240280"/>
          </a:xfrm>
          <a:prstGeom prst="roundRect">
            <a:avLst>
              <a:gd name="adj" fmla="val 3265"/>
            </a:avLst>
          </a:prstGeom>
          <a:solidFill>
            <a:schemeClr val="bg2"/>
          </a:solidFill>
          <a:ln/>
        </p:spPr>
      </p:sp>
      <p:sp>
        <p:nvSpPr>
          <p:cNvPr id="9" name="Text 5"/>
          <p:cNvSpPr txBox="1"/>
          <p:nvPr/>
        </p:nvSpPr>
        <p:spPr>
          <a:xfrm>
            <a:off x="7132320" y="1737360"/>
            <a:ext cx="4297680" cy="365760"/>
          </a:xfrm>
          <a:prstGeom prst="rect">
            <a:avLst/>
          </a:prstGeom>
          <a:noFill/>
          <a:ln/>
        </p:spPr>
        <p:txBody>
          <a:bodyPr wrap="square" lIns="0" tIns="0" rIns="0" bIns="0" rtlCol="0" anchor="t"/>
          <a:lstStyle/>
          <a:p>
            <a:pPr indent="0" marL="0">
              <a:buNone/>
            </a:pPr>
            <a:r>
              <a:rPr lang="en-US" sz="1500" b="1" dirty="0">
                <a:solidFill>
                  <a:schemeClr val="accent3"/>
                </a:solidFill>
              </a:rPr>
              <a:t>Lowest SFC: 1,483–1,491 kcal/kg</a:t>
            </a:r>
            <a:endParaRPr lang="en-US" sz="1500" dirty="0"/>
          </a:p>
        </p:txBody>
      </p:sp>
      <p:sp>
        <p:nvSpPr>
          <p:cNvPr id="10" name="Text 6"/>
          <p:cNvSpPr txBox="1"/>
          <p:nvPr/>
        </p:nvSpPr>
        <p:spPr>
          <a:xfrm>
            <a:off x="7132320" y="2148840"/>
            <a:ext cx="4297680" cy="164592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tx1"/>
                </a:solidFill>
              </a:rPr>
              <a:t>Oct 2025 and Jan 2026, draw 60–61.5 t/day</a:t>
            </a:r>
            <a:endParaRPr lang="en-US" sz="1400" dirty="0"/>
          </a:p>
          <a:p>
            <a:pPr marL="190500" indent="-190500">
              <a:spcAft>
                <a:spcPts val="600"/>
              </a:spcAft>
              <a:buSzPct val="100000"/>
              <a:buChar char="•"/>
            </a:pPr>
            <a:r>
              <a:rPr lang="en-US" sz="1400" dirty="0">
                <a:solidFill>
                  <a:schemeClr val="tx1"/>
                </a:solidFill>
              </a:rPr>
              <a:t>Gas only 72.6–74.6 Gcal/day, air per Mcal 1.25–1.26</a:t>
            </a:r>
            <a:endParaRPr lang="en-US" sz="1400" dirty="0"/>
          </a:p>
          <a:p>
            <a:pPr marL="190500" indent="-190500">
              <a:spcAft>
                <a:spcPts val="600"/>
              </a:spcAft>
              <a:buSzPct val="100000"/>
              <a:buChar char="•"/>
            </a:pPr>
            <a:r>
              <a:rPr lang="en-US" sz="1400" dirty="0">
                <a:solidFill>
                  <a:schemeClr val="tx1"/>
                </a:solidFill>
              </a:rPr>
              <a:t>Seeds 7–14: quality was better, not worse</a:t>
            </a:r>
            <a:endParaRPr lang="en-US" sz="1400" dirty="0"/>
          </a:p>
        </p:txBody>
      </p:sp>
      <p:sp>
        <p:nvSpPr>
          <p:cNvPr id="11" name="card"/>
          <p:cNvSpPr/>
          <p:nvPr/>
        </p:nvSpPr>
        <p:spPr>
          <a:xfrm>
            <a:off x="6903720" y="4023360"/>
            <a:ext cx="4736592" cy="2240280"/>
          </a:xfrm>
          <a:prstGeom prst="roundRect">
            <a:avLst>
              <a:gd name="adj" fmla="val 3265"/>
            </a:avLst>
          </a:prstGeom>
          <a:solidFill>
            <a:schemeClr val="bg2"/>
          </a:solidFill>
          <a:ln/>
        </p:spPr>
      </p:sp>
      <p:sp>
        <p:nvSpPr>
          <p:cNvPr id="12" name="Text 8"/>
          <p:cNvSpPr txBox="1"/>
          <p:nvPr/>
        </p:nvSpPr>
        <p:spPr>
          <a:xfrm>
            <a:off x="7132320" y="4160520"/>
            <a:ext cx="4297680" cy="365760"/>
          </a:xfrm>
          <a:prstGeom prst="rect">
            <a:avLst/>
          </a:prstGeom>
          <a:noFill/>
          <a:ln/>
        </p:spPr>
        <p:txBody>
          <a:bodyPr wrap="square" lIns="0" tIns="0" rIns="0" bIns="0" rtlCol="0" anchor="t"/>
          <a:lstStyle/>
          <a:p>
            <a:pPr indent="0" marL="0">
              <a:buNone/>
            </a:pPr>
            <a:r>
              <a:rPr lang="en-US" sz="1500" b="1" dirty="0">
                <a:solidFill>
                  <a:schemeClr val="accent2"/>
                </a:solidFill>
              </a:rPr>
              <a:t>Highest SFC: 1,754–1,787 kcal/kg</a:t>
            </a:r>
            <a:endParaRPr lang="en-US" sz="1500" dirty="0"/>
          </a:p>
        </p:txBody>
      </p:sp>
      <p:sp>
        <p:nvSpPr>
          <p:cNvPr id="13" name="Text 9"/>
          <p:cNvSpPr txBox="1"/>
          <p:nvPr/>
        </p:nvSpPr>
        <p:spPr>
          <a:xfrm>
            <a:off x="7132320" y="4572000"/>
            <a:ext cx="4297680" cy="164592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tx1"/>
                </a:solidFill>
              </a:rPr>
              <a:t>25–27 Jun 2026 at 47.8 t/day, the lowest draw of the year</a:t>
            </a:r>
            <a:endParaRPr lang="en-US" sz="1400" dirty="0"/>
          </a:p>
          <a:p>
            <a:pPr marL="190500" indent="-190500">
              <a:spcAft>
                <a:spcPts val="600"/>
              </a:spcAft>
              <a:buSzPct val="100000"/>
              <a:buChar char="•"/>
            </a:pPr>
            <a:r>
              <a:rPr lang="en-US" sz="1400" dirty="0">
                <a:solidFill>
                  <a:schemeClr val="tx1"/>
                </a:solidFill>
              </a:rPr>
              <a:t>Draw fell 17% but gas stayed at 77.5 Gcal/day: the fixed heat loss is spread over fewer tonnes</a:t>
            </a:r>
            <a:endParaRPr lang="en-US" sz="1400" dirty="0"/>
          </a:p>
          <a:p>
            <a:pPr marL="190500" indent="-190500">
              <a:spcAft>
                <a:spcPts val="600"/>
              </a:spcAft>
              <a:buSzPct val="100000"/>
              <a:buChar char="•"/>
            </a:pPr>
            <a:r>
              <a:rPr lang="en-US" sz="1400" dirty="0">
                <a:solidFill>
                  <a:schemeClr val="tx1"/>
                </a:solidFill>
              </a:rPr>
              <a:t>Barrier boost was cut to 2,600–3,400 kWh/day</a:t>
            </a:r>
            <a:endParaRPr lang="en-US" sz="14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Same draw, different SFC: operation makes the gap</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At similar draw, the best and worst days differ by up to 11 Gcal/day of gas: the part the recommender controls</a:t>
            </a:r>
            <a:endParaRPr lang="en-US" sz="1600" dirty="0"/>
          </a:p>
        </p:txBody>
      </p:sp>
      <p:sp>
        <p:nvSpPr>
          <p:cNvPr id="4" name="Text 2"/>
          <p:cNvSpPr txBox="1"/>
          <p:nvPr/>
        </p:nvSpPr>
        <p:spPr>
          <a:xfrm>
            <a:off x="548640" y="1554480"/>
            <a:ext cx="5486400" cy="365760"/>
          </a:xfrm>
          <a:prstGeom prst="rect">
            <a:avLst/>
          </a:prstGeom>
          <a:noFill/>
          <a:ln/>
        </p:spPr>
        <p:txBody>
          <a:bodyPr wrap="square" lIns="0" tIns="0" rIns="0" bIns="0" rtlCol="0" anchor="t"/>
          <a:lstStyle/>
          <a:p>
            <a:pPr indent="0" marL="0">
              <a:buNone/>
            </a:pPr>
            <a:r>
              <a:rPr lang="en-US" sz="1600" b="1" dirty="0">
                <a:solidFill>
                  <a:schemeClr val="accent3"/>
                </a:solidFill>
              </a:rPr>
              <a:t>Best days (draw-adjusted)</a:t>
            </a:r>
            <a:endParaRPr lang="en-US" sz="1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6263640" cy="914400"/>
        </p:xfrm>
        <a:graphic>
          <a:graphicData uri="http://schemas.openxmlformats.org/drawingml/2006/table">
            <a:tbl>
              <a:tblPr/>
              <a:tblGrid>
                <a:gridCol w="1143000"/>
                <a:gridCol w="731520"/>
                <a:gridCol w="731520"/>
                <a:gridCol w="960120"/>
                <a:gridCol w="868680"/>
                <a:gridCol w="1005840"/>
                <a:gridCol w="822960"/>
              </a:tblGrid>
              <a:tr h="329184">
                <a:tc>
                  <a:txBody>
                    <a:bodyPr/>
                    <a:lstStyle/>
                    <a:p>
                      <a:pPr indent="0" marL="0">
                        <a:buNone/>
                      </a:pPr>
                      <a:r>
                        <a:rPr lang="en-US" sz="1200" b="1" dirty="0">
                          <a:solidFill>
                            <a:schemeClr val="bg1"/>
                          </a:solidFill>
                        </a:rPr>
                        <a:t>Date</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Draw t</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SFC</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vs baseline</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Gas Gcal</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Barrier kWh</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MB3 °C</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r>
              <a:tr h="329184">
                <a:tc>
                  <a:txBody>
                    <a:bodyPr/>
                    <a:lstStyle/>
                    <a:p>
                      <a:pPr indent="0" marL="0">
                        <a:buNone/>
                      </a:pPr>
                      <a:r>
                        <a:rPr lang="en-US" sz="1200" dirty="0">
                          <a:solidFill>
                            <a:schemeClr val="tx1"/>
                          </a:solidFill>
                        </a:rPr>
                        <a:t>2026-06-03</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57.8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1,495</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-4.9%</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72.2</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9,257</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1,322.4</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329184">
                <a:tc>
                  <a:txBody>
                    <a:bodyPr/>
                    <a:lstStyle/>
                    <a:p>
                      <a:pPr indent="0" marL="0">
                        <a:buNone/>
                      </a:pPr>
                      <a:r>
                        <a:rPr lang="en-US" sz="1200" dirty="0">
                          <a:solidFill>
                            <a:schemeClr val="tx1"/>
                          </a:solidFill>
                        </a:rPr>
                        <a:t>2026-04-23</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56.7</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1,515</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-4.8%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72.4</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8,416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1,319.5</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329184">
                <a:tc>
                  <a:txBody>
                    <a:bodyPr/>
                    <a:lstStyle/>
                    <a:p>
                      <a:pPr indent="0" marL="0">
                        <a:buNone/>
                      </a:pPr>
                      <a:r>
                        <a:rPr lang="en-US" sz="1200" dirty="0">
                          <a:solidFill>
                            <a:schemeClr val="tx1"/>
                          </a:solidFill>
                        </a:rPr>
                        <a:t>2026-02-24</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55.2</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1,538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-4.5%</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72.5</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7,204</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1,319.8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329184">
                <a:tc>
                  <a:txBody>
                    <a:bodyPr/>
                    <a:lstStyle/>
                    <a:p>
                      <a:pPr indent="0" marL="0">
                        <a:buNone/>
                      </a:pPr>
                      <a:r>
                        <a:rPr lang="en-US" sz="1200" dirty="0">
                          <a:solidFill>
                            <a:schemeClr val="tx1"/>
                          </a:solidFill>
                        </a:rPr>
                        <a:t>2025-10-11</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53.8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1,588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-3.4%</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72.7</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6,749</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1,319.0</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bl>
          </a:graphicData>
        </a:graphic>
      </p:graphicFrame>
      <p:sp>
        <p:nvSpPr>
          <p:cNvPr id="6" name="Text 3"/>
          <p:cNvSpPr txBox="1"/>
          <p:nvPr/>
        </p:nvSpPr>
        <p:spPr>
          <a:xfrm>
            <a:off x="548640" y="3840480"/>
            <a:ext cx="5486400" cy="365760"/>
          </a:xfrm>
          <a:prstGeom prst="rect">
            <a:avLst/>
          </a:prstGeom>
          <a:noFill/>
          <a:ln/>
        </p:spPr>
        <p:txBody>
          <a:bodyPr wrap="square" lIns="0" tIns="0" rIns="0" bIns="0" rtlCol="0" anchor="t"/>
          <a:lstStyle/>
          <a:p>
            <a:pPr indent="0" marL="0">
              <a:buNone/>
            </a:pPr>
            <a:r>
              <a:rPr lang="en-US" sz="1600" b="1" dirty="0">
                <a:solidFill>
                  <a:schemeClr val="accent2"/>
                </a:solidFill>
              </a:rPr>
              <a:t>Worst days (draw-adjusted)</a:t>
            </a:r>
            <a:endParaRPr lang="en-US" sz="1600" dirty="0"/>
          </a:p>
        </p:txBody>
      </p:sp>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548640" y="4206240"/>
          <a:ext cx="6263640" cy="914400"/>
        </p:xfrm>
        <a:graphic>
          <a:graphicData uri="http://schemas.openxmlformats.org/drawingml/2006/table">
            <a:tbl>
              <a:tblPr/>
              <a:tblGrid>
                <a:gridCol w="1143000"/>
                <a:gridCol w="731520"/>
                <a:gridCol w="731520"/>
                <a:gridCol w="960120"/>
                <a:gridCol w="868680"/>
                <a:gridCol w="1005840"/>
                <a:gridCol w="822960"/>
              </a:tblGrid>
              <a:tr h="329184">
                <a:tc>
                  <a:txBody>
                    <a:bodyPr/>
                    <a:lstStyle/>
                    <a:p>
                      <a:pPr indent="0" marL="0">
                        <a:buNone/>
                      </a:pPr>
                      <a:r>
                        <a:rPr lang="en-US" sz="1200" b="1" dirty="0">
                          <a:solidFill>
                            <a:schemeClr val="bg1"/>
                          </a:solidFill>
                        </a:rPr>
                        <a:t>Date</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Draw t</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SFC</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vs baseline</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Gas Gcal</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Barrier kWh</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MB3 °C</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r>
              <a:tr h="329184">
                <a:tc>
                  <a:txBody>
                    <a:bodyPr/>
                    <a:lstStyle/>
                    <a:p>
                      <a:pPr indent="0" marL="0">
                        <a:buNone/>
                      </a:pPr>
                      <a:r>
                        <a:rPr lang="en-US" sz="1200" dirty="0">
                          <a:solidFill>
                            <a:schemeClr val="tx1"/>
                          </a:solidFill>
                        </a:rPr>
                        <a:t>2026-06-29</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57.3</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1,670</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+5.7%</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83.2</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7,346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1,318.1</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329184">
                <a:tc>
                  <a:txBody>
                    <a:bodyPr/>
                    <a:lstStyle/>
                    <a:p>
                      <a:pPr indent="0" marL="0">
                        <a:buNone/>
                      </a:pPr>
                      <a:r>
                        <a:rPr lang="en-US" sz="1200" dirty="0">
                          <a:solidFill>
                            <a:schemeClr val="tx1"/>
                          </a:solidFill>
                        </a:rPr>
                        <a:t>2026-08-19</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61.9</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1,581</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+4.8%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82.2</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10,867</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1,324.6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329184">
                <a:tc>
                  <a:txBody>
                    <a:bodyPr/>
                    <a:lstStyle/>
                    <a:p>
                      <a:pPr indent="0" marL="0">
                        <a:buNone/>
                      </a:pPr>
                      <a:r>
                        <a:rPr lang="en-US" sz="1200" dirty="0">
                          <a:solidFill>
                            <a:schemeClr val="tx1"/>
                          </a:solidFill>
                        </a:rPr>
                        <a:t>2026-08-20</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61.6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1,578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+4.3%</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81.7</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10,623</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1,324.2</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329184">
                <a:tc>
                  <a:txBody>
                    <a:bodyPr/>
                    <a:lstStyle/>
                    <a:p>
                      <a:pPr indent="0" marL="0">
                        <a:buNone/>
                      </a:pPr>
                      <a:r>
                        <a:rPr lang="en-US" sz="1200" dirty="0">
                          <a:solidFill>
                            <a:schemeClr val="tx1"/>
                          </a:solidFill>
                        </a:rPr>
                        <a:t>2026-08-07</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60.5</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1,586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+3.8%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80.2</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11,148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1,322.4</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bl>
          </a:graphicData>
        </a:graphic>
      </p:graphicFrame>
      <p:sp>
        <p:nvSpPr>
          <p:cNvPr id="8" name="card"/>
          <p:cNvSpPr/>
          <p:nvPr/>
        </p:nvSpPr>
        <p:spPr>
          <a:xfrm>
            <a:off x="7178040" y="1600200"/>
            <a:ext cx="4462272" cy="4617720"/>
          </a:xfrm>
          <a:prstGeom prst="roundRect">
            <a:avLst>
              <a:gd name="adj" fmla="val 1639"/>
            </a:avLst>
          </a:prstGeom>
          <a:solidFill>
            <a:schemeClr val="tx2"/>
          </a:solidFill>
          <a:ln/>
        </p:spPr>
      </p:sp>
      <p:sp>
        <p:nvSpPr>
          <p:cNvPr id="9" name="Text 5"/>
          <p:cNvSpPr txBox="1"/>
          <p:nvPr/>
        </p:nvSpPr>
        <p:spPr>
          <a:xfrm>
            <a:off x="7406640" y="1783080"/>
            <a:ext cx="4023360" cy="365760"/>
          </a:xfrm>
          <a:prstGeom prst="rect">
            <a:avLst/>
          </a:prstGeom>
          <a:noFill/>
          <a:ln/>
        </p:spPr>
        <p:txBody>
          <a:bodyPr wrap="square" lIns="0" tIns="0" rIns="0" bIns="0" rtlCol="0" anchor="t"/>
          <a:lstStyle/>
          <a:p>
            <a:pPr indent="0" marL="0">
              <a:buNone/>
            </a:pPr>
            <a:r>
              <a:rPr lang="en-US" sz="1600" b="1" dirty="0">
                <a:solidFill>
                  <a:schemeClr val="accent5"/>
                </a:solidFill>
              </a:rPr>
              <a:t>19–20 Aug 2026: what happened</a:t>
            </a:r>
            <a:endParaRPr lang="en-US" sz="1600" dirty="0"/>
          </a:p>
        </p:txBody>
      </p:sp>
      <p:sp>
        <p:nvSpPr>
          <p:cNvPr id="10" name="Text 6"/>
          <p:cNvSpPr txBox="1"/>
          <p:nvPr/>
        </p:nvSpPr>
        <p:spPr>
          <a:xfrm>
            <a:off x="7406640" y="2194560"/>
            <a:ext cx="4023360" cy="228600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bg1"/>
                </a:solidFill>
              </a:rPr>
              <a:t>MB3 was already 4 °C above its median, yet barrier boost was raised to 10,600–10,900 kWh/day</a:t>
            </a:r>
            <a:endParaRPr lang="en-US" sz="1400" dirty="0"/>
          </a:p>
          <a:p>
            <a:pPr marL="190500" indent="-190500">
              <a:spcAft>
                <a:spcPts val="600"/>
              </a:spcAft>
              <a:buSzPct val="100000"/>
              <a:buChar char="•"/>
            </a:pPr>
            <a:r>
              <a:rPr lang="en-US" sz="1400" dirty="0">
                <a:solidFill>
                  <a:schemeClr val="bg1"/>
                </a:solidFill>
              </a:rPr>
              <a:t>NG pushed to 102–109 SCM/15 min (above its P99 of 96) and gas reached 82 Gcal/day</a:t>
            </a:r>
            <a:endParaRPr lang="en-US" sz="1400" dirty="0"/>
          </a:p>
          <a:p>
            <a:pPr marL="190500" indent="-190500">
              <a:spcAft>
                <a:spcPts val="600"/>
              </a:spcAft>
              <a:buSzPct val="100000"/>
              <a:buChar char="•"/>
            </a:pPr>
            <a:r>
              <a:rPr lang="en-US" sz="1400" dirty="0">
                <a:solidFill>
                  <a:schemeClr val="bg1"/>
                </a:solidFill>
              </a:rPr>
              <a:t>Seeds rose to 28 on 20 Aug</a:t>
            </a:r>
            <a:endParaRPr lang="en-US" sz="1400" dirty="0"/>
          </a:p>
        </p:txBody>
      </p:sp>
      <p:sp>
        <p:nvSpPr>
          <p:cNvPr id="11" name="Text 7"/>
          <p:cNvSpPr txBox="1"/>
          <p:nvPr/>
        </p:nvSpPr>
        <p:spPr>
          <a:xfrm>
            <a:off x="7406640" y="3931920"/>
            <a:ext cx="4023360" cy="365760"/>
          </a:xfrm>
          <a:prstGeom prst="rect">
            <a:avLst/>
          </a:prstGeom>
          <a:noFill/>
          <a:ln/>
        </p:spPr>
        <p:txBody>
          <a:bodyPr wrap="square" lIns="0" tIns="0" rIns="0" bIns="0" rtlCol="0" anchor="t"/>
          <a:lstStyle/>
          <a:p>
            <a:pPr indent="0" marL="0">
              <a:buNone/>
            </a:pPr>
            <a:r>
              <a:rPr lang="en-US" sz="1500" b="1" dirty="0">
                <a:solidFill>
                  <a:schemeClr val="accent6"/>
                </a:solidFill>
              </a:rPr>
              <a:t>Recommender replay on the same days</a:t>
            </a:r>
            <a:endParaRPr lang="en-US" sz="1500" dirty="0"/>
          </a:p>
        </p:txBody>
      </p:sp>
      <p:sp>
        <p:nvSpPr>
          <p:cNvPr id="12" name="Text 8"/>
          <p:cNvSpPr txBox="1"/>
          <p:nvPr/>
        </p:nvSpPr>
        <p:spPr>
          <a:xfrm>
            <a:off x="7406640" y="4343400"/>
            <a:ext cx="4023360" cy="1097280"/>
          </a:xfrm>
          <a:prstGeom prst="rect">
            <a:avLst/>
          </a:prstGeom>
          <a:noFill/>
          <a:ln/>
        </p:spPr>
        <p:txBody>
          <a:bodyPr wrap="square" lIns="0" tIns="0" rIns="0" bIns="0" rtlCol="0" anchor="t"/>
          <a:lstStyle/>
          <a:p>
            <a:pPr indent="0" marL="0">
              <a:buNone/>
            </a:pPr>
            <a:r>
              <a:rPr lang="en-US" sz="1600" b="1" dirty="0">
                <a:solidFill>
                  <a:schemeClr val="bg1"/>
                </a:solidFill>
              </a:rPr>
              <a:t>SFC 1,581 → 1,507 and 1,578 → 1,511 kcal/kg (−4.7% and −4.3%), boost 453 → 265 kWh/h</a:t>
            </a:r>
            <a:endParaRPr lang="en-US" sz="16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2743200" cy="822960"/>
          </a:xfrm>
          <a:prstGeom prst="rect">
            <a:avLst/>
          </a:prstGeom>
          <a:noFill/>
          <a:ln/>
        </p:spPr>
        <p:txBody>
          <a:bodyPr wrap="square" rtlCol="0"/>
          <a:lstStyle/>
          <a:p>
            <a:pPr indent="0" marL="0">
              <a:buNone/>
            </a:pPr>
            <a:r>
              <a:rPr lang="en-US" sz="2800" b="1" dirty="0">
                <a:solidFill>
                  <a:schemeClr val="accent2"/>
                </a:solidFill>
              </a:rPr>
              <a:t>03</a:t>
            </a:r>
            <a:endParaRPr lang="en-US" sz="2800" dirty="0"/>
          </a:p>
        </p:txBody>
      </p:sp>
      <p:sp>
        <p:nvSpPr>
          <p:cNvPr id="3" name="Text 0"/>
          <p:cNvSpPr/>
          <p:nvPr>
            <p:ph idx="101" type="title" hasCustomPrompt="1"/>
          </p:nvPr>
        </p:nvSpPr>
        <p:spPr>
          <a:xfrm>
            <a:off x="822960" y="2651760"/>
            <a:ext cx="10241280" cy="1097280"/>
          </a:xfrm>
          <a:prstGeom prst="rect">
            <a:avLst/>
          </a:prstGeom>
          <a:noFill/>
          <a:ln/>
        </p:spPr>
        <p:txBody>
          <a:bodyPr wrap="square" rtlCol="0" anchor="t"/>
          <a:lstStyle/>
          <a:p>
            <a:pPr algn="l" indent="0" marL="0">
              <a:buNone/>
            </a:pPr>
            <a:r>
              <a:rPr lang="en-US" sz="4000" b="1" dirty="0">
                <a:solidFill>
                  <a:schemeClr val="bg1"/>
                </a:solidFill>
                <a:latin typeface="Arial" pitchFamily="34" charset="0"/>
                <a:ea typeface="Arial" pitchFamily="34" charset="-122"/>
                <a:cs typeface="Arial" pitchFamily="34" charset="-120"/>
              </a:rPr>
              <a:t>How we built the models</a:t>
            </a:r>
            <a:endParaRPr lang="en-US" sz="4000" dirty="0"/>
          </a:p>
        </p:txBody>
      </p:sp>
      <p:sp>
        <p:nvSpPr>
          <p:cNvPr id="4" name="Text 0"/>
          <p:cNvSpPr/>
          <p:nvPr>
            <p:ph idx="102" type="body" hasCustomPrompt="1"/>
          </p:nvPr>
        </p:nvSpPr>
        <p:spPr>
          <a:xfrm>
            <a:off x="822960" y="3840480"/>
            <a:ext cx="10241280" cy="822960"/>
          </a:xfrm>
          <a:prstGeom prst="rect">
            <a:avLst/>
          </a:prstGeom>
          <a:noFill/>
          <a:ln/>
        </p:spPr>
        <p:txBody>
          <a:bodyPr wrap="square" rtlCol="0" anchor="t"/>
          <a:lstStyle/>
          <a:p>
            <a:pPr indent="0" marL="0">
              <a:buNone/>
            </a:pPr>
            <a:r>
              <a:rPr lang="en-US" sz="1800" dirty="0">
                <a:solidFill>
                  <a:srgbClr val="C9D3E0"/>
                </a:solidFill>
              </a:rPr>
              <a:t>Input data, split method, models compared, the chosen model, evaluation and deployment</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Input data</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Four client files; one corrected 15-min record drives every calculation</a:t>
            </a:r>
            <a:endParaRPr lang="en-US" sz="1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977640"/>
                <a:gridCol w="2103120"/>
                <a:gridCol w="2240280"/>
                <a:gridCol w="1234440"/>
                <a:gridCol w="1536192"/>
              </a:tblGrid>
              <a:tr h="457200">
                <a:tc>
                  <a:txBody>
                    <a:bodyPr/>
                    <a:lstStyle/>
                    <a:p>
                      <a:pPr indent="0" marL="0">
                        <a:buNone/>
                      </a:pPr>
                      <a:r>
                        <a:rPr lang="en-US" sz="1200" b="1" dirty="0">
                          <a:solidFill>
                            <a:schemeClr val="bg1"/>
                          </a:solidFill>
                        </a:rPr>
                        <a:t>File</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Sheet</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Frequency / period</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Size</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Used for</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r>
              <a:tr h="457200">
                <a:tc>
                  <a:txBody>
                    <a:bodyPr/>
                    <a:lstStyle/>
                    <a:p>
                      <a:pPr indent="0" marL="0">
                        <a:buNone/>
                      </a:pPr>
                      <a:r>
                        <a:rPr lang="en-US" sz="1200" b="1" dirty="0">
                          <a:solidFill>
                            <a:schemeClr val="tx1"/>
                          </a:solidFill>
                        </a:rPr>
                        <a:t>Analytical_Record_Creation_fixed_5.xlsx</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200" dirty="0">
                          <a:solidFill>
                            <a:schemeClr val="tx1"/>
                          </a:solidFill>
                        </a:rPr>
                        <a:t>result</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15 min, 1 Sep 2025 – 30 Sep 2026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37,920 rows</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All models (main record)</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1"/>
                          </a:solidFill>
                        </a:rPr>
                        <a:t>DCS_60_TPD_MelterCrown3.xlsx</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first sheet (TC MC3)</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 min, 1 Sep 2025 – 1 Oct 2026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 570,000 rows</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Crown checks</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457200">
                <a:tc>
                  <a:txBody>
                    <a:bodyPr/>
                    <a:lstStyle/>
                    <a:p>
                      <a:pPr indent="0" marL="0">
                        <a:buNone/>
                      </a:pPr>
                      <a:r>
                        <a:rPr lang="en-US" sz="1200" dirty="0">
                          <a:solidFill>
                            <a:schemeClr val="tx1"/>
                          </a:solidFill>
                        </a:rPr>
                        <a:t>SFC_60_TPD_Baseline_Calculation_Sep-25_to_Jul-26_updated.xlsx</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Master Data- Energy &amp; SFC Calc</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Daily, 1 Sep 2025 – 31 Jul 2026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334 days</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Baseline verification only</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1"/>
                          </a:solidFill>
                        </a:rPr>
                        <a:t>Analytical_Record_Creation_EE_60TPD_updated-2.xlsx</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result, Sheet1</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15 min (first version)</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43,392 rows</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Evidence for log corrections</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548640" y="4160520"/>
            <a:ext cx="5486400" cy="365760"/>
          </a:xfrm>
          <a:prstGeom prst="rect">
            <a:avLst/>
          </a:prstGeom>
          <a:noFill/>
          <a:ln/>
        </p:spPr>
        <p:txBody>
          <a:bodyPr wrap="square" lIns="0" tIns="0" rIns="0" bIns="0" rtlCol="0" anchor="t"/>
          <a:lstStyle/>
          <a:p>
            <a:pPr indent="0" marL="0">
              <a:buNone/>
            </a:pPr>
            <a:r>
              <a:rPr lang="en-US" sz="1600" b="1" dirty="0">
                <a:solidFill>
                  <a:schemeClr val="tx2"/>
                </a:solidFill>
              </a:rPr>
              <a:t>Columns used from sheet result</a:t>
            </a:r>
            <a:endParaRPr lang="en-US" sz="1600" dirty="0"/>
          </a:p>
        </p:txBody>
      </p:sp>
      <p:sp>
        <p:nvSpPr>
          <p:cNvPr id="6" name="card"/>
          <p:cNvSpPr/>
          <p:nvPr/>
        </p:nvSpPr>
        <p:spPr>
          <a:xfrm>
            <a:off x="548640" y="4572000"/>
            <a:ext cx="2651760" cy="658368"/>
          </a:xfrm>
          <a:prstGeom prst="roundRect">
            <a:avLst>
              <a:gd name="adj" fmla="val 11111"/>
            </a:avLst>
          </a:prstGeom>
          <a:solidFill>
            <a:schemeClr val="bg2"/>
          </a:solidFill>
          <a:ln/>
        </p:spPr>
      </p:sp>
      <p:sp>
        <p:nvSpPr>
          <p:cNvPr id="7" name="Text 4"/>
          <p:cNvSpPr txBox="1"/>
          <p:nvPr/>
        </p:nvSpPr>
        <p:spPr>
          <a:xfrm>
            <a:off x="685800" y="4636008"/>
            <a:ext cx="2423160" cy="548640"/>
          </a:xfrm>
          <a:prstGeom prst="rect">
            <a:avLst/>
          </a:prstGeom>
          <a:noFill/>
          <a:ln/>
        </p:spPr>
        <p:txBody>
          <a:bodyPr wrap="square" lIns="0" tIns="0" rIns="0" bIns="0" rtlCol="0" anchor="t"/>
          <a:lstStyle/>
          <a:p>
            <a:pPr indent="0" marL="0">
              <a:buNone/>
            </a:pPr>
            <a:r>
              <a:rPr lang="en-US" sz="1100" b="1" dirty="0">
                <a:solidFill>
                  <a:schemeClr val="tx1"/>
                </a:solidFill>
              </a:rPr>
              <a:t>NCV Meter</a:t>
            </a:r>
            <a:endParaRPr lang="en-US" sz="1100" dirty="0"/>
          </a:p>
          <a:p>
            <a:pPr indent="0" marL="0">
              <a:buNone/>
            </a:pPr>
            <a:r>
              <a:rPr lang="en-US" sz="1100" dirty="0">
                <a:solidFill>
                  <a:schemeClr val="accent4"/>
                </a:solidFill>
              </a:rPr>
              <a:t>kcal/SCM</a:t>
            </a:r>
            <a:endParaRPr lang="en-US" sz="1100" dirty="0"/>
          </a:p>
        </p:txBody>
      </p:sp>
      <p:sp>
        <p:nvSpPr>
          <p:cNvPr id="8" name="card"/>
          <p:cNvSpPr/>
          <p:nvPr/>
        </p:nvSpPr>
        <p:spPr>
          <a:xfrm>
            <a:off x="3364992" y="4572000"/>
            <a:ext cx="2651760" cy="658368"/>
          </a:xfrm>
          <a:prstGeom prst="roundRect">
            <a:avLst>
              <a:gd name="adj" fmla="val 11111"/>
            </a:avLst>
          </a:prstGeom>
          <a:solidFill>
            <a:schemeClr val="bg2"/>
          </a:solidFill>
          <a:ln/>
        </p:spPr>
      </p:sp>
      <p:sp>
        <p:nvSpPr>
          <p:cNvPr id="9" name="Text 6"/>
          <p:cNvSpPr txBox="1"/>
          <p:nvPr/>
        </p:nvSpPr>
        <p:spPr>
          <a:xfrm>
            <a:off x="3502152" y="4636008"/>
            <a:ext cx="2423160" cy="548640"/>
          </a:xfrm>
          <a:prstGeom prst="rect">
            <a:avLst/>
          </a:prstGeom>
          <a:noFill/>
          <a:ln/>
        </p:spPr>
        <p:txBody>
          <a:bodyPr wrap="square" lIns="0" tIns="0" rIns="0" bIns="0" rtlCol="0" anchor="t"/>
          <a:lstStyle/>
          <a:p>
            <a:pPr indent="0" marL="0">
              <a:buNone/>
            </a:pPr>
            <a:r>
              <a:rPr lang="en-US" sz="1100" b="1" dirty="0">
                <a:solidFill>
                  <a:schemeClr val="tx1"/>
                </a:solidFill>
              </a:rPr>
              <a:t>dcs_60_MelterGasflowvalue</a:t>
            </a:r>
            <a:endParaRPr lang="en-US" sz="1100" dirty="0"/>
          </a:p>
          <a:p>
            <a:pPr indent="0" marL="0">
              <a:buNone/>
            </a:pPr>
            <a:r>
              <a:rPr lang="en-US" sz="1100" dirty="0">
                <a:solidFill>
                  <a:schemeClr val="accent4"/>
                </a:solidFill>
              </a:rPr>
              <a:t>NG, SCM/15 min</a:t>
            </a:r>
            <a:endParaRPr lang="en-US" sz="1100" dirty="0"/>
          </a:p>
        </p:txBody>
      </p:sp>
      <p:sp>
        <p:nvSpPr>
          <p:cNvPr id="10" name="card"/>
          <p:cNvSpPr/>
          <p:nvPr/>
        </p:nvSpPr>
        <p:spPr>
          <a:xfrm>
            <a:off x="6181344" y="4572000"/>
            <a:ext cx="2651760" cy="658368"/>
          </a:xfrm>
          <a:prstGeom prst="roundRect">
            <a:avLst>
              <a:gd name="adj" fmla="val 11111"/>
            </a:avLst>
          </a:prstGeom>
          <a:solidFill>
            <a:schemeClr val="bg2"/>
          </a:solidFill>
          <a:ln/>
        </p:spPr>
      </p:sp>
      <p:sp>
        <p:nvSpPr>
          <p:cNvPr id="11" name="Text 8"/>
          <p:cNvSpPr txBox="1"/>
          <p:nvPr/>
        </p:nvSpPr>
        <p:spPr>
          <a:xfrm>
            <a:off x="6318504" y="4636008"/>
            <a:ext cx="2423160" cy="548640"/>
          </a:xfrm>
          <a:prstGeom prst="rect">
            <a:avLst/>
          </a:prstGeom>
          <a:noFill/>
          <a:ln/>
        </p:spPr>
        <p:txBody>
          <a:bodyPr wrap="square" lIns="0" tIns="0" rIns="0" bIns="0" rtlCol="0" anchor="t"/>
          <a:lstStyle/>
          <a:p>
            <a:pPr indent="0" marL="0">
              <a:buNone/>
            </a:pPr>
            <a:r>
              <a:rPr lang="en-US" sz="1100" b="1" dirty="0">
                <a:solidFill>
                  <a:schemeClr val="tx1"/>
                </a:solidFill>
              </a:rPr>
              <a:t>dcs_60_SecondaryAirFlowvalue</a:t>
            </a:r>
            <a:endParaRPr lang="en-US" sz="1100" dirty="0"/>
          </a:p>
          <a:p>
            <a:pPr indent="0" marL="0">
              <a:buNone/>
            </a:pPr>
            <a:r>
              <a:rPr lang="en-US" sz="1100" dirty="0">
                <a:solidFill>
                  <a:schemeClr val="accent4"/>
                </a:solidFill>
              </a:rPr>
              <a:t>air, SCM/15 min</a:t>
            </a:r>
            <a:endParaRPr lang="en-US" sz="1100" dirty="0"/>
          </a:p>
        </p:txBody>
      </p:sp>
      <p:sp>
        <p:nvSpPr>
          <p:cNvPr id="12" name="card"/>
          <p:cNvSpPr/>
          <p:nvPr/>
        </p:nvSpPr>
        <p:spPr>
          <a:xfrm>
            <a:off x="8997696" y="4572000"/>
            <a:ext cx="2651760" cy="658368"/>
          </a:xfrm>
          <a:prstGeom prst="roundRect">
            <a:avLst>
              <a:gd name="adj" fmla="val 11111"/>
            </a:avLst>
          </a:prstGeom>
          <a:solidFill>
            <a:schemeClr val="bg2"/>
          </a:solidFill>
          <a:ln/>
        </p:spPr>
      </p:sp>
      <p:sp>
        <p:nvSpPr>
          <p:cNvPr id="13" name="Text 10"/>
          <p:cNvSpPr txBox="1"/>
          <p:nvPr/>
        </p:nvSpPr>
        <p:spPr>
          <a:xfrm>
            <a:off x="9134856" y="4636008"/>
            <a:ext cx="2423160" cy="548640"/>
          </a:xfrm>
          <a:prstGeom prst="rect">
            <a:avLst/>
          </a:prstGeom>
          <a:noFill/>
          <a:ln/>
        </p:spPr>
        <p:txBody>
          <a:bodyPr wrap="square" lIns="0" tIns="0" rIns="0" bIns="0" rtlCol="0" anchor="t"/>
          <a:lstStyle/>
          <a:p>
            <a:pPr indent="0" marL="0">
              <a:buNone/>
            </a:pPr>
            <a:r>
              <a:rPr lang="en-US" sz="1100" b="1" dirty="0">
                <a:solidFill>
                  <a:schemeClr val="tx1"/>
                </a:solidFill>
              </a:rPr>
              <a:t>BARRIER BOOSTER-52</a:t>
            </a:r>
            <a:endParaRPr lang="en-US" sz="1100" dirty="0"/>
          </a:p>
          <a:p>
            <a:pPr indent="0" marL="0">
              <a:buNone/>
            </a:pPr>
            <a:r>
              <a:rPr lang="en-US" sz="1100" dirty="0">
                <a:solidFill>
                  <a:schemeClr val="accent4"/>
                </a:solidFill>
              </a:rPr>
              <a:t>kWh/15 min</a:t>
            </a:r>
            <a:endParaRPr lang="en-US" sz="1100" dirty="0"/>
          </a:p>
        </p:txBody>
      </p:sp>
      <p:sp>
        <p:nvSpPr>
          <p:cNvPr id="14" name="card"/>
          <p:cNvSpPr/>
          <p:nvPr/>
        </p:nvSpPr>
        <p:spPr>
          <a:xfrm>
            <a:off x="548640" y="5349240"/>
            <a:ext cx="2651760" cy="658368"/>
          </a:xfrm>
          <a:prstGeom prst="roundRect">
            <a:avLst>
              <a:gd name="adj" fmla="val 11111"/>
            </a:avLst>
          </a:prstGeom>
          <a:solidFill>
            <a:schemeClr val="bg2"/>
          </a:solidFill>
          <a:ln/>
        </p:spPr>
      </p:sp>
      <p:sp>
        <p:nvSpPr>
          <p:cNvPr id="15" name="Text 12"/>
          <p:cNvSpPr txBox="1"/>
          <p:nvPr/>
        </p:nvSpPr>
        <p:spPr>
          <a:xfrm>
            <a:off x="685800" y="5413248"/>
            <a:ext cx="2423160" cy="548640"/>
          </a:xfrm>
          <a:prstGeom prst="rect">
            <a:avLst/>
          </a:prstGeom>
          <a:noFill/>
          <a:ln/>
        </p:spPr>
        <p:txBody>
          <a:bodyPr wrap="square" lIns="0" tIns="0" rIns="0" bIns="0" rtlCol="0" anchor="t"/>
          <a:lstStyle/>
          <a:p>
            <a:pPr indent="0" marL="0">
              <a:buNone/>
            </a:pPr>
            <a:r>
              <a:rPr lang="en-US" sz="1100" b="1" dirty="0">
                <a:solidFill>
                  <a:schemeClr val="tx1"/>
                </a:solidFill>
              </a:rPr>
              <a:t>MELTER BOOSTER-51</a:t>
            </a:r>
            <a:endParaRPr lang="en-US" sz="1100" dirty="0"/>
          </a:p>
          <a:p>
            <a:pPr indent="0" marL="0">
              <a:buNone/>
            </a:pPr>
            <a:r>
              <a:rPr lang="en-US" sz="1100" dirty="0">
                <a:solidFill>
                  <a:schemeClr val="accent4"/>
                </a:solidFill>
              </a:rPr>
              <a:t>kWh/15 min</a:t>
            </a:r>
            <a:endParaRPr lang="en-US" sz="1100" dirty="0"/>
          </a:p>
        </p:txBody>
      </p:sp>
      <p:sp>
        <p:nvSpPr>
          <p:cNvPr id="16" name="card"/>
          <p:cNvSpPr/>
          <p:nvPr/>
        </p:nvSpPr>
        <p:spPr>
          <a:xfrm>
            <a:off x="3364992" y="5349240"/>
            <a:ext cx="2651760" cy="658368"/>
          </a:xfrm>
          <a:prstGeom prst="roundRect">
            <a:avLst>
              <a:gd name="adj" fmla="val 11111"/>
            </a:avLst>
          </a:prstGeom>
          <a:solidFill>
            <a:schemeClr val="bg2"/>
          </a:solidFill>
          <a:ln/>
        </p:spPr>
      </p:sp>
      <p:sp>
        <p:nvSpPr>
          <p:cNvPr id="17" name="Text 14"/>
          <p:cNvSpPr txBox="1"/>
          <p:nvPr/>
        </p:nvSpPr>
        <p:spPr>
          <a:xfrm>
            <a:off x="3502152" y="5413248"/>
            <a:ext cx="2423160" cy="548640"/>
          </a:xfrm>
          <a:prstGeom prst="rect">
            <a:avLst/>
          </a:prstGeom>
          <a:noFill/>
          <a:ln/>
        </p:spPr>
        <p:txBody>
          <a:bodyPr wrap="square" lIns="0" tIns="0" rIns="0" bIns="0" rtlCol="0" anchor="t"/>
          <a:lstStyle/>
          <a:p>
            <a:pPr indent="0" marL="0">
              <a:buNone/>
            </a:pPr>
            <a:r>
              <a:rPr lang="en-US" sz="1100" b="1" dirty="0">
                <a:solidFill>
                  <a:schemeClr val="tx1"/>
                </a:solidFill>
              </a:rPr>
              <a:t>dcs_60_ThermocoupleMelterBottom3</a:t>
            </a:r>
            <a:endParaRPr lang="en-US" sz="1100" dirty="0"/>
          </a:p>
          <a:p>
            <a:pPr indent="0" marL="0">
              <a:buNone/>
            </a:pPr>
            <a:r>
              <a:rPr lang="en-US" sz="1100" dirty="0">
                <a:solidFill>
                  <a:schemeClr val="accent4"/>
                </a:solidFill>
              </a:rPr>
              <a:t>MB3, °C</a:t>
            </a:r>
            <a:endParaRPr lang="en-US" sz="1100" dirty="0"/>
          </a:p>
        </p:txBody>
      </p:sp>
      <p:sp>
        <p:nvSpPr>
          <p:cNvPr id="18" name="card"/>
          <p:cNvSpPr/>
          <p:nvPr/>
        </p:nvSpPr>
        <p:spPr>
          <a:xfrm>
            <a:off x="6181344" y="5349240"/>
            <a:ext cx="2651760" cy="658368"/>
          </a:xfrm>
          <a:prstGeom prst="roundRect">
            <a:avLst>
              <a:gd name="adj" fmla="val 11111"/>
            </a:avLst>
          </a:prstGeom>
          <a:solidFill>
            <a:schemeClr val="bg2"/>
          </a:solidFill>
          <a:ln/>
        </p:spPr>
      </p:sp>
      <p:sp>
        <p:nvSpPr>
          <p:cNvPr id="19" name="Text 16"/>
          <p:cNvSpPr txBox="1"/>
          <p:nvPr/>
        </p:nvSpPr>
        <p:spPr>
          <a:xfrm>
            <a:off x="6318504" y="5413248"/>
            <a:ext cx="2423160" cy="548640"/>
          </a:xfrm>
          <a:prstGeom prst="rect">
            <a:avLst/>
          </a:prstGeom>
          <a:noFill/>
          <a:ln/>
        </p:spPr>
        <p:txBody>
          <a:bodyPr wrap="square" lIns="0" tIns="0" rIns="0" bIns="0" rtlCol="0" anchor="t"/>
          <a:lstStyle/>
          <a:p>
            <a:pPr indent="0" marL="0">
              <a:buNone/>
            </a:pPr>
            <a:r>
              <a:rPr lang="en-US" sz="1100" b="1" dirty="0">
                <a:solidFill>
                  <a:schemeClr val="tx1"/>
                </a:solidFill>
              </a:rPr>
              <a:t>Melter Optical Temperature</a:t>
            </a:r>
            <a:endParaRPr lang="en-US" sz="1100" dirty="0"/>
          </a:p>
          <a:p>
            <a:pPr indent="0" marL="0">
              <a:buNone/>
            </a:pPr>
            <a:r>
              <a:rPr lang="en-US" sz="1100" dirty="0">
                <a:solidFill>
                  <a:schemeClr val="accent4"/>
                </a:solidFill>
              </a:rPr>
              <a:t>°C, hourly log</a:t>
            </a:r>
            <a:endParaRPr lang="en-US" sz="1100" dirty="0"/>
          </a:p>
        </p:txBody>
      </p:sp>
      <p:sp>
        <p:nvSpPr>
          <p:cNvPr id="20" name="card"/>
          <p:cNvSpPr/>
          <p:nvPr/>
        </p:nvSpPr>
        <p:spPr>
          <a:xfrm>
            <a:off x="8997696" y="5349240"/>
            <a:ext cx="2651760" cy="658368"/>
          </a:xfrm>
          <a:prstGeom prst="roundRect">
            <a:avLst>
              <a:gd name="adj" fmla="val 11111"/>
            </a:avLst>
          </a:prstGeom>
          <a:solidFill>
            <a:schemeClr val="bg2"/>
          </a:solidFill>
          <a:ln/>
        </p:spPr>
      </p:sp>
      <p:sp>
        <p:nvSpPr>
          <p:cNvPr id="21" name="Text 18"/>
          <p:cNvSpPr txBox="1"/>
          <p:nvPr/>
        </p:nvSpPr>
        <p:spPr>
          <a:xfrm>
            <a:off x="9134856" y="5413248"/>
            <a:ext cx="2423160" cy="548640"/>
          </a:xfrm>
          <a:prstGeom prst="rect">
            <a:avLst/>
          </a:prstGeom>
          <a:noFill/>
          <a:ln/>
        </p:spPr>
        <p:txBody>
          <a:bodyPr wrap="square" lIns="0" tIns="0" rIns="0" bIns="0" rtlCol="0" anchor="t"/>
          <a:lstStyle/>
          <a:p>
            <a:pPr indent="0" marL="0">
              <a:buNone/>
            </a:pPr>
            <a:r>
              <a:rPr lang="en-US" sz="1100" b="1" dirty="0">
                <a:solidFill>
                  <a:schemeClr val="tx1"/>
                </a:solidFill>
              </a:rPr>
              <a:t>Daily Draw · Cullet % · Seed Count</a:t>
            </a:r>
            <a:endParaRPr lang="en-US" sz="1100" dirty="0"/>
          </a:p>
          <a:p>
            <a:pPr indent="0" marL="0">
              <a:buNone/>
            </a:pPr>
            <a:r>
              <a:rPr lang="en-US" sz="1100" dirty="0">
                <a:solidFill>
                  <a:schemeClr val="accent4"/>
                </a:solidFill>
              </a:rPr>
              <a:t>daily</a:t>
            </a:r>
            <a:endParaRPr lang="en-US" sz="11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Data levels and cleaning</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One cleaned 15-min record, rolled up to the level each model needs</a:t>
            </a:r>
            <a:endParaRPr lang="en-US" sz="1600" dirty="0"/>
          </a:p>
        </p:txBody>
      </p:sp>
      <p:sp>
        <p:nvSpPr>
          <p:cNvPr id="4" name="card"/>
          <p:cNvSpPr/>
          <p:nvPr/>
        </p:nvSpPr>
        <p:spPr>
          <a:xfrm>
            <a:off x="548640" y="1645920"/>
            <a:ext cx="2615184" cy="2103120"/>
          </a:xfrm>
          <a:prstGeom prst="roundRect">
            <a:avLst>
              <a:gd name="adj" fmla="val 3478"/>
            </a:avLst>
          </a:prstGeom>
          <a:solidFill>
            <a:schemeClr val="bg2"/>
          </a:solidFill>
          <a:ln/>
        </p:spPr>
      </p:sp>
      <p:sp>
        <p:nvSpPr>
          <p:cNvPr id="5" name="Text 3"/>
          <p:cNvSpPr txBox="1"/>
          <p:nvPr/>
        </p:nvSpPr>
        <p:spPr>
          <a:xfrm>
            <a:off x="777240" y="1783080"/>
            <a:ext cx="2194560" cy="320040"/>
          </a:xfrm>
          <a:prstGeom prst="rect">
            <a:avLst/>
          </a:prstGeom>
          <a:noFill/>
          <a:ln/>
        </p:spPr>
        <p:txBody>
          <a:bodyPr wrap="square" lIns="0" tIns="0" rIns="0" bIns="0" rtlCol="0" anchor="t"/>
          <a:lstStyle/>
          <a:p>
            <a:pPr indent="0" marL="0">
              <a:buNone/>
            </a:pPr>
            <a:r>
              <a:rPr lang="en-US" sz="1500" b="1" dirty="0">
                <a:solidFill>
                  <a:schemeClr val="tx2"/>
                </a:solidFill>
              </a:rPr>
              <a:t>15-min</a:t>
            </a:r>
            <a:endParaRPr lang="en-US" sz="1500" dirty="0"/>
          </a:p>
        </p:txBody>
      </p:sp>
      <p:sp>
        <p:nvSpPr>
          <p:cNvPr id="6" name="Text 4"/>
          <p:cNvSpPr txBox="1"/>
          <p:nvPr/>
        </p:nvSpPr>
        <p:spPr>
          <a:xfrm>
            <a:off x="777240" y="2103120"/>
            <a:ext cx="2194560" cy="685800"/>
          </a:xfrm>
          <a:prstGeom prst="rect">
            <a:avLst/>
          </a:prstGeom>
          <a:noFill/>
          <a:ln/>
        </p:spPr>
        <p:txBody>
          <a:bodyPr wrap="square" lIns="0" tIns="0" rIns="0" bIns="0" rtlCol="0" anchor="ctr"/>
          <a:lstStyle/>
          <a:p>
            <a:pPr indent="0" marL="0">
              <a:buNone/>
            </a:pPr>
            <a:r>
              <a:rPr lang="en-US" sz="4000" b="1" dirty="0">
                <a:solidFill>
                  <a:schemeClr val="tx2"/>
                </a:solidFill>
                <a:latin typeface="Arial" pitchFamily="34" charset="0"/>
                <a:ea typeface="Arial" pitchFamily="34" charset="-122"/>
                <a:cs typeface="Arial" pitchFamily="34" charset="-120"/>
              </a:rPr>
              <a:t>37,920</a:t>
            </a:r>
            <a:endParaRPr lang="en-US" sz="4000" dirty="0"/>
          </a:p>
        </p:txBody>
      </p:sp>
      <p:sp>
        <p:nvSpPr>
          <p:cNvPr id="7" name="Text 5"/>
          <p:cNvSpPr txBox="1"/>
          <p:nvPr/>
        </p:nvSpPr>
        <p:spPr>
          <a:xfrm>
            <a:off x="777240" y="2834640"/>
            <a:ext cx="2194560" cy="822960"/>
          </a:xfrm>
          <a:prstGeom prst="rect">
            <a:avLst/>
          </a:prstGeom>
          <a:noFill/>
          <a:ln/>
        </p:spPr>
        <p:txBody>
          <a:bodyPr wrap="square" lIns="0" tIns="0" rIns="0" bIns="0" rtlCol="0" anchor="t"/>
          <a:lstStyle/>
          <a:p>
            <a:pPr indent="0" marL="0">
              <a:buNone/>
            </a:pPr>
            <a:r>
              <a:rPr lang="en-US" sz="1200" dirty="0">
                <a:solidFill>
                  <a:schemeClr val="accent4"/>
                </a:solidFill>
              </a:rPr>
              <a:t>records  ·  Gas back-test, NG × NCV per interval</a:t>
            </a:r>
            <a:endParaRPr lang="en-US" sz="1200" dirty="0"/>
          </a:p>
        </p:txBody>
      </p:sp>
      <p:sp>
        <p:nvSpPr>
          <p:cNvPr id="8" name="arrow"/>
          <p:cNvSpPr/>
          <p:nvPr/>
        </p:nvSpPr>
        <p:spPr>
          <a:xfrm>
            <a:off x="3218688" y="2560320"/>
            <a:ext cx="128016" cy="274320"/>
          </a:xfrm>
          <a:prstGeom prst="chevron">
            <a:avLst/>
          </a:prstGeom>
          <a:solidFill>
            <a:schemeClr val="accent4"/>
          </a:solidFill>
          <a:ln/>
        </p:spPr>
      </p:sp>
      <p:sp>
        <p:nvSpPr>
          <p:cNvPr id="9" name="card"/>
          <p:cNvSpPr/>
          <p:nvPr/>
        </p:nvSpPr>
        <p:spPr>
          <a:xfrm>
            <a:off x="3364992" y="1645920"/>
            <a:ext cx="2615184" cy="2103120"/>
          </a:xfrm>
          <a:prstGeom prst="roundRect">
            <a:avLst>
              <a:gd name="adj" fmla="val 3478"/>
            </a:avLst>
          </a:prstGeom>
          <a:solidFill>
            <a:schemeClr val="bg2"/>
          </a:solidFill>
          <a:ln/>
        </p:spPr>
      </p:sp>
      <p:sp>
        <p:nvSpPr>
          <p:cNvPr id="10" name="Text 8"/>
          <p:cNvSpPr txBox="1"/>
          <p:nvPr/>
        </p:nvSpPr>
        <p:spPr>
          <a:xfrm>
            <a:off x="3593592" y="1783080"/>
            <a:ext cx="2194560" cy="320040"/>
          </a:xfrm>
          <a:prstGeom prst="rect">
            <a:avLst/>
          </a:prstGeom>
          <a:noFill/>
          <a:ln/>
        </p:spPr>
        <p:txBody>
          <a:bodyPr wrap="square" lIns="0" tIns="0" rIns="0" bIns="0" rtlCol="0" anchor="t"/>
          <a:lstStyle/>
          <a:p>
            <a:pPr indent="0" marL="0">
              <a:buNone/>
            </a:pPr>
            <a:r>
              <a:rPr lang="en-US" sz="1500" b="1" dirty="0">
                <a:solidFill>
                  <a:schemeClr val="accent1"/>
                </a:solidFill>
              </a:rPr>
              <a:t>Hourly</a:t>
            </a:r>
            <a:endParaRPr lang="en-US" sz="1500" dirty="0"/>
          </a:p>
        </p:txBody>
      </p:sp>
      <p:sp>
        <p:nvSpPr>
          <p:cNvPr id="11" name="Text 9"/>
          <p:cNvSpPr txBox="1"/>
          <p:nvPr/>
        </p:nvSpPr>
        <p:spPr>
          <a:xfrm>
            <a:off x="3593592" y="2103120"/>
            <a:ext cx="2194560" cy="685800"/>
          </a:xfrm>
          <a:prstGeom prst="rect">
            <a:avLst/>
          </a:prstGeom>
          <a:noFill/>
          <a:ln/>
        </p:spPr>
        <p:txBody>
          <a:bodyPr wrap="square" lIns="0" tIns="0" rIns="0" bIns="0" rtlCol="0" anchor="ctr"/>
          <a:lstStyle/>
          <a:p>
            <a:pPr indent="0" marL="0">
              <a:buNone/>
            </a:pPr>
            <a:r>
              <a:rPr lang="en-US" sz="4000" b="1" dirty="0">
                <a:solidFill>
                  <a:schemeClr val="tx2"/>
                </a:solidFill>
                <a:latin typeface="Arial" pitchFamily="34" charset="0"/>
                <a:ea typeface="Arial" pitchFamily="34" charset="-122"/>
                <a:cs typeface="Arial" pitchFamily="34" charset="-120"/>
              </a:rPr>
              <a:t>9,480</a:t>
            </a:r>
            <a:endParaRPr lang="en-US" sz="4000" dirty="0"/>
          </a:p>
        </p:txBody>
      </p:sp>
      <p:sp>
        <p:nvSpPr>
          <p:cNvPr id="12" name="Text 10"/>
          <p:cNvSpPr txBox="1"/>
          <p:nvPr/>
        </p:nvSpPr>
        <p:spPr>
          <a:xfrm>
            <a:off x="3593592" y="2834640"/>
            <a:ext cx="2194560" cy="822960"/>
          </a:xfrm>
          <a:prstGeom prst="rect">
            <a:avLst/>
          </a:prstGeom>
          <a:noFill/>
          <a:ln/>
        </p:spPr>
        <p:txBody>
          <a:bodyPr wrap="square" lIns="0" tIns="0" rIns="0" bIns="0" rtlCol="0" anchor="t"/>
          <a:lstStyle/>
          <a:p>
            <a:pPr indent="0" marL="0">
              <a:buNone/>
            </a:pPr>
            <a:r>
              <a:rPr lang="en-US" sz="1200" dirty="0">
                <a:solidFill>
                  <a:schemeClr val="accent4"/>
                </a:solidFill>
              </a:rPr>
              <a:t>hours  ·  Boost controller: 6,736 hours with MB3 + boost</a:t>
            </a:r>
            <a:endParaRPr lang="en-US" sz="1200" dirty="0"/>
          </a:p>
        </p:txBody>
      </p:sp>
      <p:sp>
        <p:nvSpPr>
          <p:cNvPr id="13" name="arrow"/>
          <p:cNvSpPr/>
          <p:nvPr/>
        </p:nvSpPr>
        <p:spPr>
          <a:xfrm>
            <a:off x="6035040" y="2560320"/>
            <a:ext cx="128016" cy="274320"/>
          </a:xfrm>
          <a:prstGeom prst="chevron">
            <a:avLst/>
          </a:prstGeom>
          <a:solidFill>
            <a:schemeClr val="accent4"/>
          </a:solidFill>
          <a:ln/>
        </p:spPr>
      </p:sp>
      <p:sp>
        <p:nvSpPr>
          <p:cNvPr id="14" name="card"/>
          <p:cNvSpPr/>
          <p:nvPr/>
        </p:nvSpPr>
        <p:spPr>
          <a:xfrm>
            <a:off x="6181344" y="1645920"/>
            <a:ext cx="2615184" cy="2103120"/>
          </a:xfrm>
          <a:prstGeom prst="roundRect">
            <a:avLst>
              <a:gd name="adj" fmla="val 3478"/>
            </a:avLst>
          </a:prstGeom>
          <a:solidFill>
            <a:schemeClr val="bg2"/>
          </a:solidFill>
          <a:ln/>
        </p:spPr>
      </p:sp>
      <p:sp>
        <p:nvSpPr>
          <p:cNvPr id="15" name="Text 13"/>
          <p:cNvSpPr txBox="1"/>
          <p:nvPr/>
        </p:nvSpPr>
        <p:spPr>
          <a:xfrm>
            <a:off x="6409944" y="1783080"/>
            <a:ext cx="2194560" cy="320040"/>
          </a:xfrm>
          <a:prstGeom prst="rect">
            <a:avLst/>
          </a:prstGeom>
          <a:noFill/>
          <a:ln/>
        </p:spPr>
        <p:txBody>
          <a:bodyPr wrap="square" lIns="0" tIns="0" rIns="0" bIns="0" rtlCol="0" anchor="t"/>
          <a:lstStyle/>
          <a:p>
            <a:pPr indent="0" marL="0">
              <a:buNone/>
            </a:pPr>
            <a:r>
              <a:rPr lang="en-US" sz="1500" b="1" dirty="0">
                <a:solidFill>
                  <a:schemeClr val="accent2"/>
                </a:solidFill>
              </a:rPr>
              <a:t>Daily</a:t>
            </a:r>
            <a:endParaRPr lang="en-US" sz="1500" dirty="0"/>
          </a:p>
        </p:txBody>
      </p:sp>
      <p:sp>
        <p:nvSpPr>
          <p:cNvPr id="16" name="Text 14"/>
          <p:cNvSpPr txBox="1"/>
          <p:nvPr/>
        </p:nvSpPr>
        <p:spPr>
          <a:xfrm>
            <a:off x="6409944" y="2103120"/>
            <a:ext cx="2194560" cy="685800"/>
          </a:xfrm>
          <a:prstGeom prst="rect">
            <a:avLst/>
          </a:prstGeom>
          <a:noFill/>
          <a:ln/>
        </p:spPr>
        <p:txBody>
          <a:bodyPr wrap="square" lIns="0" tIns="0" rIns="0" bIns="0" rtlCol="0" anchor="ctr"/>
          <a:lstStyle/>
          <a:p>
            <a:pPr indent="0" marL="0">
              <a:buNone/>
            </a:pPr>
            <a:r>
              <a:rPr lang="en-US" sz="4000" b="1" dirty="0">
                <a:solidFill>
                  <a:schemeClr val="tx2"/>
                </a:solidFill>
                <a:latin typeface="Arial" pitchFamily="34" charset="0"/>
                <a:ea typeface="Arial" pitchFamily="34" charset="-122"/>
                <a:cs typeface="Arial" pitchFamily="34" charset="-120"/>
              </a:rPr>
              <a:t>395</a:t>
            </a:r>
            <a:endParaRPr lang="en-US" sz="4000" dirty="0"/>
          </a:p>
        </p:txBody>
      </p:sp>
      <p:sp>
        <p:nvSpPr>
          <p:cNvPr id="17" name="Text 15"/>
          <p:cNvSpPr txBox="1"/>
          <p:nvPr/>
        </p:nvSpPr>
        <p:spPr>
          <a:xfrm>
            <a:off x="6409944" y="2834640"/>
            <a:ext cx="2194560" cy="822960"/>
          </a:xfrm>
          <a:prstGeom prst="rect">
            <a:avLst/>
          </a:prstGeom>
          <a:noFill/>
          <a:ln/>
        </p:spPr>
        <p:txBody>
          <a:bodyPr wrap="square" lIns="0" tIns="0" rIns="0" bIns="0" rtlCol="0" anchor="t"/>
          <a:lstStyle/>
          <a:p>
            <a:pPr indent="0" marL="0">
              <a:buNone/>
            </a:pPr>
            <a:r>
              <a:rPr lang="en-US" sz="1200" dirty="0">
                <a:solidFill>
                  <a:schemeClr val="accent4"/>
                </a:solidFill>
              </a:rPr>
              <a:t>days  ·  Gas target, SFC, M&amp;V</a:t>
            </a:r>
            <a:endParaRPr lang="en-US" sz="1200" dirty="0"/>
          </a:p>
        </p:txBody>
      </p:sp>
      <p:sp>
        <p:nvSpPr>
          <p:cNvPr id="18" name="arrow"/>
          <p:cNvSpPr/>
          <p:nvPr/>
        </p:nvSpPr>
        <p:spPr>
          <a:xfrm>
            <a:off x="8851392" y="2560320"/>
            <a:ext cx="128016" cy="274320"/>
          </a:xfrm>
          <a:prstGeom prst="chevron">
            <a:avLst/>
          </a:prstGeom>
          <a:solidFill>
            <a:schemeClr val="accent4"/>
          </a:solidFill>
          <a:ln/>
        </p:spPr>
      </p:sp>
      <p:sp>
        <p:nvSpPr>
          <p:cNvPr id="19" name="card"/>
          <p:cNvSpPr/>
          <p:nvPr/>
        </p:nvSpPr>
        <p:spPr>
          <a:xfrm>
            <a:off x="8997696" y="1645920"/>
            <a:ext cx="2615184" cy="2103120"/>
          </a:xfrm>
          <a:prstGeom prst="roundRect">
            <a:avLst>
              <a:gd name="adj" fmla="val 3478"/>
            </a:avLst>
          </a:prstGeom>
          <a:solidFill>
            <a:schemeClr val="bg2"/>
          </a:solidFill>
          <a:ln/>
        </p:spPr>
      </p:sp>
      <p:sp>
        <p:nvSpPr>
          <p:cNvPr id="20" name="Text 18"/>
          <p:cNvSpPr txBox="1"/>
          <p:nvPr/>
        </p:nvSpPr>
        <p:spPr>
          <a:xfrm>
            <a:off x="9226296" y="1783080"/>
            <a:ext cx="2194560" cy="320040"/>
          </a:xfrm>
          <a:prstGeom prst="rect">
            <a:avLst/>
          </a:prstGeom>
          <a:noFill/>
          <a:ln/>
        </p:spPr>
        <p:txBody>
          <a:bodyPr wrap="square" lIns="0" tIns="0" rIns="0" bIns="0" rtlCol="0" anchor="t"/>
          <a:lstStyle/>
          <a:p>
            <a:pPr indent="0" marL="0">
              <a:buNone/>
            </a:pPr>
            <a:r>
              <a:rPr lang="en-US" sz="1500" b="1" dirty="0">
                <a:solidFill>
                  <a:schemeClr val="accent3"/>
                </a:solidFill>
              </a:rPr>
              <a:t>Usable</a:t>
            </a:r>
            <a:endParaRPr lang="en-US" sz="1500" dirty="0"/>
          </a:p>
        </p:txBody>
      </p:sp>
      <p:sp>
        <p:nvSpPr>
          <p:cNvPr id="21" name="Text 19"/>
          <p:cNvSpPr txBox="1"/>
          <p:nvPr/>
        </p:nvSpPr>
        <p:spPr>
          <a:xfrm>
            <a:off x="9226296" y="2103120"/>
            <a:ext cx="2194560" cy="685800"/>
          </a:xfrm>
          <a:prstGeom prst="rect">
            <a:avLst/>
          </a:prstGeom>
          <a:noFill/>
          <a:ln/>
        </p:spPr>
        <p:txBody>
          <a:bodyPr wrap="square" lIns="0" tIns="0" rIns="0" bIns="0" rtlCol="0" anchor="ctr"/>
          <a:lstStyle/>
          <a:p>
            <a:pPr indent="0" marL="0">
              <a:buNone/>
            </a:pPr>
            <a:r>
              <a:rPr lang="en-US" sz="4000" b="1" dirty="0">
                <a:solidFill>
                  <a:schemeClr val="tx2"/>
                </a:solidFill>
                <a:latin typeface="Arial" pitchFamily="34" charset="0"/>
                <a:ea typeface="Arial" pitchFamily="34" charset="-122"/>
                <a:cs typeface="Arial" pitchFamily="34" charset="-120"/>
              </a:rPr>
              <a:t>343</a:t>
            </a:r>
            <a:endParaRPr lang="en-US" sz="4000" dirty="0"/>
          </a:p>
        </p:txBody>
      </p:sp>
      <p:sp>
        <p:nvSpPr>
          <p:cNvPr id="22" name="Text 20"/>
          <p:cNvSpPr txBox="1"/>
          <p:nvPr/>
        </p:nvSpPr>
        <p:spPr>
          <a:xfrm>
            <a:off x="9226296" y="2834640"/>
            <a:ext cx="2194560" cy="822960"/>
          </a:xfrm>
          <a:prstGeom prst="rect">
            <a:avLst/>
          </a:prstGeom>
          <a:noFill/>
          <a:ln/>
        </p:spPr>
        <p:txBody>
          <a:bodyPr wrap="square" lIns="0" tIns="0" rIns="0" bIns="0" rtlCol="0" anchor="t"/>
          <a:lstStyle/>
          <a:p>
            <a:pPr indent="0" marL="0">
              <a:buNone/>
            </a:pPr>
            <a:r>
              <a:rPr lang="en-US" sz="1200" dirty="0">
                <a:solidFill>
                  <a:schemeClr val="accent4"/>
                </a:solidFill>
              </a:rPr>
              <a:t>days  ·  286 in the baseline period, 27 in Sep 2026</a:t>
            </a:r>
            <a:endParaRPr lang="en-US" sz="1200" dirty="0"/>
          </a:p>
        </p:txBody>
      </p:sp>
      <p:sp>
        <p:nvSpPr>
          <p:cNvPr id="23" name="Text 21"/>
          <p:cNvSpPr txBox="1"/>
          <p:nvPr/>
        </p:nvSpPr>
        <p:spPr>
          <a:xfrm>
            <a:off x="548640" y="3977640"/>
            <a:ext cx="7315200" cy="365760"/>
          </a:xfrm>
          <a:prstGeom prst="rect">
            <a:avLst/>
          </a:prstGeom>
          <a:noFill/>
          <a:ln/>
        </p:spPr>
        <p:txBody>
          <a:bodyPr wrap="square" lIns="0" tIns="0" rIns="0" bIns="0" rtlCol="0" anchor="t"/>
          <a:lstStyle/>
          <a:p>
            <a:pPr indent="0" marL="0">
              <a:buNone/>
            </a:pPr>
            <a:r>
              <a:rPr lang="en-US" sz="1600" b="1" dirty="0">
                <a:solidFill>
                  <a:schemeClr val="tx2"/>
                </a:solidFill>
              </a:rPr>
              <a:t>Cleaning rules (applied the same way live)</a:t>
            </a:r>
            <a:endParaRPr lang="en-US" sz="16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4389120"/>
          <a:ext cx="11094415" cy="914400"/>
        </p:xfrm>
        <a:graphic>
          <a:graphicData uri="http://schemas.openxmlformats.org/drawingml/2006/table">
            <a:tbl>
              <a:tblPr/>
              <a:tblGrid>
                <a:gridCol w="5120640"/>
                <a:gridCol w="2651760"/>
                <a:gridCol w="3319272"/>
              </a:tblGrid>
              <a:tr h="347472">
                <a:tc>
                  <a:txBody>
                    <a:bodyPr/>
                    <a:lstStyle/>
                    <a:p>
                      <a:pPr indent="0" marL="0">
                        <a:buNone/>
                      </a:pPr>
                      <a:r>
                        <a:rPr lang="en-US" sz="1200" b="1" dirty="0">
                          <a:solidFill>
                            <a:schemeClr val="bg1"/>
                          </a:solidFill>
                        </a:rPr>
                        <a:t>Rule</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Affected</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Action</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r>
              <a:tr h="347472">
                <a:tc>
                  <a:txBody>
                    <a:bodyPr/>
                    <a:lstStyle/>
                    <a:p>
                      <a:pPr indent="0" marL="0">
                        <a:buNone/>
                      </a:pPr>
                      <a:r>
                        <a:rPr lang="en-US" sz="1200" dirty="0">
                          <a:solidFill>
                            <a:schemeClr val="tx1"/>
                          </a:solidFill>
                        </a:rPr>
                        <a:t>NCV outside 8,500–10,500 or a spike &gt; 400 from the 2-h median</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3,659 readings + 159 spikes</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Set to missing; live: last valid NCV</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347472">
                <a:tc>
                  <a:txBody>
                    <a:bodyPr/>
                    <a:lstStyle/>
                    <a:p>
                      <a:pPr indent="0" marL="0">
                        <a:buNone/>
                      </a:pPr>
                      <a:r>
                        <a:rPr lang="en-US" sz="1200" dirty="0">
                          <a:solidFill>
                            <a:schemeClr val="tx1"/>
                          </a:solidFill>
                        </a:rPr>
                        <a:t>Day with &lt; 90% valid NCV</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46 days</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Left out (no client NCV substituted)</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347472">
                <a:tc>
                  <a:txBody>
                    <a:bodyPr/>
                    <a:lstStyle/>
                    <a:p>
                      <a:pPr indent="0" marL="0">
                        <a:buNone/>
                      </a:pPr>
                      <a:r>
                        <a:rPr lang="en-US" sz="1200" dirty="0">
                          <a:solidFill>
                            <a:schemeClr val="tx1"/>
                          </a:solidFill>
                        </a:rPr>
                        <a:t>SAP draw doubled on month-start days</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3 days</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Halved (matches SAP exactly)</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347472">
                <a:tc>
                  <a:txBody>
                    <a:bodyPr/>
                    <a:lstStyle/>
                    <a:p>
                      <a:pPr indent="0" marL="0">
                        <a:buNone/>
                      </a:pPr>
                      <a:r>
                        <a:rPr lang="en-US" sz="1200" dirty="0">
                          <a:solidFill>
                            <a:schemeClr val="tx1"/>
                          </a:solidFill>
                        </a:rPr>
                        <a:t>Boost, optical, crown TC out of range</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zeros and glitches</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Set to missing; gaps ≤ 1 h interpolated</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Split method: walk-forward, never random</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Each day is predicted only from days before it, exactly as the model will run live</a:t>
            </a:r>
            <a:endParaRPr lang="en-US" sz="1600" dirty="0"/>
          </a:p>
        </p:txBody>
      </p:sp>
      <p:sp>
        <p:nvSpPr>
          <p:cNvPr id="4" name="Text 2"/>
          <p:cNvSpPr txBox="1"/>
          <p:nvPr/>
        </p:nvSpPr>
        <p:spPr>
          <a:xfrm>
            <a:off x="1325880" y="1691640"/>
            <a:ext cx="793629" cy="320040"/>
          </a:xfrm>
          <a:prstGeom prst="rect">
            <a:avLst/>
          </a:prstGeom>
          <a:noFill/>
          <a:ln/>
        </p:spPr>
        <p:txBody>
          <a:bodyPr wrap="square" lIns="0" tIns="0" rIns="0" bIns="0" rtlCol="0" anchor="t"/>
          <a:lstStyle/>
          <a:p>
            <a:pPr algn="ctr" indent="0" marL="0">
              <a:buNone/>
            </a:pPr>
            <a:r>
              <a:rPr lang="en-US" sz="1100" dirty="0">
                <a:solidFill>
                  <a:schemeClr val="accent4"/>
                </a:solidFill>
              </a:rPr>
              <a:t>Sep 25</a:t>
            </a:r>
            <a:endParaRPr lang="en-US" sz="1100" dirty="0"/>
          </a:p>
        </p:txBody>
      </p:sp>
      <p:sp>
        <p:nvSpPr>
          <p:cNvPr id="5" name="Text 3"/>
          <p:cNvSpPr txBox="1"/>
          <p:nvPr/>
        </p:nvSpPr>
        <p:spPr>
          <a:xfrm>
            <a:off x="2119509" y="1691640"/>
            <a:ext cx="793629" cy="320040"/>
          </a:xfrm>
          <a:prstGeom prst="rect">
            <a:avLst/>
          </a:prstGeom>
          <a:noFill/>
          <a:ln/>
        </p:spPr>
        <p:txBody>
          <a:bodyPr wrap="square" lIns="0" tIns="0" rIns="0" bIns="0" rtlCol="0" anchor="t"/>
          <a:lstStyle/>
          <a:p>
            <a:pPr algn="ctr" indent="0" marL="0">
              <a:buNone/>
            </a:pPr>
            <a:r>
              <a:rPr lang="en-US" sz="1100" dirty="0">
                <a:solidFill>
                  <a:schemeClr val="accent4"/>
                </a:solidFill>
              </a:rPr>
              <a:t>Oct</a:t>
            </a:r>
            <a:endParaRPr lang="en-US" sz="1100" dirty="0"/>
          </a:p>
        </p:txBody>
      </p:sp>
      <p:sp>
        <p:nvSpPr>
          <p:cNvPr id="6" name="Text 4"/>
          <p:cNvSpPr txBox="1"/>
          <p:nvPr/>
        </p:nvSpPr>
        <p:spPr>
          <a:xfrm>
            <a:off x="2913138" y="1691640"/>
            <a:ext cx="793629" cy="320040"/>
          </a:xfrm>
          <a:prstGeom prst="rect">
            <a:avLst/>
          </a:prstGeom>
          <a:noFill/>
          <a:ln/>
        </p:spPr>
        <p:txBody>
          <a:bodyPr wrap="square" lIns="0" tIns="0" rIns="0" bIns="0" rtlCol="0" anchor="t"/>
          <a:lstStyle/>
          <a:p>
            <a:pPr algn="ctr" indent="0" marL="0">
              <a:buNone/>
            </a:pPr>
            <a:r>
              <a:rPr lang="en-US" sz="1100" dirty="0">
                <a:solidFill>
                  <a:schemeClr val="accent4"/>
                </a:solidFill>
              </a:rPr>
              <a:t>Nov</a:t>
            </a:r>
            <a:endParaRPr lang="en-US" sz="1100" dirty="0"/>
          </a:p>
        </p:txBody>
      </p:sp>
      <p:sp>
        <p:nvSpPr>
          <p:cNvPr id="7" name="Text 5"/>
          <p:cNvSpPr txBox="1"/>
          <p:nvPr/>
        </p:nvSpPr>
        <p:spPr>
          <a:xfrm>
            <a:off x="3706767" y="1691640"/>
            <a:ext cx="793629" cy="320040"/>
          </a:xfrm>
          <a:prstGeom prst="rect">
            <a:avLst/>
          </a:prstGeom>
          <a:noFill/>
          <a:ln/>
        </p:spPr>
        <p:txBody>
          <a:bodyPr wrap="square" lIns="0" tIns="0" rIns="0" bIns="0" rtlCol="0" anchor="t"/>
          <a:lstStyle/>
          <a:p>
            <a:pPr algn="ctr" indent="0" marL="0">
              <a:buNone/>
            </a:pPr>
            <a:r>
              <a:rPr lang="en-US" sz="1100" dirty="0">
                <a:solidFill>
                  <a:schemeClr val="accent4"/>
                </a:solidFill>
              </a:rPr>
              <a:t>Dec</a:t>
            </a:r>
            <a:endParaRPr lang="en-US" sz="1100" dirty="0"/>
          </a:p>
        </p:txBody>
      </p:sp>
      <p:sp>
        <p:nvSpPr>
          <p:cNvPr id="8" name="Text 6"/>
          <p:cNvSpPr txBox="1"/>
          <p:nvPr/>
        </p:nvSpPr>
        <p:spPr>
          <a:xfrm>
            <a:off x="4500395" y="1691640"/>
            <a:ext cx="793629" cy="320040"/>
          </a:xfrm>
          <a:prstGeom prst="rect">
            <a:avLst/>
          </a:prstGeom>
          <a:noFill/>
          <a:ln/>
        </p:spPr>
        <p:txBody>
          <a:bodyPr wrap="square" lIns="0" tIns="0" rIns="0" bIns="0" rtlCol="0" anchor="t"/>
          <a:lstStyle/>
          <a:p>
            <a:pPr algn="ctr" indent="0" marL="0">
              <a:buNone/>
            </a:pPr>
            <a:r>
              <a:rPr lang="en-US" sz="1100" dirty="0">
                <a:solidFill>
                  <a:schemeClr val="accent4"/>
                </a:solidFill>
              </a:rPr>
              <a:t>Jan 26</a:t>
            </a:r>
            <a:endParaRPr lang="en-US" sz="1100" dirty="0"/>
          </a:p>
        </p:txBody>
      </p:sp>
      <p:sp>
        <p:nvSpPr>
          <p:cNvPr id="9" name="Text 7"/>
          <p:cNvSpPr txBox="1"/>
          <p:nvPr/>
        </p:nvSpPr>
        <p:spPr>
          <a:xfrm>
            <a:off x="5294024" y="1691640"/>
            <a:ext cx="793629" cy="320040"/>
          </a:xfrm>
          <a:prstGeom prst="rect">
            <a:avLst/>
          </a:prstGeom>
          <a:noFill/>
          <a:ln/>
        </p:spPr>
        <p:txBody>
          <a:bodyPr wrap="square" lIns="0" tIns="0" rIns="0" bIns="0" rtlCol="0" anchor="t"/>
          <a:lstStyle/>
          <a:p>
            <a:pPr algn="ctr" indent="0" marL="0">
              <a:buNone/>
            </a:pPr>
            <a:r>
              <a:rPr lang="en-US" sz="1100" dirty="0">
                <a:solidFill>
                  <a:schemeClr val="accent4"/>
                </a:solidFill>
              </a:rPr>
              <a:t>Feb</a:t>
            </a:r>
            <a:endParaRPr lang="en-US" sz="1100" dirty="0"/>
          </a:p>
        </p:txBody>
      </p:sp>
      <p:sp>
        <p:nvSpPr>
          <p:cNvPr id="10" name="Text 8"/>
          <p:cNvSpPr txBox="1"/>
          <p:nvPr/>
        </p:nvSpPr>
        <p:spPr>
          <a:xfrm>
            <a:off x="6087653" y="1691640"/>
            <a:ext cx="793629" cy="320040"/>
          </a:xfrm>
          <a:prstGeom prst="rect">
            <a:avLst/>
          </a:prstGeom>
          <a:noFill/>
          <a:ln/>
        </p:spPr>
        <p:txBody>
          <a:bodyPr wrap="square" lIns="0" tIns="0" rIns="0" bIns="0" rtlCol="0" anchor="t"/>
          <a:lstStyle/>
          <a:p>
            <a:pPr algn="ctr" indent="0" marL="0">
              <a:buNone/>
            </a:pPr>
            <a:r>
              <a:rPr lang="en-US" sz="1100" dirty="0">
                <a:solidFill>
                  <a:schemeClr val="accent4"/>
                </a:solidFill>
              </a:rPr>
              <a:t>Mar</a:t>
            </a:r>
            <a:endParaRPr lang="en-US" sz="1100" dirty="0"/>
          </a:p>
        </p:txBody>
      </p:sp>
      <p:sp>
        <p:nvSpPr>
          <p:cNvPr id="11" name="Text 9"/>
          <p:cNvSpPr txBox="1"/>
          <p:nvPr/>
        </p:nvSpPr>
        <p:spPr>
          <a:xfrm>
            <a:off x="6881282" y="1691640"/>
            <a:ext cx="793629" cy="320040"/>
          </a:xfrm>
          <a:prstGeom prst="rect">
            <a:avLst/>
          </a:prstGeom>
          <a:noFill/>
          <a:ln/>
        </p:spPr>
        <p:txBody>
          <a:bodyPr wrap="square" lIns="0" tIns="0" rIns="0" bIns="0" rtlCol="0" anchor="t"/>
          <a:lstStyle/>
          <a:p>
            <a:pPr algn="ctr" indent="0" marL="0">
              <a:buNone/>
            </a:pPr>
            <a:r>
              <a:rPr lang="en-US" sz="1100" dirty="0">
                <a:solidFill>
                  <a:schemeClr val="accent4"/>
                </a:solidFill>
              </a:rPr>
              <a:t>Apr</a:t>
            </a:r>
            <a:endParaRPr lang="en-US" sz="1100" dirty="0"/>
          </a:p>
        </p:txBody>
      </p:sp>
      <p:sp>
        <p:nvSpPr>
          <p:cNvPr id="12" name="Text 10"/>
          <p:cNvSpPr txBox="1"/>
          <p:nvPr/>
        </p:nvSpPr>
        <p:spPr>
          <a:xfrm>
            <a:off x="7674911" y="1691640"/>
            <a:ext cx="793629" cy="320040"/>
          </a:xfrm>
          <a:prstGeom prst="rect">
            <a:avLst/>
          </a:prstGeom>
          <a:noFill/>
          <a:ln/>
        </p:spPr>
        <p:txBody>
          <a:bodyPr wrap="square" lIns="0" tIns="0" rIns="0" bIns="0" rtlCol="0" anchor="t"/>
          <a:lstStyle/>
          <a:p>
            <a:pPr algn="ctr" indent="0" marL="0">
              <a:buNone/>
            </a:pPr>
            <a:r>
              <a:rPr lang="en-US" sz="1100" dirty="0">
                <a:solidFill>
                  <a:schemeClr val="accent4"/>
                </a:solidFill>
              </a:rPr>
              <a:t>May</a:t>
            </a:r>
            <a:endParaRPr lang="en-US" sz="1100" dirty="0"/>
          </a:p>
        </p:txBody>
      </p:sp>
      <p:sp>
        <p:nvSpPr>
          <p:cNvPr id="13" name="Text 11"/>
          <p:cNvSpPr txBox="1"/>
          <p:nvPr/>
        </p:nvSpPr>
        <p:spPr>
          <a:xfrm>
            <a:off x="8468540" y="1691640"/>
            <a:ext cx="793629" cy="320040"/>
          </a:xfrm>
          <a:prstGeom prst="rect">
            <a:avLst/>
          </a:prstGeom>
          <a:noFill/>
          <a:ln/>
        </p:spPr>
        <p:txBody>
          <a:bodyPr wrap="square" lIns="0" tIns="0" rIns="0" bIns="0" rtlCol="0" anchor="t"/>
          <a:lstStyle/>
          <a:p>
            <a:pPr algn="ctr" indent="0" marL="0">
              <a:buNone/>
            </a:pPr>
            <a:r>
              <a:rPr lang="en-US" sz="1100" dirty="0">
                <a:solidFill>
                  <a:schemeClr val="accent4"/>
                </a:solidFill>
              </a:rPr>
              <a:t>Jun</a:t>
            </a:r>
            <a:endParaRPr lang="en-US" sz="1100" dirty="0"/>
          </a:p>
        </p:txBody>
      </p:sp>
      <p:sp>
        <p:nvSpPr>
          <p:cNvPr id="14" name="Text 12"/>
          <p:cNvSpPr txBox="1"/>
          <p:nvPr/>
        </p:nvSpPr>
        <p:spPr>
          <a:xfrm>
            <a:off x="9262169" y="1691640"/>
            <a:ext cx="793629" cy="320040"/>
          </a:xfrm>
          <a:prstGeom prst="rect">
            <a:avLst/>
          </a:prstGeom>
          <a:noFill/>
          <a:ln/>
        </p:spPr>
        <p:txBody>
          <a:bodyPr wrap="square" lIns="0" tIns="0" rIns="0" bIns="0" rtlCol="0" anchor="t"/>
          <a:lstStyle/>
          <a:p>
            <a:pPr algn="ctr" indent="0" marL="0">
              <a:buNone/>
            </a:pPr>
            <a:r>
              <a:rPr lang="en-US" sz="1100" dirty="0">
                <a:solidFill>
                  <a:schemeClr val="accent4"/>
                </a:solidFill>
              </a:rPr>
              <a:t>Jul</a:t>
            </a:r>
            <a:endParaRPr lang="en-US" sz="1100" dirty="0"/>
          </a:p>
        </p:txBody>
      </p:sp>
      <p:sp>
        <p:nvSpPr>
          <p:cNvPr id="15" name="Text 13"/>
          <p:cNvSpPr txBox="1"/>
          <p:nvPr/>
        </p:nvSpPr>
        <p:spPr>
          <a:xfrm>
            <a:off x="10055797" y="1691640"/>
            <a:ext cx="793629" cy="320040"/>
          </a:xfrm>
          <a:prstGeom prst="rect">
            <a:avLst/>
          </a:prstGeom>
          <a:noFill/>
          <a:ln/>
        </p:spPr>
        <p:txBody>
          <a:bodyPr wrap="square" lIns="0" tIns="0" rIns="0" bIns="0" rtlCol="0" anchor="t"/>
          <a:lstStyle/>
          <a:p>
            <a:pPr algn="ctr" indent="0" marL="0">
              <a:buNone/>
            </a:pPr>
            <a:r>
              <a:rPr lang="en-US" sz="1100" dirty="0">
                <a:solidFill>
                  <a:schemeClr val="accent4"/>
                </a:solidFill>
              </a:rPr>
              <a:t>Aug</a:t>
            </a:r>
            <a:endParaRPr lang="en-US" sz="1100" dirty="0"/>
          </a:p>
        </p:txBody>
      </p:sp>
      <p:sp>
        <p:nvSpPr>
          <p:cNvPr id="16" name="Text 14"/>
          <p:cNvSpPr txBox="1"/>
          <p:nvPr/>
        </p:nvSpPr>
        <p:spPr>
          <a:xfrm>
            <a:off x="10849426" y="1691640"/>
            <a:ext cx="793629" cy="320040"/>
          </a:xfrm>
          <a:prstGeom prst="rect">
            <a:avLst/>
          </a:prstGeom>
          <a:noFill/>
          <a:ln/>
        </p:spPr>
        <p:txBody>
          <a:bodyPr wrap="square" lIns="0" tIns="0" rIns="0" bIns="0" rtlCol="0" anchor="t"/>
          <a:lstStyle/>
          <a:p>
            <a:pPr algn="ctr" indent="0" marL="0">
              <a:buNone/>
            </a:pPr>
            <a:r>
              <a:rPr lang="en-US" sz="1100" dirty="0">
                <a:solidFill>
                  <a:schemeClr val="accent4"/>
                </a:solidFill>
              </a:rPr>
              <a:t>Sep 26</a:t>
            </a:r>
            <a:endParaRPr lang="en-US" sz="1100" dirty="0"/>
          </a:p>
        </p:txBody>
      </p:sp>
      <p:sp>
        <p:nvSpPr>
          <p:cNvPr id="17" name="Text 15"/>
          <p:cNvSpPr txBox="1"/>
          <p:nvPr/>
        </p:nvSpPr>
        <p:spPr>
          <a:xfrm>
            <a:off x="548640" y="2148840"/>
            <a:ext cx="640080" cy="457200"/>
          </a:xfrm>
          <a:prstGeom prst="rect">
            <a:avLst/>
          </a:prstGeom>
          <a:noFill/>
          <a:ln/>
        </p:spPr>
        <p:txBody>
          <a:bodyPr wrap="square" lIns="0" tIns="0" rIns="0" bIns="0" rtlCol="0" anchor="ctr"/>
          <a:lstStyle/>
          <a:p>
            <a:pPr indent="0" marL="0">
              <a:buNone/>
            </a:pPr>
            <a:r>
              <a:rPr lang="en-US" sz="1100" b="1" dirty="0">
                <a:solidFill>
                  <a:schemeClr val="tx2"/>
                </a:solidFill>
              </a:rPr>
              <a:t>Fold 1</a:t>
            </a:r>
            <a:endParaRPr lang="en-US" sz="1100" dirty="0"/>
          </a:p>
        </p:txBody>
      </p:sp>
      <p:sp>
        <p:nvSpPr>
          <p:cNvPr id="18" name="timeline bar"/>
          <p:cNvSpPr/>
          <p:nvPr/>
        </p:nvSpPr>
        <p:spPr>
          <a:xfrm>
            <a:off x="1325880" y="2148840"/>
            <a:ext cx="4761773" cy="457200"/>
          </a:xfrm>
          <a:prstGeom prst="roundRect">
            <a:avLst>
              <a:gd name="adj" fmla="val 12000"/>
            </a:avLst>
          </a:prstGeom>
          <a:solidFill>
            <a:schemeClr val="accent6"/>
          </a:solidFill>
          <a:ln/>
        </p:spPr>
      </p:sp>
      <p:sp>
        <p:nvSpPr>
          <p:cNvPr id="19" name="Text 17"/>
          <p:cNvSpPr txBox="1"/>
          <p:nvPr/>
        </p:nvSpPr>
        <p:spPr>
          <a:xfrm>
            <a:off x="1417320" y="2148840"/>
            <a:ext cx="4578893" cy="457200"/>
          </a:xfrm>
          <a:prstGeom prst="rect">
            <a:avLst/>
          </a:prstGeom>
          <a:noFill/>
          <a:ln/>
        </p:spPr>
        <p:txBody>
          <a:bodyPr wrap="square" lIns="0" tIns="0" rIns="0" bIns="0" rtlCol="0" anchor="ctr"/>
          <a:lstStyle/>
          <a:p>
            <a:pPr indent="0" marL="0">
              <a:buNone/>
            </a:pPr>
            <a:r>
              <a:rPr lang="en-US" sz="1200" b="1" dirty="0">
                <a:solidFill>
                  <a:schemeClr val="tx2"/>
                </a:solidFill>
              </a:rPr>
              <a:t>Train: all earlier days (expanding)</a:t>
            </a:r>
            <a:endParaRPr lang="en-US" sz="1200" dirty="0"/>
          </a:p>
        </p:txBody>
      </p:sp>
      <p:sp>
        <p:nvSpPr>
          <p:cNvPr id="20" name="timeline bar"/>
          <p:cNvSpPr/>
          <p:nvPr/>
        </p:nvSpPr>
        <p:spPr>
          <a:xfrm>
            <a:off x="6087653" y="2148840"/>
            <a:ext cx="2380887" cy="457200"/>
          </a:xfrm>
          <a:prstGeom prst="roundRect">
            <a:avLst>
              <a:gd name="adj" fmla="val 12000"/>
            </a:avLst>
          </a:prstGeom>
          <a:solidFill>
            <a:schemeClr val="accent1"/>
          </a:solidFill>
          <a:ln/>
        </p:spPr>
      </p:sp>
      <p:sp>
        <p:nvSpPr>
          <p:cNvPr id="21" name="Text 19"/>
          <p:cNvSpPr txBox="1"/>
          <p:nvPr/>
        </p:nvSpPr>
        <p:spPr>
          <a:xfrm>
            <a:off x="6179093" y="2148840"/>
            <a:ext cx="2198007" cy="457200"/>
          </a:xfrm>
          <a:prstGeom prst="rect">
            <a:avLst/>
          </a:prstGeom>
          <a:noFill/>
          <a:ln/>
        </p:spPr>
        <p:txBody>
          <a:bodyPr wrap="square" lIns="0" tIns="0" rIns="0" bIns="0" rtlCol="0" anchor="ctr"/>
          <a:lstStyle/>
          <a:p>
            <a:pPr indent="0" marL="0">
              <a:buNone/>
            </a:pPr>
            <a:r>
              <a:rPr lang="en-US" sz="1200" b="1" dirty="0">
                <a:solidFill>
                  <a:schemeClr val="bg1"/>
                </a:solidFill>
              </a:rPr>
              <a:t>Test Mar–May 26</a:t>
            </a:r>
            <a:endParaRPr lang="en-US" sz="1200" dirty="0"/>
          </a:p>
        </p:txBody>
      </p:sp>
      <p:sp>
        <p:nvSpPr>
          <p:cNvPr id="22" name="Text 20"/>
          <p:cNvSpPr txBox="1"/>
          <p:nvPr/>
        </p:nvSpPr>
        <p:spPr>
          <a:xfrm>
            <a:off x="548640" y="2807208"/>
            <a:ext cx="640080" cy="457200"/>
          </a:xfrm>
          <a:prstGeom prst="rect">
            <a:avLst/>
          </a:prstGeom>
          <a:noFill/>
          <a:ln/>
        </p:spPr>
        <p:txBody>
          <a:bodyPr wrap="square" lIns="0" tIns="0" rIns="0" bIns="0" rtlCol="0" anchor="ctr"/>
          <a:lstStyle/>
          <a:p>
            <a:pPr indent="0" marL="0">
              <a:buNone/>
            </a:pPr>
            <a:r>
              <a:rPr lang="en-US" sz="1100" b="1" dirty="0">
                <a:solidFill>
                  <a:schemeClr val="tx2"/>
                </a:solidFill>
              </a:rPr>
              <a:t>Fold 2</a:t>
            </a:r>
            <a:endParaRPr lang="en-US" sz="1100" dirty="0"/>
          </a:p>
        </p:txBody>
      </p:sp>
      <p:sp>
        <p:nvSpPr>
          <p:cNvPr id="23" name="timeline bar"/>
          <p:cNvSpPr/>
          <p:nvPr/>
        </p:nvSpPr>
        <p:spPr>
          <a:xfrm>
            <a:off x="1325880" y="2807208"/>
            <a:ext cx="7142660" cy="457200"/>
          </a:xfrm>
          <a:prstGeom prst="roundRect">
            <a:avLst>
              <a:gd name="adj" fmla="val 12000"/>
            </a:avLst>
          </a:prstGeom>
          <a:solidFill>
            <a:schemeClr val="accent6"/>
          </a:solidFill>
          <a:ln/>
        </p:spPr>
      </p:sp>
      <p:sp>
        <p:nvSpPr>
          <p:cNvPr id="24" name="Text 22"/>
          <p:cNvSpPr txBox="1"/>
          <p:nvPr/>
        </p:nvSpPr>
        <p:spPr>
          <a:xfrm>
            <a:off x="1417320" y="2807208"/>
            <a:ext cx="6959780" cy="457200"/>
          </a:xfrm>
          <a:prstGeom prst="rect">
            <a:avLst/>
          </a:prstGeom>
          <a:noFill/>
          <a:ln/>
        </p:spPr>
        <p:txBody>
          <a:bodyPr wrap="square" lIns="0" tIns="0" rIns="0" bIns="0" rtlCol="0" anchor="ctr"/>
          <a:lstStyle/>
          <a:p>
            <a:pPr indent="0" marL="0">
              <a:buNone/>
            </a:pPr>
            <a:r>
              <a:rPr lang="en-US" sz="1200" b="1" dirty="0">
                <a:solidFill>
                  <a:schemeClr val="tx2"/>
                </a:solidFill>
              </a:rPr>
              <a:t>Train: all earlier days (expanding)</a:t>
            </a:r>
            <a:endParaRPr lang="en-US" sz="1200" dirty="0"/>
          </a:p>
        </p:txBody>
      </p:sp>
      <p:sp>
        <p:nvSpPr>
          <p:cNvPr id="25" name="timeline bar"/>
          <p:cNvSpPr/>
          <p:nvPr/>
        </p:nvSpPr>
        <p:spPr>
          <a:xfrm>
            <a:off x="8468540" y="2807208"/>
            <a:ext cx="2380887" cy="457200"/>
          </a:xfrm>
          <a:prstGeom prst="roundRect">
            <a:avLst>
              <a:gd name="adj" fmla="val 12000"/>
            </a:avLst>
          </a:prstGeom>
          <a:solidFill>
            <a:schemeClr val="accent1"/>
          </a:solidFill>
          <a:ln/>
        </p:spPr>
      </p:sp>
      <p:sp>
        <p:nvSpPr>
          <p:cNvPr id="26" name="Text 24"/>
          <p:cNvSpPr txBox="1"/>
          <p:nvPr/>
        </p:nvSpPr>
        <p:spPr>
          <a:xfrm>
            <a:off x="8559980" y="2807208"/>
            <a:ext cx="2198007" cy="457200"/>
          </a:xfrm>
          <a:prstGeom prst="rect">
            <a:avLst/>
          </a:prstGeom>
          <a:noFill/>
          <a:ln/>
        </p:spPr>
        <p:txBody>
          <a:bodyPr wrap="square" lIns="0" tIns="0" rIns="0" bIns="0" rtlCol="0" anchor="ctr"/>
          <a:lstStyle/>
          <a:p>
            <a:pPr indent="0" marL="0">
              <a:buNone/>
            </a:pPr>
            <a:r>
              <a:rPr lang="en-US" sz="1200" b="1" dirty="0">
                <a:solidFill>
                  <a:schemeClr val="bg1"/>
                </a:solidFill>
              </a:rPr>
              <a:t>Test Jun–Aug 26</a:t>
            </a:r>
            <a:endParaRPr lang="en-US" sz="1200" dirty="0"/>
          </a:p>
        </p:txBody>
      </p:sp>
      <p:sp>
        <p:nvSpPr>
          <p:cNvPr id="27" name="Text 25"/>
          <p:cNvSpPr txBox="1"/>
          <p:nvPr/>
        </p:nvSpPr>
        <p:spPr>
          <a:xfrm>
            <a:off x="548640" y="3465576"/>
            <a:ext cx="640080" cy="457200"/>
          </a:xfrm>
          <a:prstGeom prst="rect">
            <a:avLst/>
          </a:prstGeom>
          <a:noFill/>
          <a:ln/>
        </p:spPr>
        <p:txBody>
          <a:bodyPr wrap="square" lIns="0" tIns="0" rIns="0" bIns="0" rtlCol="0" anchor="ctr"/>
          <a:lstStyle/>
          <a:p>
            <a:pPr indent="0" marL="0">
              <a:buNone/>
            </a:pPr>
            <a:r>
              <a:rPr lang="en-US" sz="1100" b="1" dirty="0">
                <a:solidFill>
                  <a:schemeClr val="tx2"/>
                </a:solidFill>
              </a:rPr>
              <a:t>Unseen</a:t>
            </a:r>
            <a:endParaRPr lang="en-US" sz="1100" dirty="0"/>
          </a:p>
        </p:txBody>
      </p:sp>
      <p:sp>
        <p:nvSpPr>
          <p:cNvPr id="28" name="timeline bar"/>
          <p:cNvSpPr/>
          <p:nvPr/>
        </p:nvSpPr>
        <p:spPr>
          <a:xfrm>
            <a:off x="1325880" y="3465576"/>
            <a:ext cx="9523546" cy="457200"/>
          </a:xfrm>
          <a:prstGeom prst="roundRect">
            <a:avLst>
              <a:gd name="adj" fmla="val 12000"/>
            </a:avLst>
          </a:prstGeom>
          <a:solidFill>
            <a:schemeClr val="accent6"/>
          </a:solidFill>
          <a:ln/>
        </p:spPr>
      </p:sp>
      <p:sp>
        <p:nvSpPr>
          <p:cNvPr id="29" name="Text 27"/>
          <p:cNvSpPr txBox="1"/>
          <p:nvPr/>
        </p:nvSpPr>
        <p:spPr>
          <a:xfrm>
            <a:off x="1417320" y="3465576"/>
            <a:ext cx="9340666" cy="457200"/>
          </a:xfrm>
          <a:prstGeom prst="rect">
            <a:avLst/>
          </a:prstGeom>
          <a:noFill/>
          <a:ln/>
        </p:spPr>
        <p:txBody>
          <a:bodyPr wrap="square" lIns="0" tIns="0" rIns="0" bIns="0" rtlCol="0" anchor="ctr"/>
          <a:lstStyle/>
          <a:p>
            <a:pPr indent="0" marL="0">
              <a:buNone/>
            </a:pPr>
            <a:r>
              <a:rPr lang="en-US" sz="1200" b="1" dirty="0">
                <a:solidFill>
                  <a:schemeClr val="tx2"/>
                </a:solidFill>
              </a:rPr>
              <a:t>Train: everything up to Aug 2026</a:t>
            </a:r>
            <a:endParaRPr lang="en-US" sz="1200" dirty="0"/>
          </a:p>
        </p:txBody>
      </p:sp>
      <p:sp>
        <p:nvSpPr>
          <p:cNvPr id="30" name="timeline bar"/>
          <p:cNvSpPr/>
          <p:nvPr/>
        </p:nvSpPr>
        <p:spPr>
          <a:xfrm>
            <a:off x="10849426" y="3465576"/>
            <a:ext cx="793629" cy="457200"/>
          </a:xfrm>
          <a:prstGeom prst="roundRect">
            <a:avLst>
              <a:gd name="adj" fmla="val 12000"/>
            </a:avLst>
          </a:prstGeom>
          <a:solidFill>
            <a:schemeClr val="accent2"/>
          </a:solidFill>
          <a:ln/>
        </p:spPr>
      </p:sp>
      <p:sp>
        <p:nvSpPr>
          <p:cNvPr id="31" name="Text 29"/>
          <p:cNvSpPr txBox="1"/>
          <p:nvPr/>
        </p:nvSpPr>
        <p:spPr>
          <a:xfrm>
            <a:off x="10940866" y="3465576"/>
            <a:ext cx="610749" cy="457200"/>
          </a:xfrm>
          <a:prstGeom prst="rect">
            <a:avLst/>
          </a:prstGeom>
          <a:noFill/>
          <a:ln/>
        </p:spPr>
        <p:txBody>
          <a:bodyPr wrap="square" lIns="0" tIns="0" rIns="0" bIns="0" rtlCol="0" anchor="ctr"/>
          <a:lstStyle/>
          <a:p>
            <a:pPr indent="0" marL="0">
              <a:buNone/>
            </a:pPr>
            <a:r>
              <a:rPr lang="en-US" sz="1200" b="1" dirty="0">
                <a:solidFill>
                  <a:schemeClr val="bg1"/>
                </a:solidFill>
              </a:rPr>
              <a:t>Sep 26</a:t>
            </a:r>
            <a:endParaRPr lang="en-US" sz="1200" dirty="0"/>
          </a:p>
        </p:txBody>
      </p:sp>
      <p:sp>
        <p:nvSpPr>
          <p:cNvPr id="32" name="Text 30"/>
          <p:cNvSpPr txBox="1"/>
          <p:nvPr/>
        </p:nvSpPr>
        <p:spPr>
          <a:xfrm>
            <a:off x="548640" y="4123944"/>
            <a:ext cx="640080" cy="457200"/>
          </a:xfrm>
          <a:prstGeom prst="rect">
            <a:avLst/>
          </a:prstGeom>
          <a:noFill/>
          <a:ln/>
        </p:spPr>
        <p:txBody>
          <a:bodyPr wrap="square" lIns="0" tIns="0" rIns="0" bIns="0" rtlCol="0" anchor="ctr"/>
          <a:lstStyle/>
          <a:p>
            <a:pPr indent="0" marL="0">
              <a:buNone/>
            </a:pPr>
            <a:r>
              <a:rPr lang="en-US" sz="1100" b="1" dirty="0">
                <a:solidFill>
                  <a:schemeClr val="tx2"/>
                </a:solidFill>
              </a:rPr>
              <a:t>Replay</a:t>
            </a:r>
            <a:endParaRPr lang="en-US" sz="1100" dirty="0"/>
          </a:p>
        </p:txBody>
      </p:sp>
      <p:sp>
        <p:nvSpPr>
          <p:cNvPr id="33" name="timeline bar"/>
          <p:cNvSpPr/>
          <p:nvPr/>
        </p:nvSpPr>
        <p:spPr>
          <a:xfrm>
            <a:off x="3706767" y="4123944"/>
            <a:ext cx="7936289" cy="457200"/>
          </a:xfrm>
          <a:prstGeom prst="roundRect">
            <a:avLst>
              <a:gd name="adj" fmla="val 12000"/>
            </a:avLst>
          </a:prstGeom>
          <a:solidFill>
            <a:schemeClr val="accent3"/>
          </a:solidFill>
          <a:ln/>
        </p:spPr>
      </p:sp>
      <p:sp>
        <p:nvSpPr>
          <p:cNvPr id="34" name="Text 32"/>
          <p:cNvSpPr txBox="1"/>
          <p:nvPr/>
        </p:nvSpPr>
        <p:spPr>
          <a:xfrm>
            <a:off x="3798207" y="4123944"/>
            <a:ext cx="7753409" cy="457200"/>
          </a:xfrm>
          <a:prstGeom prst="rect">
            <a:avLst/>
          </a:prstGeom>
          <a:noFill/>
          <a:ln/>
        </p:spPr>
        <p:txBody>
          <a:bodyPr wrap="square" lIns="0" tIns="0" rIns="0" bIns="0" rtlCol="0" anchor="ctr"/>
          <a:lstStyle/>
          <a:p>
            <a:pPr indent="0" marL="0">
              <a:buNone/>
            </a:pPr>
            <a:r>
              <a:rPr lang="en-US" sz="1200" b="1" dirty="0">
                <a:solidFill>
                  <a:schemeClr val="bg1"/>
                </a:solidFill>
              </a:rPr>
              <a:t>Full recommender replayed day by day: 292 days, Dec 2025 – Sep 2026</a:t>
            </a:r>
            <a:endParaRPr lang="en-US" sz="1200" dirty="0"/>
          </a:p>
        </p:txBody>
      </p:sp>
      <p:sp>
        <p:nvSpPr>
          <p:cNvPr id="35" name="icon circle"/>
          <p:cNvSpPr/>
          <p:nvPr/>
        </p:nvSpPr>
        <p:spPr>
          <a:xfrm>
            <a:off x="548640" y="4983480"/>
            <a:ext cx="502920" cy="502920"/>
          </a:xfrm>
          <a:prstGeom prst="ellipse">
            <a:avLst/>
          </a:prstGeom>
          <a:solidFill>
            <a:schemeClr val="accent1"/>
          </a:solidFill>
          <a:ln/>
        </p:spPr>
      </p:sp>
      <p:pic>
        <p:nvPicPr>
          <p:cNvPr id="36" name="Image 0" descr="FaBan">    </p:cNvPr>
          <p:cNvPicPr>
            <a:picLocks noChangeAspect="1"/>
          </p:cNvPicPr>
          <p:nvPr/>
        </p:nvPicPr>
        <p:blipFill>
          <a:blip r:embed="rId1"/>
          <a:stretch>
            <a:fillRect/>
          </a:stretch>
        </p:blipFill>
        <p:spPr>
          <a:xfrm>
            <a:off x="679399" y="5114239"/>
            <a:ext cx="241402" cy="241402"/>
          </a:xfrm>
          <a:prstGeom prst="rect">
            <a:avLst/>
          </a:prstGeom>
        </p:spPr>
      </p:pic>
      <p:sp>
        <p:nvSpPr>
          <p:cNvPr id="37" name="Text 34"/>
          <p:cNvSpPr txBox="1"/>
          <p:nvPr/>
        </p:nvSpPr>
        <p:spPr>
          <a:xfrm>
            <a:off x="1188720" y="4983480"/>
            <a:ext cx="2926080" cy="365760"/>
          </a:xfrm>
          <a:prstGeom prst="rect">
            <a:avLst/>
          </a:prstGeom>
          <a:noFill/>
          <a:ln/>
        </p:spPr>
        <p:txBody>
          <a:bodyPr wrap="square" lIns="0" tIns="0" rIns="0" bIns="0" rtlCol="0" anchor="t"/>
          <a:lstStyle/>
          <a:p>
            <a:pPr indent="0" marL="0">
              <a:buNone/>
            </a:pPr>
            <a:r>
              <a:rPr lang="en-US" sz="1500" b="1" dirty="0">
                <a:solidFill>
                  <a:schemeClr val="tx2"/>
                </a:solidFill>
              </a:rPr>
              <a:t>Why not random?</a:t>
            </a:r>
            <a:endParaRPr lang="en-US" sz="1500" dirty="0"/>
          </a:p>
        </p:txBody>
      </p:sp>
      <p:sp>
        <p:nvSpPr>
          <p:cNvPr id="38" name="Text 35"/>
          <p:cNvSpPr txBox="1"/>
          <p:nvPr/>
        </p:nvSpPr>
        <p:spPr>
          <a:xfrm>
            <a:off x="1188720" y="5349240"/>
            <a:ext cx="2926080" cy="914400"/>
          </a:xfrm>
          <a:prstGeom prst="rect">
            <a:avLst/>
          </a:prstGeom>
          <a:noFill/>
          <a:ln/>
        </p:spPr>
        <p:txBody>
          <a:bodyPr wrap="square" lIns="0" tIns="0" rIns="0" bIns="0" rtlCol="0" anchor="t"/>
          <a:lstStyle/>
          <a:p>
            <a:pPr indent="0" marL="0">
              <a:buNone/>
            </a:pPr>
            <a:r>
              <a:rPr lang="en-US" sz="1200" dirty="0">
                <a:solidFill>
                  <a:schemeClr val="tx1"/>
                </a:solidFill>
              </a:rPr>
              <a:t>A random split leaks future furnace states (ageing, NCV, draw) into training and overstates accuracy.</a:t>
            </a:r>
            <a:endParaRPr lang="en-US" sz="1200" dirty="0"/>
          </a:p>
        </p:txBody>
      </p:sp>
      <p:sp>
        <p:nvSpPr>
          <p:cNvPr id="39" name="icon circle"/>
          <p:cNvSpPr/>
          <p:nvPr/>
        </p:nvSpPr>
        <p:spPr>
          <a:xfrm>
            <a:off x="4297680" y="4983480"/>
            <a:ext cx="502920" cy="502920"/>
          </a:xfrm>
          <a:prstGeom prst="ellipse">
            <a:avLst/>
          </a:prstGeom>
          <a:solidFill>
            <a:schemeClr val="accent1"/>
          </a:solidFill>
          <a:ln/>
        </p:spPr>
      </p:sp>
      <p:pic>
        <p:nvPicPr>
          <p:cNvPr id="40" name="Image 1" descr="FaRedo">    </p:cNvPr>
          <p:cNvPicPr>
            <a:picLocks noChangeAspect="1"/>
          </p:cNvPicPr>
          <p:nvPr/>
        </p:nvPicPr>
        <p:blipFill>
          <a:blip r:embed="rId2"/>
          <a:stretch>
            <a:fillRect/>
          </a:stretch>
        </p:blipFill>
        <p:spPr>
          <a:xfrm>
            <a:off x="4428439" y="5114239"/>
            <a:ext cx="241402" cy="241402"/>
          </a:xfrm>
          <a:prstGeom prst="rect">
            <a:avLst/>
          </a:prstGeom>
        </p:spPr>
      </p:pic>
      <p:sp>
        <p:nvSpPr>
          <p:cNvPr id="41" name="Text 37"/>
          <p:cNvSpPr txBox="1"/>
          <p:nvPr/>
        </p:nvSpPr>
        <p:spPr>
          <a:xfrm>
            <a:off x="4937760" y="4983480"/>
            <a:ext cx="2926080" cy="365760"/>
          </a:xfrm>
          <a:prstGeom prst="rect">
            <a:avLst/>
          </a:prstGeom>
          <a:noFill/>
          <a:ln/>
        </p:spPr>
        <p:txBody>
          <a:bodyPr wrap="square" lIns="0" tIns="0" rIns="0" bIns="0" rtlCol="0" anchor="t"/>
          <a:lstStyle/>
          <a:p>
            <a:pPr indent="0" marL="0">
              <a:buNone/>
            </a:pPr>
            <a:r>
              <a:rPr lang="en-US" sz="1500" b="1" dirty="0">
                <a:solidFill>
                  <a:schemeClr val="tx2"/>
                </a:solidFill>
              </a:rPr>
              <a:t>Refit every day</a:t>
            </a:r>
            <a:endParaRPr lang="en-US" sz="1500" dirty="0"/>
          </a:p>
        </p:txBody>
      </p:sp>
      <p:sp>
        <p:nvSpPr>
          <p:cNvPr id="42" name="Text 38"/>
          <p:cNvSpPr txBox="1"/>
          <p:nvPr/>
        </p:nvSpPr>
        <p:spPr>
          <a:xfrm>
            <a:off x="4937760" y="5349240"/>
            <a:ext cx="2926080" cy="914400"/>
          </a:xfrm>
          <a:prstGeom prst="rect">
            <a:avLst/>
          </a:prstGeom>
          <a:noFill/>
          <a:ln/>
        </p:spPr>
        <p:txBody>
          <a:bodyPr wrap="square" lIns="0" tIns="0" rIns="0" bIns="0" rtlCol="0" anchor="t"/>
          <a:lstStyle/>
          <a:p>
            <a:pPr indent="0" marL="0">
              <a:buNone/>
            </a:pPr>
            <a:r>
              <a:rPr lang="en-US" sz="1200" dirty="0">
                <a:solidFill>
                  <a:schemeClr val="tx1"/>
                </a:solidFill>
              </a:rPr>
              <a:t>The gas model is refit on all past days each day, like the live daily retraining job.</a:t>
            </a:r>
            <a:endParaRPr lang="en-US" sz="1200" dirty="0"/>
          </a:p>
        </p:txBody>
      </p:sp>
      <p:sp>
        <p:nvSpPr>
          <p:cNvPr id="43" name="icon circle"/>
          <p:cNvSpPr/>
          <p:nvPr/>
        </p:nvSpPr>
        <p:spPr>
          <a:xfrm>
            <a:off x="8046720" y="4983480"/>
            <a:ext cx="502920" cy="502920"/>
          </a:xfrm>
          <a:prstGeom prst="ellipse">
            <a:avLst/>
          </a:prstGeom>
          <a:solidFill>
            <a:schemeClr val="accent1"/>
          </a:solidFill>
          <a:ln/>
        </p:spPr>
      </p:sp>
      <p:pic>
        <p:nvPicPr>
          <p:cNvPr id="44" name="Image 2" descr="FaBalanceScale">    </p:cNvPr>
          <p:cNvPicPr>
            <a:picLocks noChangeAspect="1"/>
          </p:cNvPicPr>
          <p:nvPr/>
        </p:nvPicPr>
        <p:blipFill>
          <a:blip r:embed="rId3"/>
          <a:stretch>
            <a:fillRect/>
          </a:stretch>
        </p:blipFill>
        <p:spPr>
          <a:xfrm>
            <a:off x="8177479" y="5114239"/>
            <a:ext cx="241402" cy="241402"/>
          </a:xfrm>
          <a:prstGeom prst="rect">
            <a:avLst/>
          </a:prstGeom>
        </p:spPr>
      </p:pic>
      <p:sp>
        <p:nvSpPr>
          <p:cNvPr id="45" name="Text 40"/>
          <p:cNvSpPr txBox="1"/>
          <p:nvPr/>
        </p:nvSpPr>
        <p:spPr>
          <a:xfrm>
            <a:off x="8686800" y="4983480"/>
            <a:ext cx="2926080" cy="365760"/>
          </a:xfrm>
          <a:prstGeom prst="rect">
            <a:avLst/>
          </a:prstGeom>
          <a:noFill/>
          <a:ln/>
        </p:spPr>
        <p:txBody>
          <a:bodyPr wrap="square" lIns="0" tIns="0" rIns="0" bIns="0" rtlCol="0" anchor="t"/>
          <a:lstStyle/>
          <a:p>
            <a:pPr indent="0" marL="0">
              <a:buNone/>
            </a:pPr>
            <a:r>
              <a:rPr lang="en-US" sz="1500" b="1" dirty="0">
                <a:solidFill>
                  <a:schemeClr val="tx2"/>
                </a:solidFill>
              </a:rPr>
              <a:t>Calibration checked</a:t>
            </a:r>
            <a:endParaRPr lang="en-US" sz="1500" dirty="0"/>
          </a:p>
        </p:txBody>
      </p:sp>
      <p:sp>
        <p:nvSpPr>
          <p:cNvPr id="46" name="Text 41"/>
          <p:cNvSpPr txBox="1"/>
          <p:nvPr/>
        </p:nvSpPr>
        <p:spPr>
          <a:xfrm>
            <a:off x="8686800" y="5349240"/>
            <a:ext cx="2926080" cy="914400"/>
          </a:xfrm>
          <a:prstGeom prst="rect">
            <a:avLst/>
          </a:prstGeom>
          <a:noFill/>
          <a:ln/>
        </p:spPr>
        <p:txBody>
          <a:bodyPr wrap="square" lIns="0" tIns="0" rIns="0" bIns="0" rtlCol="0" anchor="t"/>
          <a:lstStyle/>
          <a:p>
            <a:pPr indent="0" marL="0">
              <a:buNone/>
            </a:pPr>
            <a:r>
              <a:rPr lang="en-US" sz="1200" dirty="0">
                <a:solidFill>
                  <a:schemeClr val="tx1"/>
                </a:solidFill>
              </a:rPr>
              <a:t>The target should be beaten on 25% of days; we check this out of sample in every fold.</a:t>
            </a:r>
            <a:endParaRPr lang="en-US" sz="12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Gas models compared</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Eight model types × input sets, scored on two walk-forward folds (Mar–May and Jun–Aug 2026)</a:t>
            </a:r>
            <a:endParaRPr lang="en-US" sz="1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7680960" cy="914400"/>
        </p:xfrm>
        <a:graphic>
          <a:graphicData uri="http://schemas.openxmlformats.org/drawingml/2006/table">
            <a:tbl>
              <a:tblPr/>
              <a:tblGrid>
                <a:gridCol w="3108960"/>
                <a:gridCol w="960120"/>
                <a:gridCol w="1143000"/>
                <a:gridCol w="822960"/>
                <a:gridCol w="1645920"/>
              </a:tblGrid>
              <a:tr h="438912">
                <a:tc>
                  <a:txBody>
                    <a:bodyPr/>
                    <a:lstStyle/>
                    <a:p>
                      <a:pPr indent="0" marL="0">
                        <a:buNone/>
                      </a:pPr>
                      <a:r>
                        <a:rPr lang="en-US" sz="1200" b="1" dirty="0">
                          <a:solidFill>
                            <a:schemeClr val="bg1"/>
                          </a:solidFill>
                        </a:rPr>
                        <a:t>Model</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Pinball loss</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Days below target (25% ideal)</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MAE Gcal/d</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Verdict</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r>
              <a:tr h="438912">
                <a:tc>
                  <a:txBody>
                    <a:bodyPr/>
                    <a:lstStyle/>
                    <a:p>
                      <a:pPr indent="0" marL="0">
                        <a:buNone/>
                      </a:pPr>
                      <a:r>
                        <a:rPr lang="en-US" sz="1200" b="1" dirty="0">
                          <a:solidFill>
                            <a:schemeClr val="bg1"/>
                          </a:solidFill>
                        </a:rPr>
                        <a:t>OLS expanding + ageing + efficiency shift</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3"/>
                    </a:solidFill>
                  </a:tcPr>
                </a:tc>
                <a:tc>
                  <a:txBody>
                    <a:bodyPr/>
                    <a:lstStyle/>
                    <a:p>
                      <a:pPr indent="0" marL="0">
                        <a:buNone/>
                      </a:pPr>
                      <a:r>
                        <a:rPr lang="en-US" sz="1200" b="1" dirty="0">
                          <a:solidFill>
                            <a:schemeClr val="bg1"/>
                          </a:solidFill>
                        </a:rPr>
                        <a:t>0.344</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3"/>
                    </a:solidFill>
                  </a:tcPr>
                </a:tc>
                <a:tc>
                  <a:txBody>
                    <a:bodyPr/>
                    <a:lstStyle/>
                    <a:p>
                      <a:pPr indent="0" marL="0">
                        <a:buNone/>
                      </a:pPr>
                      <a:r>
                        <a:rPr lang="en-US" sz="1200" b="1" dirty="0">
                          <a:solidFill>
                            <a:schemeClr val="bg1"/>
                          </a:solidFill>
                        </a:rPr>
                        <a:t>20–30%</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3"/>
                    </a:solidFill>
                  </a:tcPr>
                </a:tc>
                <a:tc>
                  <a:txBody>
                    <a:bodyPr/>
                    <a:lstStyle/>
                    <a:p>
                      <a:pPr indent="0" marL="0">
                        <a:buNone/>
                      </a:pPr>
                      <a:r>
                        <a:rPr lang="en-US" sz="1200" b="1" dirty="0">
                          <a:solidFill>
                            <a:schemeClr val="bg1"/>
                          </a:solidFill>
                        </a:rPr>
                        <a:t>0.94</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3"/>
                    </a:solidFill>
                  </a:tcPr>
                </a:tc>
                <a:tc>
                  <a:txBody>
                    <a:bodyPr/>
                    <a:lstStyle/>
                    <a:p>
                      <a:pPr indent="0" marL="0">
                        <a:buNone/>
                      </a:pPr>
                      <a:r>
                        <a:rPr lang="en-US" sz="1200" b="1" dirty="0">
                          <a:solidFill>
                            <a:schemeClr val="bg1"/>
                          </a:solidFill>
                        </a:rPr>
                        <a:t>Chosen: calibrated, transparent</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3"/>
                    </a:solidFill>
                  </a:tcPr>
                </a:tc>
              </a:tr>
              <a:tr h="438912">
                <a:tc>
                  <a:txBody>
                    <a:bodyPr/>
                    <a:lstStyle/>
                    <a:p>
                      <a:pPr indent="0" marL="0">
                        <a:buNone/>
                      </a:pPr>
                      <a:r>
                        <a:rPr lang="en-US" sz="1200" dirty="0">
                          <a:solidFill>
                            <a:schemeClr val="tx1"/>
                          </a:solidFill>
                        </a:rPr>
                        <a:t>Quantile regression expanding + ageing</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0.331</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15–28%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0.98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Too ambitious (15% of days)</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438912">
                <a:tc>
                  <a:txBody>
                    <a:bodyPr/>
                    <a:lstStyle/>
                    <a:p>
                      <a:pPr indent="0" marL="0">
                        <a:buNone/>
                      </a:pPr>
                      <a:r>
                        <a:rPr lang="en-US" sz="1200" dirty="0">
                          <a:solidFill>
                            <a:schemeClr val="tx1"/>
                          </a:solidFill>
                        </a:rPr>
                        <a:t>OLS rolling 45 d + efficiency shift</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0.362</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22–28%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1.03</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Less accurate</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438912">
                <a:tc>
                  <a:txBody>
                    <a:bodyPr/>
                    <a:lstStyle/>
                    <a:p>
                      <a:pPr indent="0" marL="0">
                        <a:buNone/>
                      </a:pPr>
                      <a:r>
                        <a:rPr lang="en-US" sz="1200" dirty="0">
                          <a:solidFill>
                            <a:schemeClr val="tx1"/>
                          </a:solidFill>
                        </a:rPr>
                        <a:t>LightGBM expanding + ageing</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0.362</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16–26%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1.09</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Black box, not more accurate</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438912">
                <a:tc>
                  <a:txBody>
                    <a:bodyPr/>
                    <a:lstStyle/>
                    <a:p>
                      <a:pPr indent="0" marL="0">
                        <a:buNone/>
                      </a:pPr>
                      <a:r>
                        <a:rPr lang="en-US" sz="1200" dirty="0">
                          <a:solidFill>
                            <a:schemeClr val="tx1"/>
                          </a:solidFill>
                        </a:rPr>
                        <a:t>Quantile regression rolling 60 d</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0.367</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11–21%</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1.17</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Unrealistic target</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438912">
                <a:tc>
                  <a:txBody>
                    <a:bodyPr/>
                    <a:lstStyle/>
                    <a:p>
                      <a:pPr indent="0" marL="0">
                        <a:buNone/>
                      </a:pPr>
                      <a:r>
                        <a:rPr lang="en-US" sz="1200" dirty="0">
                          <a:solidFill>
                            <a:schemeClr val="tx1"/>
                          </a:solidFill>
                        </a:rPr>
                        <a:t>Quantile regression rolling 45 d (first version)</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0.386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25–28%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1.13</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Less accurate</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438912">
                <a:tc>
                  <a:txBody>
                    <a:bodyPr/>
                    <a:lstStyle/>
                    <a:p>
                      <a:pPr indent="0" marL="0">
                        <a:buNone/>
                      </a:pPr>
                      <a:r>
                        <a:rPr lang="en-US" sz="1200" dirty="0">
                          <a:solidFill>
                            <a:schemeClr val="tx1"/>
                          </a:solidFill>
                        </a:rPr>
                        <a:t>Quantile regression rolling 30 d</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0.394</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22–28%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1.13</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Less accurate</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438912">
                <a:tc>
                  <a:txBody>
                    <a:bodyPr/>
                    <a:lstStyle/>
                    <a:p>
                      <a:pPr indent="0" marL="0">
                        <a:buNone/>
                      </a:pPr>
                      <a:r>
                        <a:rPr lang="en-US" sz="1200" dirty="0">
                          <a:solidFill>
                            <a:schemeClr val="tx1"/>
                          </a:solidFill>
                        </a:rPr>
                        <a:t>LightGBM expanding (no age)</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0.442</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4–16%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1.59</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Fails: cannot extrapolate ageing</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bl>
          </a:graphicData>
        </a:graphic>
      </p:graphicFrame>
      <p:sp>
        <p:nvSpPr>
          <p:cNvPr id="5" name="card"/>
          <p:cNvSpPr/>
          <p:nvPr/>
        </p:nvSpPr>
        <p:spPr>
          <a:xfrm>
            <a:off x="8503920" y="1600200"/>
            <a:ext cx="3136392" cy="4617720"/>
          </a:xfrm>
          <a:prstGeom prst="roundRect">
            <a:avLst>
              <a:gd name="adj" fmla="val 2332"/>
            </a:avLst>
          </a:prstGeom>
          <a:solidFill>
            <a:schemeClr val="bg2"/>
          </a:solidFill>
          <a:ln/>
        </p:spPr>
      </p:sp>
      <p:sp>
        <p:nvSpPr>
          <p:cNvPr id="6" name="Text 3"/>
          <p:cNvSpPr txBox="1"/>
          <p:nvPr/>
        </p:nvSpPr>
        <p:spPr>
          <a:xfrm>
            <a:off x="8732520" y="1783080"/>
            <a:ext cx="2743200" cy="365760"/>
          </a:xfrm>
          <a:prstGeom prst="rect">
            <a:avLst/>
          </a:prstGeom>
          <a:noFill/>
          <a:ln/>
        </p:spPr>
        <p:txBody>
          <a:bodyPr wrap="square" lIns="0" tIns="0" rIns="0" bIns="0" rtlCol="0" anchor="t"/>
          <a:lstStyle/>
          <a:p>
            <a:pPr indent="0" marL="0">
              <a:buNone/>
            </a:pPr>
            <a:r>
              <a:rPr lang="en-US" sz="1700" b="1" dirty="0">
                <a:solidFill>
                  <a:schemeClr val="tx2"/>
                </a:solidFill>
              </a:rPr>
              <a:t>Inputs tested</a:t>
            </a:r>
            <a:endParaRPr lang="en-US" sz="1700" dirty="0"/>
          </a:p>
        </p:txBody>
      </p:sp>
      <p:sp>
        <p:nvSpPr>
          <p:cNvPr id="7" name="Text 4"/>
          <p:cNvSpPr txBox="1"/>
          <p:nvPr/>
        </p:nvSpPr>
        <p:spPr>
          <a:xfrm>
            <a:off x="8732520" y="2240280"/>
            <a:ext cx="2743200" cy="3840480"/>
          </a:xfrm>
          <a:prstGeom prst="rect">
            <a:avLst/>
          </a:prstGeom>
          <a:noFill/>
          <a:ln/>
        </p:spPr>
        <p:txBody>
          <a:bodyPr wrap="square" lIns="0" tIns="0" rIns="0" bIns="0" rtlCol="0" anchor="t"/>
          <a:lstStyle/>
          <a:p>
            <a:pPr marL="190500" indent="-190500">
              <a:spcAft>
                <a:spcPts val="600"/>
              </a:spcAft>
              <a:buSzPct val="100000"/>
              <a:buChar char="•"/>
            </a:pPr>
            <a:r>
              <a:rPr lang="en-US" sz="1300" b="1" dirty="0">
                <a:solidFill>
                  <a:schemeClr val="tx1"/>
                </a:solidFill>
              </a:rPr>
              <a:t>Barrier boost: needed (loss 0.437 without it)</a:t>
            </a:r>
            <a:endParaRPr lang="en-US" sz="1300" dirty="0"/>
          </a:p>
          <a:p>
            <a:pPr marL="190500" indent="-190500">
              <a:spcAft>
                <a:spcPts val="600"/>
              </a:spcAft>
              <a:buSzPct val="100000"/>
              <a:buChar char="•"/>
            </a:pPr>
            <a:r>
              <a:rPr lang="en-US" sz="1300" dirty="0">
                <a:solidFill>
                  <a:schemeClr val="tx1"/>
                </a:solidFill>
              </a:rPr>
              <a:t>Melter boost: kept (0.345 without)</a:t>
            </a:r>
            <a:endParaRPr lang="en-US" sz="1300" dirty="0"/>
          </a:p>
          <a:p>
            <a:pPr marL="190500" indent="-190500">
              <a:spcAft>
                <a:spcPts val="600"/>
              </a:spcAft>
              <a:buSzPct val="100000"/>
              <a:buChar char="•"/>
            </a:pPr>
            <a:r>
              <a:rPr lang="en-US" sz="1300" dirty="0">
                <a:solidFill>
                  <a:schemeClr val="tx1"/>
                </a:solidFill>
              </a:rPr>
              <a:t>Optical crown, yesterday: no gain (0.344)</a:t>
            </a:r>
            <a:endParaRPr lang="en-US" sz="1300" dirty="0"/>
          </a:p>
          <a:p>
            <a:pPr marL="190500" indent="-190500">
              <a:spcAft>
                <a:spcPts val="600"/>
              </a:spcAft>
              <a:buSzPct val="100000"/>
              <a:buChar char="•"/>
            </a:pPr>
            <a:r>
              <a:rPr lang="en-US" sz="1300" dirty="0">
                <a:solidFill>
                  <a:schemeClr val="tx1"/>
                </a:solidFill>
              </a:rPr>
              <a:t>Crown TC, MB3, cullet: no reliable gain</a:t>
            </a:r>
            <a:endParaRPr lang="en-US" sz="1300" dirty="0"/>
          </a:p>
          <a:p>
            <a:pPr marL="190500" indent="-190500">
              <a:spcAft>
                <a:spcPts val="600"/>
              </a:spcAft>
              <a:buSzPct val="100000"/>
              <a:buChar char="•"/>
            </a:pPr>
            <a:r>
              <a:rPr lang="en-US" sz="1300" dirty="0">
                <a:solidFill>
                  <a:schemeClr val="tx1"/>
                </a:solidFill>
              </a:rPr>
              <a:t>Hourly model: R² 0.18, mostly operator reaction</a:t>
            </a:r>
            <a:endParaRPr lang="en-US" sz="13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Air and boost models compared</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Air follows heat; an integral controller holds MB3 best with calm moves</a:t>
            </a:r>
            <a:endParaRPr lang="en-US" sz="1600" dirty="0"/>
          </a:p>
        </p:txBody>
      </p:sp>
      <p:sp>
        <p:nvSpPr>
          <p:cNvPr id="4" name="Text 2"/>
          <p:cNvSpPr txBox="1"/>
          <p:nvPr/>
        </p:nvSpPr>
        <p:spPr>
          <a:xfrm>
            <a:off x="548640" y="1554480"/>
            <a:ext cx="5029200" cy="365760"/>
          </a:xfrm>
          <a:prstGeom prst="rect">
            <a:avLst/>
          </a:prstGeom>
          <a:noFill/>
          <a:ln/>
        </p:spPr>
        <p:txBody>
          <a:bodyPr wrap="square" lIns="0" tIns="0" rIns="0" bIns="0" rtlCol="0" anchor="t"/>
          <a:lstStyle/>
          <a:p>
            <a:pPr indent="0" marL="0">
              <a:buNone/>
            </a:pPr>
            <a:r>
              <a:rPr lang="en-US" sz="1600" b="1" dirty="0">
                <a:solidFill>
                  <a:schemeClr val="tx2"/>
                </a:solidFill>
              </a:rPr>
              <a:t>Secondary air: 4 formulas</a:t>
            </a:r>
            <a:endParaRPr lang="en-US" sz="16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5120640" cy="914400"/>
        </p:xfrm>
        <a:graphic>
          <a:graphicData uri="http://schemas.openxmlformats.org/drawingml/2006/table">
            <a:tbl>
              <a:tblPr/>
              <a:tblGrid>
                <a:gridCol w="2103120"/>
                <a:gridCol w="1463040"/>
                <a:gridCol w="1554480"/>
              </a:tblGrid>
              <a:tr h="411480">
                <a:tc>
                  <a:txBody>
                    <a:bodyPr/>
                    <a:lstStyle/>
                    <a:p>
                      <a:pPr indent="0" marL="0">
                        <a:buNone/>
                      </a:pPr>
                      <a:r>
                        <a:rPr lang="en-US" sz="1200" b="1" dirty="0">
                          <a:solidFill>
                            <a:schemeClr val="bg1"/>
                          </a:solidFill>
                        </a:rPr>
                        <a:t>Formula</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Error / fit</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Verdict</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r>
              <a:tr h="411480">
                <a:tc>
                  <a:txBody>
                    <a:bodyPr/>
                    <a:lstStyle/>
                    <a:p>
                      <a:pPr indent="0" marL="0">
                        <a:buNone/>
                      </a:pPr>
                      <a:r>
                        <a:rPr lang="en-US" sz="1200" dirty="0">
                          <a:solidFill>
                            <a:schemeClr val="tx1"/>
                          </a:solidFill>
                        </a:rPr>
                        <a:t>Constant air-fuel ratio</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3.3%</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Ignores NCV</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411480">
                <a:tc>
                  <a:txBody>
                    <a:bodyPr/>
                    <a:lstStyle/>
                    <a:p>
                      <a:pPr indent="0" marL="0">
                        <a:buNone/>
                      </a:pPr>
                      <a:r>
                        <a:rPr lang="en-US" sz="1200" dirty="0">
                          <a:solidFill>
                            <a:schemeClr val="tx1"/>
                          </a:solidFill>
                        </a:rPr>
                        <a:t>Air per gas volume</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R² 0.44</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Ignores NCV</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bg1"/>
                          </a:solidFill>
                        </a:rPr>
                        <a:t>Air per Mcal of heat</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3"/>
                    </a:solidFill>
                  </a:tcPr>
                </a:tc>
                <a:tc>
                  <a:txBody>
                    <a:bodyPr/>
                    <a:lstStyle/>
                    <a:p>
                      <a:pPr indent="0" marL="0">
                        <a:buNone/>
                      </a:pPr>
                      <a:r>
                        <a:rPr lang="en-US" sz="1200" b="1" dirty="0">
                          <a:solidFill>
                            <a:schemeClr val="bg1"/>
                          </a:solidFill>
                        </a:rPr>
                        <a:t>1.5%  (R² 0.66)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3"/>
                    </a:solidFill>
                  </a:tcPr>
                </a:tc>
                <a:tc>
                  <a:txBody>
                    <a:bodyPr/>
                    <a:lstStyle/>
                    <a:p>
                      <a:pPr indent="0" marL="0">
                        <a:buNone/>
                      </a:pPr>
                      <a:r>
                        <a:rPr lang="en-US" sz="1200" b="1" dirty="0">
                          <a:solidFill>
                            <a:schemeClr val="bg1"/>
                          </a:solidFill>
                        </a:rPr>
                        <a:t>Chosen</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3"/>
                    </a:solidFill>
                  </a:tcPr>
                </a:tc>
              </a:tr>
              <a:tr h="411480">
                <a:tc>
                  <a:txBody>
                    <a:bodyPr/>
                    <a:lstStyle/>
                    <a:p>
                      <a:pPr indent="0" marL="0">
                        <a:buNone/>
                      </a:pPr>
                      <a:r>
                        <a:rPr lang="en-US" sz="1200" dirty="0">
                          <a:solidFill>
                            <a:schemeClr val="tx1"/>
                          </a:solidFill>
                        </a:rPr>
                        <a:t>OLS on heat + NCV</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similar</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More complex, no gain</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bl>
          </a:graphicData>
        </a:graphic>
      </p:graphicFrame>
      <p:sp>
        <p:nvSpPr>
          <p:cNvPr id="6" name="Text 3"/>
          <p:cNvSpPr txBox="1"/>
          <p:nvPr/>
        </p:nvSpPr>
        <p:spPr>
          <a:xfrm>
            <a:off x="548640" y="4160520"/>
            <a:ext cx="5120640" cy="914400"/>
          </a:xfrm>
          <a:prstGeom prst="rect">
            <a:avLst/>
          </a:prstGeom>
          <a:noFill/>
          <a:ln/>
        </p:spPr>
        <p:txBody>
          <a:bodyPr wrap="square" lIns="0" tIns="0" rIns="0" bIns="0" rtlCol="0" anchor="t"/>
          <a:lstStyle/>
          <a:p>
            <a:pPr indent="0" marL="0">
              <a:buNone/>
            </a:pPr>
            <a:r>
              <a:rPr lang="en-US" sz="1300" dirty="0">
                <a:solidFill>
                  <a:schemeClr val="tx1"/>
                </a:solidFill>
              </a:rPr>
              <a:t>Target: P25 of the last 45 days' air per Mcal, floor at the historical P5 (1.226). No O₂ analyser, so the target stays inside proven history.</a:t>
            </a:r>
            <a:endParaRPr lang="en-US" sz="1300" dirty="0"/>
          </a:p>
        </p:txBody>
      </p:sp>
      <p:sp>
        <p:nvSpPr>
          <p:cNvPr id="7" name="Text 4"/>
          <p:cNvSpPr txBox="1"/>
          <p:nvPr/>
        </p:nvSpPr>
        <p:spPr>
          <a:xfrm>
            <a:off x="5989320" y="1554480"/>
            <a:ext cx="5669280" cy="365760"/>
          </a:xfrm>
          <a:prstGeom prst="rect">
            <a:avLst/>
          </a:prstGeom>
          <a:noFill/>
          <a:ln/>
        </p:spPr>
        <p:txBody>
          <a:bodyPr wrap="square" lIns="0" tIns="0" rIns="0" bIns="0" rtlCol="0" anchor="t"/>
          <a:lstStyle/>
          <a:p>
            <a:pPr indent="0" marL="0">
              <a:buNone/>
            </a:pPr>
            <a:r>
              <a:rPr lang="en-US" sz="1600" b="1" dirty="0">
                <a:solidFill>
                  <a:schemeClr val="tx2"/>
                </a:solidFill>
              </a:rPr>
              <a:t>Barrier boost: 4 policies, closed-loop replay Jun–Aug 2026</a:t>
            </a:r>
            <a:endParaRPr lang="en-US" sz="1600" dirty="0"/>
          </a:p>
        </p:txBody>
      </p:sp>
      <p:graphicFrame>
        <p:nvGraphicFramePr>
          <p:cNvPr id="59" name="Table 1"/>
          <p:cNvGraphicFramePr>
            <a:graphicFrameLocks noGrp="1"/>
          </p:cNvGraphicFramePr>
          <p:nvPr>
            <p:extLst>
              <p:ext uri="{D42A27DB-BD31-4B8C-83A1-F6EECF244321}">
                <p14:modId xmlns:p14="http://schemas.microsoft.com/office/powerpoint/2010/main" val="1579011935"/>
              </p:ext>
            </p:extLst>
          </p:nvPr>
        </p:nvGraphicFramePr>
        <p:xfrm>
          <a:off x="5989320" y="1965960"/>
          <a:ext cx="5650992" cy="914400"/>
        </p:xfrm>
        <a:graphic>
          <a:graphicData uri="http://schemas.openxmlformats.org/drawingml/2006/table">
            <a:tbl>
              <a:tblPr/>
              <a:tblGrid>
                <a:gridCol w="2176272"/>
                <a:gridCol w="868680"/>
                <a:gridCol w="868680"/>
                <a:gridCol w="868680"/>
                <a:gridCol w="868680"/>
              </a:tblGrid>
              <a:tr h="411480">
                <a:tc>
                  <a:txBody>
                    <a:bodyPr/>
                    <a:lstStyle/>
                    <a:p>
                      <a:pPr indent="0" marL="0">
                        <a:buNone/>
                      </a:pPr>
                      <a:r>
                        <a:rPr lang="en-US" sz="1200" b="1" dirty="0">
                          <a:solidFill>
                            <a:schemeClr val="bg1"/>
                          </a:solidFill>
                        </a:rPr>
                        <a:t>Policy</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MB3 error °C</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Boost kWh/h</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Move kWh/h</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Energy Gcal/d</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r>
              <a:tr h="411480">
                <a:tc>
                  <a:txBody>
                    <a:bodyPr/>
                    <a:lstStyle/>
                    <a:p>
                      <a:pPr indent="0" marL="0">
                        <a:buNone/>
                      </a:pPr>
                      <a:r>
                        <a:rPr lang="en-US" sz="1200" dirty="0">
                          <a:solidFill>
                            <a:schemeClr val="tx1"/>
                          </a:solidFill>
                        </a:rPr>
                        <a:t>Copy operators (OLS)</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1.42</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321</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11.1</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−0.12</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411480">
                <a:tc>
                  <a:txBody>
                    <a:bodyPr/>
                    <a:lstStyle/>
                    <a:p>
                      <a:pPr indent="0" marL="0">
                        <a:buNone/>
                      </a:pPr>
                      <a:r>
                        <a:rPr lang="en-US" sz="1200" dirty="0">
                          <a:solidFill>
                            <a:schemeClr val="tx1"/>
                          </a:solidFill>
                        </a:rPr>
                        <a:t>Copy operators (LightGBM)</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1.39</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324</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13.6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−0.11</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bg1"/>
                          </a:solidFill>
                        </a:rPr>
                        <a:t>Integral controller on MB3</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3"/>
                    </a:solidFill>
                  </a:tcPr>
                </a:tc>
                <a:tc>
                  <a:txBody>
                    <a:bodyPr/>
                    <a:lstStyle/>
                    <a:p>
                      <a:pPr indent="0" marL="0">
                        <a:buNone/>
                      </a:pPr>
                      <a:r>
                        <a:rPr lang="en-US" sz="1200" b="1" dirty="0">
                          <a:solidFill>
                            <a:schemeClr val="bg1"/>
                          </a:solidFill>
                        </a:rPr>
                        <a:t>1.09</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3"/>
                    </a:solidFill>
                  </a:tcPr>
                </a:tc>
                <a:tc>
                  <a:txBody>
                    <a:bodyPr/>
                    <a:lstStyle/>
                    <a:p>
                      <a:pPr indent="0" marL="0">
                        <a:buNone/>
                      </a:pPr>
                      <a:r>
                        <a:rPr lang="en-US" sz="1200" b="1" dirty="0">
                          <a:solidFill>
                            <a:schemeClr val="bg1"/>
                          </a:solidFill>
                        </a:rPr>
                        <a:t>268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3"/>
                    </a:solidFill>
                  </a:tcPr>
                </a:tc>
                <a:tc>
                  <a:txBody>
                    <a:bodyPr/>
                    <a:lstStyle/>
                    <a:p>
                      <a:pPr indent="0" marL="0">
                        <a:buNone/>
                      </a:pPr>
                      <a:r>
                        <a:rPr lang="en-US" sz="1200" b="1" dirty="0">
                          <a:solidFill>
                            <a:schemeClr val="bg1"/>
                          </a:solidFill>
                        </a:rPr>
                        <a:t>5.4</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3"/>
                    </a:solidFill>
                  </a:tcPr>
                </a:tc>
                <a:tc>
                  <a:txBody>
                    <a:bodyPr/>
                    <a:lstStyle/>
                    <a:p>
                      <a:pPr indent="0" marL="0">
                        <a:buNone/>
                      </a:pPr>
                      <a:r>
                        <a:rPr lang="en-US" sz="1200" b="1" dirty="0">
                          <a:solidFill>
                            <a:schemeClr val="bg1"/>
                          </a:solidFill>
                        </a:rPr>
                        <a:t>−0.37</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3"/>
                    </a:solidFill>
                  </a:tcPr>
                </a:tc>
              </a:tr>
              <a:tr h="411480">
                <a:tc>
                  <a:txBody>
                    <a:bodyPr/>
                    <a:lstStyle/>
                    <a:p>
                      <a:pPr indent="0" marL="0">
                        <a:buNone/>
                      </a:pPr>
                      <a:r>
                        <a:rPr lang="en-US" sz="1200" dirty="0">
                          <a:solidFill>
                            <a:schemeClr val="tx1"/>
                          </a:solidFill>
                        </a:rPr>
                        <a:t>Hybrid (feedforward + integral)</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1.12</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266</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6.2</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−0.38</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bl>
          </a:graphicData>
        </a:graphic>
      </p:graphicFrame>
      <p:sp>
        <p:nvSpPr>
          <p:cNvPr id="9" name="Text 5"/>
          <p:cNvSpPr txBox="1"/>
          <p:nvPr/>
        </p:nvSpPr>
        <p:spPr>
          <a:xfrm>
            <a:off x="5989320" y="4160520"/>
            <a:ext cx="5650992" cy="2103120"/>
          </a:xfrm>
          <a:prstGeom prst="rect">
            <a:avLst/>
          </a:prstGeom>
          <a:noFill/>
          <a:ln/>
        </p:spPr>
        <p:txBody>
          <a:bodyPr wrap="square" lIns="0" tIns="0" rIns="0" bIns="0" rtlCol="0" anchor="t"/>
          <a:lstStyle/>
          <a:p>
            <a:pPr marL="190500" indent="-190500">
              <a:spcAft>
                <a:spcPts val="600"/>
              </a:spcAft>
              <a:buSzPct val="100000"/>
              <a:buChar char="•"/>
            </a:pPr>
            <a:r>
              <a:rPr lang="en-US" sz="1300" dirty="0">
                <a:solidFill>
                  <a:schemeClr val="tx1"/>
                </a:solidFill>
              </a:rPr>
              <a:t>Integral controller: lowest MB3 error in both folds (1.05 °C and 1.09 °C) with the calmest hourly moves.</a:t>
            </a:r>
            <a:endParaRPr lang="en-US" sz="1300" dirty="0"/>
          </a:p>
          <a:p>
            <a:pPr marL="190500" indent="-190500">
              <a:spcAft>
                <a:spcPts val="600"/>
              </a:spcAft>
              <a:buSzPct val="100000"/>
              <a:buChar char="•"/>
            </a:pPr>
            <a:r>
              <a:rPr lang="en-US" sz="1300" dirty="0">
                <a:solidFill>
                  <a:schemeClr val="tx1"/>
                </a:solidFill>
              </a:rPr>
              <a:t>The operator-copy regression was unstable: its MB3 coefficient moved from −0.6 to −22 between windows.</a:t>
            </a:r>
            <a:endParaRPr lang="en-US" sz="1300" dirty="0"/>
          </a:p>
          <a:p>
            <a:pPr marL="190500" indent="-190500">
              <a:spcAft>
                <a:spcPts val="600"/>
              </a:spcAft>
              <a:buSzPct val="100000"/>
              <a:buChar char="•"/>
            </a:pPr>
            <a:r>
              <a:rPr lang="en-US" sz="1300" dirty="0">
                <a:solidFill>
                  <a:schemeClr val="tx1"/>
                </a:solidFill>
              </a:rPr>
              <a:t>Melter boost adds nothing to the controller (MB3 forecast 0.540 → 0.537), so it is left out.</a:t>
            </a:r>
            <a:endParaRPr lang="en-US" sz="13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The final model</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Three transparent equations, refit daily on all past usable days</a:t>
            </a:r>
            <a:endParaRPr lang="en-US" sz="1600" dirty="0"/>
          </a:p>
        </p:txBody>
      </p:sp>
      <p:sp>
        <p:nvSpPr>
          <p:cNvPr id="4" name="card"/>
          <p:cNvSpPr/>
          <p:nvPr/>
        </p:nvSpPr>
        <p:spPr>
          <a:xfrm>
            <a:off x="548640" y="1554480"/>
            <a:ext cx="11094415" cy="1325880"/>
          </a:xfrm>
          <a:prstGeom prst="roundRect">
            <a:avLst>
              <a:gd name="adj" fmla="val 5517"/>
            </a:avLst>
          </a:prstGeom>
          <a:solidFill>
            <a:schemeClr val="bg2"/>
          </a:solidFill>
          <a:ln/>
        </p:spPr>
      </p:sp>
      <p:sp>
        <p:nvSpPr>
          <p:cNvPr id="5" name="icon circle"/>
          <p:cNvSpPr/>
          <p:nvPr/>
        </p:nvSpPr>
        <p:spPr>
          <a:xfrm>
            <a:off x="777240" y="1938528"/>
            <a:ext cx="603504" cy="603504"/>
          </a:xfrm>
          <a:prstGeom prst="ellipse">
            <a:avLst/>
          </a:prstGeom>
          <a:solidFill>
            <a:schemeClr val="accent2"/>
          </a:solidFill>
          <a:ln/>
        </p:spPr>
      </p:sp>
      <p:pic>
        <p:nvPicPr>
          <p:cNvPr id="6" name="Image 0" descr="FaFire">    </p:cNvPr>
          <p:cNvPicPr>
            <a:picLocks noChangeAspect="1"/>
          </p:cNvPicPr>
          <p:nvPr/>
        </p:nvPicPr>
        <p:blipFill>
          <a:blip r:embed="rId1"/>
          <a:stretch>
            <a:fillRect/>
          </a:stretch>
        </p:blipFill>
        <p:spPr>
          <a:xfrm>
            <a:off x="934151" y="2095439"/>
            <a:ext cx="289682" cy="289682"/>
          </a:xfrm>
          <a:prstGeom prst="rect">
            <a:avLst/>
          </a:prstGeom>
        </p:spPr>
      </p:pic>
      <p:sp>
        <p:nvSpPr>
          <p:cNvPr id="7" name="Text 4"/>
          <p:cNvSpPr txBox="1"/>
          <p:nvPr/>
        </p:nvSpPr>
        <p:spPr>
          <a:xfrm>
            <a:off x="1600200" y="1691640"/>
            <a:ext cx="3657600" cy="320040"/>
          </a:xfrm>
          <a:prstGeom prst="rect">
            <a:avLst/>
          </a:prstGeom>
          <a:noFill/>
          <a:ln/>
        </p:spPr>
        <p:txBody>
          <a:bodyPr wrap="square" lIns="0" tIns="0" rIns="0" bIns="0" rtlCol="0" anchor="t"/>
          <a:lstStyle/>
          <a:p>
            <a:pPr indent="0" marL="0">
              <a:buNone/>
            </a:pPr>
            <a:r>
              <a:rPr lang="en-US" sz="1500" b="1" dirty="0">
                <a:solidFill>
                  <a:schemeClr val="accent2"/>
                </a:solidFill>
              </a:rPr>
              <a:t>Gas heat target (daily)</a:t>
            </a:r>
            <a:endParaRPr lang="en-US" sz="1500" dirty="0"/>
          </a:p>
        </p:txBody>
      </p:sp>
      <p:sp>
        <p:nvSpPr>
          <p:cNvPr id="8" name="Text 5"/>
          <p:cNvSpPr txBox="1"/>
          <p:nvPr/>
        </p:nvSpPr>
        <p:spPr>
          <a:xfrm>
            <a:off x="1600200" y="1993392"/>
            <a:ext cx="9814255" cy="502920"/>
          </a:xfrm>
          <a:prstGeom prst="rect">
            <a:avLst/>
          </a:prstGeom>
          <a:noFill/>
          <a:ln/>
        </p:spPr>
        <p:txBody>
          <a:bodyPr wrap="square" lIns="0" tIns="0" rIns="0" bIns="0" rtlCol="0" anchor="ctr"/>
          <a:lstStyle/>
          <a:p>
            <a:pPr indent="0" marL="0">
              <a:buNone/>
            </a:pPr>
            <a:r>
              <a:rPr lang="en-US" sz="1400" b="1" dirty="0">
                <a:solidFill>
                  <a:schemeClr val="tx2"/>
                </a:solidFill>
                <a:latin typeface="Arial" pitchFamily="34" charset="0"/>
                <a:ea typeface="Arial" pitchFamily="34" charset="-122"/>
                <a:cs typeface="Arial" pitchFamily="34" charset="-120"/>
              </a:rPr>
              <a:t>Gas heat (Gcal/day) = 52.19 + 0.495 × draw (t) − 0.771 × barrier boost (Gcal) − 0.099 × melter boost (Gcal) + 0.350 × furnace age (months) − 0.41 efficiency shift</a:t>
            </a:r>
            <a:endParaRPr lang="en-US" sz="1400" dirty="0"/>
          </a:p>
        </p:txBody>
      </p:sp>
      <p:sp>
        <p:nvSpPr>
          <p:cNvPr id="9" name="Text 6"/>
          <p:cNvSpPr txBox="1"/>
          <p:nvPr/>
        </p:nvSpPr>
        <p:spPr>
          <a:xfrm>
            <a:off x="1600200" y="2496312"/>
            <a:ext cx="9814255" cy="320040"/>
          </a:xfrm>
          <a:prstGeom prst="rect">
            <a:avLst/>
          </a:prstGeom>
          <a:noFill/>
          <a:ln/>
        </p:spPr>
        <p:txBody>
          <a:bodyPr wrap="square" lIns="0" tIns="0" rIns="0" bIns="0" rtlCol="0" anchor="t"/>
          <a:lstStyle/>
          <a:p>
            <a:pPr indent="0" marL="0">
              <a:buNone/>
            </a:pPr>
            <a:r>
              <a:rPr lang="en-US" sz="1300" dirty="0">
                <a:solidFill>
                  <a:schemeClr val="accent4"/>
                </a:solidFill>
              </a:rPr>
              <a:t>NG (SCM/15 min) = gas heat × 10⁶ ÷ 96 ÷ latest NCV</a:t>
            </a:r>
            <a:endParaRPr lang="en-US" sz="1300" dirty="0"/>
          </a:p>
        </p:txBody>
      </p:sp>
      <p:sp>
        <p:nvSpPr>
          <p:cNvPr id="10" name="card"/>
          <p:cNvSpPr/>
          <p:nvPr/>
        </p:nvSpPr>
        <p:spPr>
          <a:xfrm>
            <a:off x="548640" y="3017520"/>
            <a:ext cx="11094415" cy="1325880"/>
          </a:xfrm>
          <a:prstGeom prst="roundRect">
            <a:avLst>
              <a:gd name="adj" fmla="val 5517"/>
            </a:avLst>
          </a:prstGeom>
          <a:solidFill>
            <a:schemeClr val="bg2"/>
          </a:solidFill>
          <a:ln/>
        </p:spPr>
      </p:sp>
      <p:sp>
        <p:nvSpPr>
          <p:cNvPr id="11" name="icon circle"/>
          <p:cNvSpPr/>
          <p:nvPr/>
        </p:nvSpPr>
        <p:spPr>
          <a:xfrm>
            <a:off x="777240" y="3401568"/>
            <a:ext cx="603504" cy="603504"/>
          </a:xfrm>
          <a:prstGeom prst="ellipse">
            <a:avLst/>
          </a:prstGeom>
          <a:solidFill>
            <a:schemeClr val="accent1"/>
          </a:solidFill>
          <a:ln/>
        </p:spPr>
      </p:sp>
      <p:pic>
        <p:nvPicPr>
          <p:cNvPr id="12" name="Image 1" descr="FaWind">    </p:cNvPr>
          <p:cNvPicPr>
            <a:picLocks noChangeAspect="1"/>
          </p:cNvPicPr>
          <p:nvPr/>
        </p:nvPicPr>
        <p:blipFill>
          <a:blip r:embed="rId2"/>
          <a:stretch>
            <a:fillRect/>
          </a:stretch>
        </p:blipFill>
        <p:spPr>
          <a:xfrm>
            <a:off x="934151" y="3558479"/>
            <a:ext cx="289682" cy="289682"/>
          </a:xfrm>
          <a:prstGeom prst="rect">
            <a:avLst/>
          </a:prstGeom>
        </p:spPr>
      </p:pic>
      <p:sp>
        <p:nvSpPr>
          <p:cNvPr id="13" name="Text 9"/>
          <p:cNvSpPr txBox="1"/>
          <p:nvPr/>
        </p:nvSpPr>
        <p:spPr>
          <a:xfrm>
            <a:off x="1600200" y="3154680"/>
            <a:ext cx="3657600" cy="320040"/>
          </a:xfrm>
          <a:prstGeom prst="rect">
            <a:avLst/>
          </a:prstGeom>
          <a:noFill/>
          <a:ln/>
        </p:spPr>
        <p:txBody>
          <a:bodyPr wrap="square" lIns="0" tIns="0" rIns="0" bIns="0" rtlCol="0" anchor="t"/>
          <a:lstStyle/>
          <a:p>
            <a:pPr indent="0" marL="0">
              <a:buNone/>
            </a:pPr>
            <a:r>
              <a:rPr lang="en-US" sz="1500" b="1" dirty="0">
                <a:solidFill>
                  <a:schemeClr val="accent1"/>
                </a:solidFill>
              </a:rPr>
              <a:t>Secondary air and AFR</a:t>
            </a:r>
            <a:endParaRPr lang="en-US" sz="1500" dirty="0"/>
          </a:p>
        </p:txBody>
      </p:sp>
      <p:sp>
        <p:nvSpPr>
          <p:cNvPr id="14" name="Text 10"/>
          <p:cNvSpPr txBox="1"/>
          <p:nvPr/>
        </p:nvSpPr>
        <p:spPr>
          <a:xfrm>
            <a:off x="1600200" y="3456432"/>
            <a:ext cx="9814255" cy="502920"/>
          </a:xfrm>
          <a:prstGeom prst="rect">
            <a:avLst/>
          </a:prstGeom>
          <a:noFill/>
          <a:ln/>
        </p:spPr>
        <p:txBody>
          <a:bodyPr wrap="square" lIns="0" tIns="0" rIns="0" bIns="0" rtlCol="0" anchor="ctr"/>
          <a:lstStyle/>
          <a:p>
            <a:pPr indent="0" marL="0">
              <a:buNone/>
            </a:pPr>
            <a:r>
              <a:rPr lang="en-US" sz="1400" b="1" dirty="0">
                <a:solidFill>
                  <a:schemeClr val="tx2"/>
                </a:solidFill>
                <a:latin typeface="Arial" pitchFamily="34" charset="0"/>
                <a:ea typeface="Arial" pitchFamily="34" charset="-122"/>
                <a:cs typeface="Arial" pitchFamily="34" charset="-120"/>
              </a:rPr>
              <a:t>Secondary air (SCM/15 min) = 1.268 SCM/Mcal × heat per 15 min (Mcal)</a:t>
            </a:r>
            <a:endParaRPr lang="en-US" sz="1400" dirty="0"/>
          </a:p>
        </p:txBody>
      </p:sp>
      <p:sp>
        <p:nvSpPr>
          <p:cNvPr id="15" name="Text 11"/>
          <p:cNvSpPr txBox="1"/>
          <p:nvPr/>
        </p:nvSpPr>
        <p:spPr>
          <a:xfrm>
            <a:off x="1600200" y="3959352"/>
            <a:ext cx="9814255" cy="320040"/>
          </a:xfrm>
          <a:prstGeom prst="rect">
            <a:avLst/>
          </a:prstGeom>
          <a:noFill/>
          <a:ln/>
        </p:spPr>
        <p:txBody>
          <a:bodyPr wrap="square" lIns="0" tIns="0" rIns="0" bIns="0" rtlCol="0" anchor="t"/>
          <a:lstStyle/>
          <a:p>
            <a:pPr indent="0" marL="0">
              <a:buNone/>
            </a:pPr>
            <a:r>
              <a:rPr lang="en-US" sz="1300" dirty="0">
                <a:solidFill>
                  <a:schemeClr val="accent4"/>
                </a:solidFill>
              </a:rPr>
              <a:t>AFR = secondary air ÷ NG. Air target = P25 of last 45 days, floor 1.226</a:t>
            </a:r>
            <a:endParaRPr lang="en-US" sz="1300" dirty="0"/>
          </a:p>
        </p:txBody>
      </p:sp>
      <p:sp>
        <p:nvSpPr>
          <p:cNvPr id="16" name="card"/>
          <p:cNvSpPr/>
          <p:nvPr/>
        </p:nvSpPr>
        <p:spPr>
          <a:xfrm>
            <a:off x="548640" y="4480560"/>
            <a:ext cx="11094415" cy="1325880"/>
          </a:xfrm>
          <a:prstGeom prst="roundRect">
            <a:avLst>
              <a:gd name="adj" fmla="val 5517"/>
            </a:avLst>
          </a:prstGeom>
          <a:solidFill>
            <a:schemeClr val="bg2"/>
          </a:solidFill>
          <a:ln/>
        </p:spPr>
      </p:sp>
      <p:sp>
        <p:nvSpPr>
          <p:cNvPr id="17" name="icon circle"/>
          <p:cNvSpPr/>
          <p:nvPr/>
        </p:nvSpPr>
        <p:spPr>
          <a:xfrm>
            <a:off x="777240" y="4864608"/>
            <a:ext cx="603504" cy="603504"/>
          </a:xfrm>
          <a:prstGeom prst="ellipse">
            <a:avLst/>
          </a:prstGeom>
          <a:solidFill>
            <a:schemeClr val="tx2"/>
          </a:solidFill>
          <a:ln/>
        </p:spPr>
      </p:sp>
      <p:pic>
        <p:nvPicPr>
          <p:cNvPr id="18" name="Image 2" descr="FaBolt">    </p:cNvPr>
          <p:cNvPicPr>
            <a:picLocks noChangeAspect="1"/>
          </p:cNvPicPr>
          <p:nvPr/>
        </p:nvPicPr>
        <p:blipFill>
          <a:blip r:embed="rId3"/>
          <a:stretch>
            <a:fillRect/>
          </a:stretch>
        </p:blipFill>
        <p:spPr>
          <a:xfrm>
            <a:off x="934151" y="5021519"/>
            <a:ext cx="289682" cy="289682"/>
          </a:xfrm>
          <a:prstGeom prst="rect">
            <a:avLst/>
          </a:prstGeom>
        </p:spPr>
      </p:pic>
      <p:sp>
        <p:nvSpPr>
          <p:cNvPr id="19" name="Text 14"/>
          <p:cNvSpPr txBox="1"/>
          <p:nvPr/>
        </p:nvSpPr>
        <p:spPr>
          <a:xfrm>
            <a:off x="1600200" y="4617720"/>
            <a:ext cx="3657600" cy="320040"/>
          </a:xfrm>
          <a:prstGeom prst="rect">
            <a:avLst/>
          </a:prstGeom>
          <a:noFill/>
          <a:ln/>
        </p:spPr>
        <p:txBody>
          <a:bodyPr wrap="square" lIns="0" tIns="0" rIns="0" bIns="0" rtlCol="0" anchor="t"/>
          <a:lstStyle/>
          <a:p>
            <a:pPr indent="0" marL="0">
              <a:buNone/>
            </a:pPr>
            <a:r>
              <a:rPr lang="en-US" sz="1500" b="1" dirty="0">
                <a:solidFill>
                  <a:schemeClr val="tx2"/>
                </a:solidFill>
              </a:rPr>
              <a:t>Barrier boost (hourly)</a:t>
            </a:r>
            <a:endParaRPr lang="en-US" sz="1500" dirty="0"/>
          </a:p>
        </p:txBody>
      </p:sp>
      <p:sp>
        <p:nvSpPr>
          <p:cNvPr id="20" name="Text 15"/>
          <p:cNvSpPr txBox="1"/>
          <p:nvPr/>
        </p:nvSpPr>
        <p:spPr>
          <a:xfrm>
            <a:off x="1600200" y="4919472"/>
            <a:ext cx="9814255" cy="502920"/>
          </a:xfrm>
          <a:prstGeom prst="rect">
            <a:avLst/>
          </a:prstGeom>
          <a:noFill/>
          <a:ln/>
        </p:spPr>
        <p:txBody>
          <a:bodyPr wrap="square" lIns="0" tIns="0" rIns="0" bIns="0" rtlCol="0" anchor="ctr"/>
          <a:lstStyle/>
          <a:p>
            <a:pPr indent="0" marL="0">
              <a:buNone/>
            </a:pPr>
            <a:r>
              <a:rPr lang="en-US" sz="1400" b="1" dirty="0">
                <a:solidFill>
                  <a:schemeClr val="tx2"/>
                </a:solidFill>
                <a:latin typeface="Arial" pitchFamily="34" charset="0"/>
                <a:ea typeface="Arial" pitchFamily="34" charset="-122"/>
                <a:cs typeface="Arial" pitchFamily="34" charset="-120"/>
              </a:rPr>
              <a:t>Boost(t) = Boost(t−1) + 0.1 × (1,320.25 − MB3) ÷ 0.0194 °C per kWh/h</a:t>
            </a:r>
            <a:endParaRPr lang="en-US" sz="1400" dirty="0"/>
          </a:p>
        </p:txBody>
      </p:sp>
      <p:sp>
        <p:nvSpPr>
          <p:cNvPr id="21" name="Text 16"/>
          <p:cNvSpPr txBox="1"/>
          <p:nvPr/>
        </p:nvSpPr>
        <p:spPr>
          <a:xfrm>
            <a:off x="1600200" y="5422392"/>
            <a:ext cx="9814255" cy="320040"/>
          </a:xfrm>
          <a:prstGeom prst="rect">
            <a:avLst/>
          </a:prstGeom>
          <a:noFill/>
          <a:ln/>
        </p:spPr>
        <p:txBody>
          <a:bodyPr wrap="square" lIns="0" tIns="0" rIns="0" bIns="0" rtlCol="0" anchor="t"/>
          <a:lstStyle/>
          <a:p>
            <a:pPr indent="0" marL="0">
              <a:buNone/>
            </a:pPr>
            <a:r>
              <a:rPr lang="en-US" sz="1300" dirty="0">
                <a:solidFill>
                  <a:schemeClr val="accent4"/>
                </a:solidFill>
              </a:rPr>
              <a:t>Clipped to 114–610 kWh/h. Not lowered if NG is at its upper limit</a:t>
            </a:r>
            <a:endParaRPr lang="en-US" sz="1300" dirty="0"/>
          </a:p>
        </p:txBody>
      </p:sp>
      <p:sp>
        <p:nvSpPr>
          <p:cNvPr id="22" name="Text 17"/>
          <p:cNvSpPr txBox="1"/>
          <p:nvPr/>
        </p:nvSpPr>
        <p:spPr>
          <a:xfrm>
            <a:off x="548640" y="5943600"/>
            <a:ext cx="11094415" cy="274320"/>
          </a:xfrm>
          <a:prstGeom prst="rect">
            <a:avLst/>
          </a:prstGeom>
          <a:noFill/>
          <a:ln/>
        </p:spPr>
        <p:txBody>
          <a:bodyPr wrap="square" lIns="0" tIns="0" rIns="0" bIns="0" rtlCol="0" anchor="t"/>
          <a:lstStyle/>
          <a:p>
            <a:pPr indent="0" marL="0">
              <a:buNone/>
            </a:pPr>
            <a:r>
              <a:rPr lang="en-US" sz="1200" i="1" dirty="0">
                <a:solidFill>
                  <a:schemeClr val="accent4"/>
                </a:solidFill>
              </a:rPr>
              <a:t>Signs are physical: more draw needs more heat; boost replaces part of the gas; the aging furnace needs +0.35 Gcal/day per month. Every setpoint is clipped to the historical P1–P99.</a:t>
            </a:r>
            <a:endParaRPr lang="en-US" sz="12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Model evaluation: summer 2026</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Walk-forward on Jun–Aug 2026 (85 days): each step lowers SFC, all setpoints inside history</a:t>
            </a:r>
            <a:endParaRPr lang="en-US" sz="1600" dirty="0"/>
          </a:p>
        </p:txBody>
      </p:sp>
      <p:graphicFrame>
        <p:nvGraphicFramePr>
          <p:cNvPr id="4" name="Chart 0" descr=""/>
          <p:cNvGraphicFramePr/>
          <p:nvPr/>
        </p:nvGraphicFramePr>
        <p:xfrm>
          <a:off x="548640" y="1554480"/>
          <a:ext cx="6035040" cy="4709160"/>
        </p:xfrm>
        <a:graphic xmlns:a="http://schemas.openxmlformats.org/drawingml/2006/main">
          <a:graphicData uri="http://schemas.openxmlformats.org/drawingml/2006/chart">
            <c:chart xmlns:c="http://schemas.openxmlformats.org/drawingml/2006/chart" r:id="rId1"/>
          </a:graphicData>
        </a:graphic>
      </p:graphicFrame>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903720" y="1645920"/>
          <a:ext cx="4736592" cy="914400"/>
        </p:xfrm>
        <a:graphic>
          <a:graphicData uri="http://schemas.openxmlformats.org/drawingml/2006/table">
            <a:tbl>
              <a:tblPr/>
              <a:tblGrid>
                <a:gridCol w="1828800"/>
                <a:gridCol w="1417320"/>
                <a:gridCol w="1490472"/>
              </a:tblGrid>
              <a:tr h="347472">
                <a:tc>
                  <a:txBody>
                    <a:bodyPr/>
                    <a:lstStyle/>
                    <a:p>
                      <a:pPr indent="0" marL="0">
                        <a:buNone/>
                      </a:pPr>
                      <a:r>
                        <a:rPr lang="en-US" sz="1200" b="1" dirty="0">
                          <a:solidFill>
                            <a:schemeClr val="bg1"/>
                          </a:solidFill>
                        </a:rPr>
                        <a:t>Step</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SFC vs actual</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Draw-adjusted</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r>
              <a:tr h="347472">
                <a:tc>
                  <a:txBody>
                    <a:bodyPr/>
                    <a:lstStyle/>
                    <a:p>
                      <a:pPr indent="0" marL="0">
                        <a:buNone/>
                      </a:pPr>
                      <a:r>
                        <a:rPr lang="en-US" sz="1300" dirty="0">
                          <a:solidFill>
                            <a:schemeClr val="tx1"/>
                          </a:solidFill>
                        </a:rPr>
                        <a:t>Gas model</a:t>
                      </a:r>
                      <a:endParaRPr lang="en-US" sz="13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−0.70%</a:t>
                      </a:r>
                      <a:endParaRPr lang="en-US" sz="13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+0.42%</a:t>
                      </a:r>
                      <a:endParaRPr lang="en-US" sz="13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347472">
                <a:tc>
                  <a:txBody>
                    <a:bodyPr/>
                    <a:lstStyle/>
                    <a:p>
                      <a:pPr indent="0" marL="0">
                        <a:buNone/>
                      </a:pPr>
                      <a:r>
                        <a:rPr lang="en-US" sz="1300" dirty="0">
                          <a:solidFill>
                            <a:schemeClr val="tx1"/>
                          </a:solidFill>
                        </a:rPr>
                        <a:t>+ Boost controller</a:t>
                      </a:r>
                      <a:endParaRPr lang="en-US" sz="13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−1.09%</a:t>
                      </a:r>
                      <a:endParaRPr lang="en-US" sz="13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+0.01%</a:t>
                      </a:r>
                      <a:endParaRPr lang="en-US" sz="13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347472">
                <a:tc>
                  <a:txBody>
                    <a:bodyPr/>
                    <a:lstStyle/>
                    <a:p>
                      <a:pPr indent="0" marL="0">
                        <a:buNone/>
                      </a:pPr>
                      <a:r>
                        <a:rPr lang="en-US" sz="1300" b="1" dirty="0">
                          <a:solidFill>
                            <a:schemeClr val="tx1"/>
                          </a:solidFill>
                        </a:rPr>
                        <a:t>+ Air target</a:t>
                      </a:r>
                      <a:endParaRPr lang="en-US" sz="13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300" b="1" dirty="0">
                          <a:solidFill>
                            <a:schemeClr val="accent3"/>
                          </a:solidFill>
                        </a:rPr>
                        <a:t>−1.27%</a:t>
                      </a:r>
                      <a:endParaRPr lang="en-US" sz="13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300" b="1" dirty="0">
                          <a:solidFill>
                            <a:schemeClr val="accent3"/>
                          </a:solidFill>
                        </a:rPr>
                        <a:t>−0.17%</a:t>
                      </a:r>
                      <a:endParaRPr lang="en-US" sz="13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bl>
          </a:graphicData>
        </a:graphic>
      </p:graphicFrame>
      <p:sp>
        <p:nvSpPr>
          <p:cNvPr id="6" name="Text 2"/>
          <p:cNvSpPr txBox="1"/>
          <p:nvPr/>
        </p:nvSpPr>
        <p:spPr>
          <a:xfrm>
            <a:off x="6903720" y="3200400"/>
            <a:ext cx="4572000" cy="365760"/>
          </a:xfrm>
          <a:prstGeom prst="rect">
            <a:avLst/>
          </a:prstGeom>
          <a:noFill/>
          <a:ln/>
        </p:spPr>
        <p:txBody>
          <a:bodyPr wrap="square" lIns="0" tIns="0" rIns="0" bIns="0" rtlCol="0" anchor="t"/>
          <a:lstStyle/>
          <a:p>
            <a:pPr indent="0" marL="0">
              <a:buNone/>
            </a:pPr>
            <a:r>
              <a:rPr lang="en-US" sz="1500" b="1" dirty="0">
                <a:solidFill>
                  <a:schemeClr val="tx2"/>
                </a:solidFill>
              </a:rPr>
              <a:t>Per draw band (vs band baseline)</a:t>
            </a:r>
            <a:endParaRPr lang="en-US" sz="1500" dirty="0"/>
          </a:p>
        </p:txBody>
      </p:sp>
      <p:graphicFrame>
        <p:nvGraphicFramePr>
          <p:cNvPr id="63" name="Table 1"/>
          <p:cNvGraphicFramePr>
            <a:graphicFrameLocks noGrp="1"/>
          </p:cNvGraphicFramePr>
          <p:nvPr>
            <p:extLst>
              <p:ext uri="{D42A27DB-BD31-4B8C-83A1-F6EECF244321}">
                <p14:modId xmlns:p14="http://schemas.microsoft.com/office/powerpoint/2010/main" val="1579011935"/>
              </p:ext>
            </p:extLst>
          </p:nvPr>
        </p:nvGraphicFramePr>
        <p:xfrm>
          <a:off x="6903720" y="3547872"/>
          <a:ext cx="4736592" cy="914400"/>
        </p:xfrm>
        <a:graphic>
          <a:graphicData uri="http://schemas.openxmlformats.org/drawingml/2006/table">
            <a:tbl>
              <a:tblPr/>
              <a:tblGrid>
                <a:gridCol w="1828800"/>
                <a:gridCol w="1417320"/>
                <a:gridCol w="1490472"/>
              </a:tblGrid>
              <a:tr h="329184">
                <a:tc>
                  <a:txBody>
                    <a:bodyPr/>
                    <a:lstStyle/>
                    <a:p>
                      <a:pPr indent="0" marL="0">
                        <a:buNone/>
                      </a:pPr>
                      <a:r>
                        <a:rPr lang="en-US" sz="1200" b="1" dirty="0">
                          <a:solidFill>
                            <a:schemeClr val="bg1"/>
                          </a:solidFill>
                        </a:rPr>
                        <a:t>Band</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Actual</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Recommended</a:t>
                      </a:r>
                      <a:endParaRPr lang="en-US" sz="12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2"/>
                    </a:solidFill>
                  </a:tcPr>
                </a:tc>
              </a:tr>
              <a:tr h="329184">
                <a:tc>
                  <a:txBody>
                    <a:bodyPr/>
                    <a:lstStyle/>
                    <a:p>
                      <a:pPr indent="0" marL="0">
                        <a:buNone/>
                      </a:pPr>
                      <a:r>
                        <a:rPr lang="en-US" sz="1300" dirty="0">
                          <a:solidFill>
                            <a:schemeClr val="tx1"/>
                          </a:solidFill>
                        </a:rPr>
                        <a:t>45–50 t (5 days)</a:t>
                      </a:r>
                      <a:endParaRPr lang="en-US" sz="13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+0.23%</a:t>
                      </a:r>
                      <a:endParaRPr lang="en-US" sz="13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−0.62%</a:t>
                      </a:r>
                      <a:endParaRPr lang="en-US" sz="13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329184">
                <a:tc>
                  <a:txBody>
                    <a:bodyPr/>
                    <a:lstStyle/>
                    <a:p>
                      <a:pPr indent="0" marL="0">
                        <a:buNone/>
                      </a:pPr>
                      <a:r>
                        <a:rPr lang="en-US" sz="1300" dirty="0">
                          <a:solidFill>
                            <a:schemeClr val="tx1"/>
                          </a:solidFill>
                        </a:rPr>
                        <a:t>50–55 t (18 days)</a:t>
                      </a:r>
                      <a:endParaRPr lang="en-US" sz="13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+1.36%</a:t>
                      </a:r>
                      <a:endParaRPr lang="en-US" sz="13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+1.23%</a:t>
                      </a:r>
                      <a:endParaRPr lang="en-US" sz="13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329184">
                <a:tc>
                  <a:txBody>
                    <a:bodyPr/>
                    <a:lstStyle/>
                    <a:p>
                      <a:pPr indent="0" marL="0">
                        <a:buNone/>
                      </a:pPr>
                      <a:r>
                        <a:rPr lang="en-US" sz="1300" dirty="0">
                          <a:solidFill>
                            <a:schemeClr val="tx1"/>
                          </a:solidFill>
                        </a:rPr>
                        <a:t>55–60 t (33 days)</a:t>
                      </a:r>
                      <a:endParaRPr lang="en-US" sz="13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+1.36%</a:t>
                      </a:r>
                      <a:endParaRPr lang="en-US" sz="13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−0.26%</a:t>
                      </a:r>
                      <a:endParaRPr lang="en-US" sz="13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329184">
                <a:tc>
                  <a:txBody>
                    <a:bodyPr/>
                    <a:lstStyle/>
                    <a:p>
                      <a:pPr indent="0" marL="0">
                        <a:buNone/>
                      </a:pPr>
                      <a:r>
                        <a:rPr lang="en-US" sz="1300" dirty="0">
                          <a:solidFill>
                            <a:schemeClr val="tx1"/>
                          </a:solidFill>
                        </a:rPr>
                        <a:t>60–65 t (29 days)</a:t>
                      </a:r>
                      <a:endParaRPr lang="en-US" sz="13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+1.60%</a:t>
                      </a:r>
                      <a:endParaRPr lang="en-US" sz="13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−0.15%</a:t>
                      </a:r>
                      <a:endParaRPr lang="en-US" sz="1300" dirty="0"/>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bl>
          </a:graphicData>
        </a:graphic>
      </p:graphicFrame>
      <p:sp>
        <p:nvSpPr>
          <p:cNvPr id="8" name="Text 3"/>
          <p:cNvSpPr txBox="1"/>
          <p:nvPr/>
        </p:nvSpPr>
        <p:spPr>
          <a:xfrm>
            <a:off x="6903720" y="5486400"/>
            <a:ext cx="4736592" cy="731520"/>
          </a:xfrm>
          <a:prstGeom prst="rect">
            <a:avLst/>
          </a:prstGeom>
          <a:noFill/>
          <a:ln/>
        </p:spPr>
        <p:txBody>
          <a:bodyPr wrap="square" lIns="0" tIns="0" rIns="0" bIns="0" rtlCol="0" anchor="t"/>
          <a:lstStyle/>
          <a:p>
            <a:pPr indent="0" marL="0">
              <a:buNone/>
            </a:pPr>
            <a:r>
              <a:rPr lang="en-US" sz="1200" i="1" dirty="0">
                <a:solidFill>
                  <a:schemeClr val="accent4"/>
                </a:solidFill>
              </a:rPr>
              <a:t>Draw-adjusted: +1.14% actual → −0.17%. 15-min back-test with exact NCV gives 0.81% for gas alone (8,092 recommendations).</a:t>
            </a:r>
            <a:endParaRPr lang="en-US" sz="12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Model evaluation: every month, and an unseen month</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Replayed day by day over 292 days, the recommender beat actual operation in all 10 months</a:t>
            </a:r>
            <a:endParaRPr lang="en-US" sz="1600" dirty="0"/>
          </a:p>
        </p:txBody>
      </p:sp>
      <p:graphicFrame>
        <p:nvGraphicFramePr>
          <p:cNvPr id="4" name="Chart 0" descr=""/>
          <p:cNvGraphicFramePr/>
          <p:nvPr/>
        </p:nvGraphicFramePr>
        <p:xfrm>
          <a:off x="548640" y="1554480"/>
          <a:ext cx="7589520" cy="470916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8458200" y="1645920"/>
            <a:ext cx="3182112" cy="4572000"/>
          </a:xfrm>
          <a:prstGeom prst="roundRect">
            <a:avLst>
              <a:gd name="adj" fmla="val 2299"/>
            </a:avLst>
          </a:prstGeom>
          <a:solidFill>
            <a:schemeClr val="bg2"/>
          </a:solidFill>
          <a:ln/>
        </p:spPr>
      </p:sp>
      <p:sp>
        <p:nvSpPr>
          <p:cNvPr id="6" name="Text 3"/>
          <p:cNvSpPr txBox="1"/>
          <p:nvPr/>
        </p:nvSpPr>
        <p:spPr>
          <a:xfrm>
            <a:off x="8686800" y="1783080"/>
            <a:ext cx="2743200" cy="685800"/>
          </a:xfrm>
          <a:prstGeom prst="rect">
            <a:avLst/>
          </a:prstGeom>
          <a:noFill/>
          <a:ln/>
        </p:spPr>
        <p:txBody>
          <a:bodyPr wrap="square" lIns="0" tIns="0" rIns="0" bIns="0" rtlCol="0" anchor="b"/>
          <a:lstStyle/>
          <a:p>
            <a:pPr indent="0" marL="0">
              <a:buNone/>
            </a:pPr>
            <a:r>
              <a:rPr lang="en-US" sz="2800" b="1" dirty="0">
                <a:solidFill>
                  <a:schemeClr val="accent3"/>
                </a:solidFill>
                <a:latin typeface="Arial" pitchFamily="34" charset="0"/>
                <a:ea typeface="Arial" pitchFamily="34" charset="-122"/>
                <a:cs typeface="Arial" pitchFamily="34" charset="-120"/>
              </a:rPr>
              <a:t>1,583 → 1,570</a:t>
            </a:r>
            <a:endParaRPr lang="en-US" sz="2800" dirty="0"/>
          </a:p>
        </p:txBody>
      </p:sp>
      <p:sp>
        <p:nvSpPr>
          <p:cNvPr id="7" name="Text 4"/>
          <p:cNvSpPr txBox="1"/>
          <p:nvPr/>
        </p:nvSpPr>
        <p:spPr>
          <a:xfrm>
            <a:off x="8686800" y="2514600"/>
            <a:ext cx="2743200" cy="640080"/>
          </a:xfrm>
          <a:prstGeom prst="rect">
            <a:avLst/>
          </a:prstGeom>
          <a:noFill/>
          <a:ln/>
        </p:spPr>
        <p:txBody>
          <a:bodyPr wrap="square" lIns="0" tIns="0" rIns="0" bIns="0" rtlCol="0" anchor="t"/>
          <a:lstStyle/>
          <a:p>
            <a:pPr indent="0" marL="0">
              <a:buNone/>
            </a:pPr>
            <a:r>
              <a:rPr lang="en-US" sz="1300" dirty="0">
                <a:solidFill>
                  <a:schemeClr val="accent4"/>
                </a:solidFill>
              </a:rPr>
              <a:t>kcal/kg over 292 days (−0.86%), Dec 2025 – Sep 2026</a:t>
            </a:r>
            <a:endParaRPr lang="en-US" sz="1300" dirty="0"/>
          </a:p>
        </p:txBody>
      </p:sp>
      <p:sp>
        <p:nvSpPr>
          <p:cNvPr id="8" name="Text 5"/>
          <p:cNvSpPr txBox="1"/>
          <p:nvPr/>
        </p:nvSpPr>
        <p:spPr>
          <a:xfrm>
            <a:off x="8686800" y="3154680"/>
            <a:ext cx="2743200" cy="685800"/>
          </a:xfrm>
          <a:prstGeom prst="rect">
            <a:avLst/>
          </a:prstGeom>
          <a:noFill/>
          <a:ln/>
        </p:spPr>
        <p:txBody>
          <a:bodyPr wrap="square" lIns="0" tIns="0" rIns="0" bIns="0" rtlCol="0" anchor="b"/>
          <a:lstStyle/>
          <a:p>
            <a:pPr indent="0" marL="0">
              <a:buNone/>
            </a:pPr>
            <a:r>
              <a:rPr lang="en-US" sz="2800" b="1" dirty="0">
                <a:solidFill>
                  <a:schemeClr val="tx2"/>
                </a:solidFill>
                <a:latin typeface="Arial" pitchFamily="34" charset="0"/>
                <a:ea typeface="Arial" pitchFamily="34" charset="-122"/>
                <a:cs typeface="Arial" pitchFamily="34" charset="-120"/>
              </a:rPr>
              <a:t>0.3–1.9%</a:t>
            </a:r>
            <a:endParaRPr lang="en-US" sz="2800" dirty="0"/>
          </a:p>
        </p:txBody>
      </p:sp>
      <p:sp>
        <p:nvSpPr>
          <p:cNvPr id="9" name="Text 6"/>
          <p:cNvSpPr txBox="1"/>
          <p:nvPr/>
        </p:nvSpPr>
        <p:spPr>
          <a:xfrm>
            <a:off x="8686800" y="3886200"/>
            <a:ext cx="2743200" cy="640080"/>
          </a:xfrm>
          <a:prstGeom prst="rect">
            <a:avLst/>
          </a:prstGeom>
          <a:noFill/>
          <a:ln/>
        </p:spPr>
        <p:txBody>
          <a:bodyPr wrap="square" lIns="0" tIns="0" rIns="0" bIns="0" rtlCol="0" anchor="t"/>
          <a:lstStyle/>
          <a:p>
            <a:pPr indent="0" marL="0">
              <a:buNone/>
            </a:pPr>
            <a:r>
              <a:rPr lang="en-US" sz="1300" dirty="0">
                <a:solidFill>
                  <a:schemeClr val="accent4"/>
                </a:solidFill>
              </a:rPr>
              <a:t>lower SFC in every month (best: Feb 2026 1.9%, Aug 2026 1.5%)</a:t>
            </a:r>
            <a:endParaRPr lang="en-US" sz="1300" dirty="0"/>
          </a:p>
        </p:txBody>
      </p:sp>
      <p:sp>
        <p:nvSpPr>
          <p:cNvPr id="10" name="Text 7"/>
          <p:cNvSpPr txBox="1"/>
          <p:nvPr/>
        </p:nvSpPr>
        <p:spPr>
          <a:xfrm>
            <a:off x="8686800" y="4526280"/>
            <a:ext cx="2743200" cy="685800"/>
          </a:xfrm>
          <a:prstGeom prst="rect">
            <a:avLst/>
          </a:prstGeom>
          <a:noFill/>
          <a:ln/>
        </p:spPr>
        <p:txBody>
          <a:bodyPr wrap="square" lIns="0" tIns="0" rIns="0" bIns="0" rtlCol="0" anchor="b"/>
          <a:lstStyle/>
          <a:p>
            <a:pPr indent="0" marL="0">
              <a:buNone/>
            </a:pPr>
            <a:r>
              <a:rPr lang="en-US" sz="2800" b="1" dirty="0">
                <a:solidFill>
                  <a:schemeClr val="accent1"/>
                </a:solidFill>
                <a:latin typeface="Arial" pitchFamily="34" charset="0"/>
                <a:ea typeface="Arial" pitchFamily="34" charset="-122"/>
                <a:cs typeface="Arial" pitchFamily="34" charset="-120"/>
              </a:rPr>
              <a:t>26%</a:t>
            </a:r>
            <a:endParaRPr lang="en-US" sz="2800" dirty="0"/>
          </a:p>
        </p:txBody>
      </p:sp>
      <p:sp>
        <p:nvSpPr>
          <p:cNvPr id="11" name="Text 8"/>
          <p:cNvSpPr txBox="1"/>
          <p:nvPr/>
        </p:nvSpPr>
        <p:spPr>
          <a:xfrm>
            <a:off x="8686800" y="5257800"/>
            <a:ext cx="2743200" cy="640080"/>
          </a:xfrm>
          <a:prstGeom prst="rect">
            <a:avLst/>
          </a:prstGeom>
          <a:noFill/>
          <a:ln/>
        </p:spPr>
        <p:txBody>
          <a:bodyPr wrap="square" lIns="0" tIns="0" rIns="0" bIns="0" rtlCol="0" anchor="t"/>
          <a:lstStyle/>
          <a:p>
            <a:pPr indent="0" marL="0">
              <a:buNone/>
            </a:pPr>
            <a:r>
              <a:rPr lang="en-US" sz="1300" dirty="0">
                <a:solidFill>
                  <a:schemeClr val="accent4"/>
                </a:solidFill>
              </a:rPr>
              <a:t>of unseen Sep 2026 days beat the gas target (25% designed): calibrated</a:t>
            </a:r>
            <a:endParaRPr lang="en-US" sz="13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Packaged in Databricks</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Two scheduled jobs: daily retraining and live recommendations to the operator</a:t>
            </a:r>
            <a:endParaRPr lang="en-US" sz="1600" dirty="0"/>
          </a:p>
        </p:txBody>
      </p:sp>
      <p:sp>
        <p:nvSpPr>
          <p:cNvPr id="4" name="card"/>
          <p:cNvSpPr/>
          <p:nvPr/>
        </p:nvSpPr>
        <p:spPr>
          <a:xfrm>
            <a:off x="548640" y="2697480"/>
            <a:ext cx="2450592" cy="1554480"/>
          </a:xfrm>
          <a:prstGeom prst="roundRect">
            <a:avLst>
              <a:gd name="adj" fmla="val 4706"/>
            </a:avLst>
          </a:prstGeom>
          <a:solidFill>
            <a:schemeClr val="bg2"/>
          </a:solidFill>
          <a:ln/>
        </p:spPr>
      </p:sp>
      <p:sp>
        <p:nvSpPr>
          <p:cNvPr id="5" name="icon circle"/>
          <p:cNvSpPr/>
          <p:nvPr/>
        </p:nvSpPr>
        <p:spPr>
          <a:xfrm>
            <a:off x="731520" y="2880360"/>
            <a:ext cx="502920" cy="502920"/>
          </a:xfrm>
          <a:prstGeom prst="ellipse">
            <a:avLst/>
          </a:prstGeom>
          <a:solidFill>
            <a:schemeClr val="accent4"/>
          </a:solidFill>
          <a:ln/>
        </p:spPr>
      </p:sp>
      <p:pic>
        <p:nvPicPr>
          <p:cNvPr id="6" name="Image 0" descr="FaDatabase">    </p:cNvPr>
          <p:cNvPicPr>
            <a:picLocks noChangeAspect="1"/>
          </p:cNvPicPr>
          <p:nvPr/>
        </p:nvPicPr>
        <p:blipFill>
          <a:blip r:embed="rId1"/>
          <a:stretch>
            <a:fillRect/>
          </a:stretch>
        </p:blipFill>
        <p:spPr>
          <a:xfrm>
            <a:off x="862279" y="3011119"/>
            <a:ext cx="241402" cy="241402"/>
          </a:xfrm>
          <a:prstGeom prst="rect">
            <a:avLst/>
          </a:prstGeom>
        </p:spPr>
      </p:pic>
      <p:sp>
        <p:nvSpPr>
          <p:cNvPr id="7" name="Text 4"/>
          <p:cNvSpPr txBox="1"/>
          <p:nvPr/>
        </p:nvSpPr>
        <p:spPr>
          <a:xfrm>
            <a:off x="1325880" y="2880360"/>
            <a:ext cx="1600200" cy="502920"/>
          </a:xfrm>
          <a:prstGeom prst="rect">
            <a:avLst/>
          </a:prstGeom>
          <a:noFill/>
          <a:ln/>
        </p:spPr>
        <p:txBody>
          <a:bodyPr wrap="square" lIns="0" tIns="0" rIns="0" bIns="0" rtlCol="0" anchor="ctr"/>
          <a:lstStyle/>
          <a:p>
            <a:pPr indent="0" marL="0">
              <a:buNone/>
            </a:pPr>
            <a:r>
              <a:rPr lang="en-US" sz="1400" b="1" dirty="0">
                <a:solidFill>
                  <a:schemeClr val="tx2"/>
                </a:solidFill>
              </a:rPr>
              <a:t>Plant data</a:t>
            </a:r>
            <a:endParaRPr lang="en-US" sz="1400" dirty="0"/>
          </a:p>
        </p:txBody>
      </p:sp>
      <p:sp>
        <p:nvSpPr>
          <p:cNvPr id="8" name="Text 5"/>
          <p:cNvSpPr txBox="1"/>
          <p:nvPr/>
        </p:nvSpPr>
        <p:spPr>
          <a:xfrm>
            <a:off x="731520" y="3474720"/>
            <a:ext cx="2148840" cy="731520"/>
          </a:xfrm>
          <a:prstGeom prst="rect">
            <a:avLst/>
          </a:prstGeom>
          <a:noFill/>
          <a:ln/>
        </p:spPr>
        <p:txBody>
          <a:bodyPr wrap="square" lIns="0" tIns="0" rIns="0" bIns="0" rtlCol="0" anchor="t"/>
          <a:lstStyle/>
          <a:p>
            <a:pPr indent="0" marL="0">
              <a:buNone/>
            </a:pPr>
            <a:r>
              <a:rPr lang="en-US" sz="1200" dirty="0">
                <a:solidFill>
                  <a:schemeClr val="tx1"/>
                </a:solidFill>
              </a:rPr>
              <a:t>DCS (MB3, NG, air) · UEMS NCV (MQTT) · SAP draw · boost DB</a:t>
            </a:r>
            <a:endParaRPr lang="en-US" sz="1200" dirty="0"/>
          </a:p>
        </p:txBody>
      </p:sp>
      <p:sp>
        <p:nvSpPr>
          <p:cNvPr id="9" name="card"/>
          <p:cNvSpPr/>
          <p:nvPr/>
        </p:nvSpPr>
        <p:spPr>
          <a:xfrm>
            <a:off x="3429000" y="1645920"/>
            <a:ext cx="2450592" cy="1554480"/>
          </a:xfrm>
          <a:prstGeom prst="roundRect">
            <a:avLst>
              <a:gd name="adj" fmla="val 4706"/>
            </a:avLst>
          </a:prstGeom>
          <a:solidFill>
            <a:schemeClr val="bg2"/>
          </a:solidFill>
          <a:ln/>
        </p:spPr>
      </p:sp>
      <p:sp>
        <p:nvSpPr>
          <p:cNvPr id="10" name="icon circle"/>
          <p:cNvSpPr/>
          <p:nvPr/>
        </p:nvSpPr>
        <p:spPr>
          <a:xfrm>
            <a:off x="3611880" y="1828800"/>
            <a:ext cx="502920" cy="502920"/>
          </a:xfrm>
          <a:prstGeom prst="ellipse">
            <a:avLst/>
          </a:prstGeom>
          <a:solidFill>
            <a:schemeClr val="accent1"/>
          </a:solidFill>
          <a:ln/>
        </p:spPr>
      </p:sp>
      <p:pic>
        <p:nvPicPr>
          <p:cNvPr id="11" name="Image 1" descr="FaSyncAlt">    </p:cNvPr>
          <p:cNvPicPr>
            <a:picLocks noChangeAspect="1"/>
          </p:cNvPicPr>
          <p:nvPr/>
        </p:nvPicPr>
        <p:blipFill>
          <a:blip r:embed="rId2"/>
          <a:stretch>
            <a:fillRect/>
          </a:stretch>
        </p:blipFill>
        <p:spPr>
          <a:xfrm>
            <a:off x="3742639" y="1959559"/>
            <a:ext cx="241402" cy="241402"/>
          </a:xfrm>
          <a:prstGeom prst="rect">
            <a:avLst/>
          </a:prstGeom>
        </p:spPr>
      </p:pic>
      <p:sp>
        <p:nvSpPr>
          <p:cNvPr id="12" name="Text 8"/>
          <p:cNvSpPr txBox="1"/>
          <p:nvPr/>
        </p:nvSpPr>
        <p:spPr>
          <a:xfrm>
            <a:off x="4206240" y="1828800"/>
            <a:ext cx="1600200" cy="502920"/>
          </a:xfrm>
          <a:prstGeom prst="rect">
            <a:avLst/>
          </a:prstGeom>
          <a:noFill/>
          <a:ln/>
        </p:spPr>
        <p:txBody>
          <a:bodyPr wrap="square" lIns="0" tIns="0" rIns="0" bIns="0" rtlCol="0" anchor="ctr"/>
          <a:lstStyle/>
          <a:p>
            <a:pPr indent="0" marL="0">
              <a:buNone/>
            </a:pPr>
            <a:r>
              <a:rPr lang="en-US" sz="1400" b="1" dirty="0">
                <a:solidFill>
                  <a:schemeClr val="tx2"/>
                </a:solidFill>
              </a:rPr>
              <a:t>Job 01: training</a:t>
            </a:r>
            <a:endParaRPr lang="en-US" sz="1400" dirty="0"/>
          </a:p>
        </p:txBody>
      </p:sp>
      <p:sp>
        <p:nvSpPr>
          <p:cNvPr id="13" name="Text 9"/>
          <p:cNvSpPr txBox="1"/>
          <p:nvPr/>
        </p:nvSpPr>
        <p:spPr>
          <a:xfrm>
            <a:off x="3611880" y="2423160"/>
            <a:ext cx="2148840" cy="731520"/>
          </a:xfrm>
          <a:prstGeom prst="rect">
            <a:avLst/>
          </a:prstGeom>
          <a:noFill/>
          <a:ln/>
        </p:spPr>
        <p:txBody>
          <a:bodyPr wrap="square" lIns="0" tIns="0" rIns="0" bIns="0" rtlCol="0" anchor="t"/>
          <a:lstStyle/>
          <a:p>
            <a:pPr indent="0" marL="0">
              <a:buNone/>
            </a:pPr>
            <a:r>
              <a:rPr lang="en-US" sz="1200" dirty="0">
                <a:solidFill>
                  <a:schemeClr val="tx1"/>
                </a:solidFill>
              </a:rPr>
              <a:t>Daily 06:30 · clean → daily/hourly → fit gas, air, boost, limits, M&amp;V</a:t>
            </a:r>
            <a:endParaRPr lang="en-US" sz="1200" dirty="0"/>
          </a:p>
        </p:txBody>
      </p:sp>
      <p:sp>
        <p:nvSpPr>
          <p:cNvPr id="14" name="card"/>
          <p:cNvSpPr/>
          <p:nvPr/>
        </p:nvSpPr>
        <p:spPr>
          <a:xfrm>
            <a:off x="3429000" y="3749040"/>
            <a:ext cx="2450592" cy="1554480"/>
          </a:xfrm>
          <a:prstGeom prst="roundRect">
            <a:avLst>
              <a:gd name="adj" fmla="val 4706"/>
            </a:avLst>
          </a:prstGeom>
          <a:solidFill>
            <a:schemeClr val="bg2"/>
          </a:solidFill>
          <a:ln/>
        </p:spPr>
      </p:sp>
      <p:sp>
        <p:nvSpPr>
          <p:cNvPr id="15" name="icon circle"/>
          <p:cNvSpPr/>
          <p:nvPr/>
        </p:nvSpPr>
        <p:spPr>
          <a:xfrm>
            <a:off x="3611880" y="3931920"/>
            <a:ext cx="502920" cy="502920"/>
          </a:xfrm>
          <a:prstGeom prst="ellipse">
            <a:avLst/>
          </a:prstGeom>
          <a:solidFill>
            <a:schemeClr val="accent2"/>
          </a:solidFill>
          <a:ln/>
        </p:spPr>
      </p:sp>
      <p:pic>
        <p:nvPicPr>
          <p:cNvPr id="16" name="Image 2" descr="FaPaperPlane">    </p:cNvPr>
          <p:cNvPicPr>
            <a:picLocks noChangeAspect="1"/>
          </p:cNvPicPr>
          <p:nvPr/>
        </p:nvPicPr>
        <p:blipFill>
          <a:blip r:embed="rId3"/>
          <a:stretch>
            <a:fillRect/>
          </a:stretch>
        </p:blipFill>
        <p:spPr>
          <a:xfrm>
            <a:off x="3742639" y="4062679"/>
            <a:ext cx="241402" cy="241402"/>
          </a:xfrm>
          <a:prstGeom prst="rect">
            <a:avLst/>
          </a:prstGeom>
        </p:spPr>
      </p:pic>
      <p:sp>
        <p:nvSpPr>
          <p:cNvPr id="17" name="Text 12"/>
          <p:cNvSpPr txBox="1"/>
          <p:nvPr/>
        </p:nvSpPr>
        <p:spPr>
          <a:xfrm>
            <a:off x="4206240" y="3931920"/>
            <a:ext cx="1600200" cy="502920"/>
          </a:xfrm>
          <a:prstGeom prst="rect">
            <a:avLst/>
          </a:prstGeom>
          <a:noFill/>
          <a:ln/>
        </p:spPr>
        <p:txBody>
          <a:bodyPr wrap="square" lIns="0" tIns="0" rIns="0" bIns="0" rtlCol="0" anchor="ctr"/>
          <a:lstStyle/>
          <a:p>
            <a:pPr indent="0" marL="0">
              <a:buNone/>
            </a:pPr>
            <a:r>
              <a:rPr lang="en-US" sz="1400" b="1" dirty="0">
                <a:solidFill>
                  <a:schemeClr val="tx2"/>
                </a:solidFill>
              </a:rPr>
              <a:t>Job 02: inference</a:t>
            </a:r>
            <a:endParaRPr lang="en-US" sz="1400" dirty="0"/>
          </a:p>
        </p:txBody>
      </p:sp>
      <p:sp>
        <p:nvSpPr>
          <p:cNvPr id="18" name="Text 13"/>
          <p:cNvSpPr txBox="1"/>
          <p:nvPr/>
        </p:nvSpPr>
        <p:spPr>
          <a:xfrm>
            <a:off x="3611880" y="4526280"/>
            <a:ext cx="2148840" cy="731520"/>
          </a:xfrm>
          <a:prstGeom prst="rect">
            <a:avLst/>
          </a:prstGeom>
          <a:noFill/>
          <a:ln/>
        </p:spPr>
        <p:txBody>
          <a:bodyPr wrap="square" lIns="0" tIns="0" rIns="0" bIns="0" rtlCol="0" anchor="t"/>
          <a:lstStyle/>
          <a:p>
            <a:pPr indent="0" marL="0">
              <a:buNone/>
            </a:pPr>
            <a:r>
              <a:rPr lang="en-US" sz="1200" dirty="0">
                <a:solidFill>
                  <a:schemeClr val="tx1"/>
                </a:solidFill>
              </a:rPr>
              <a:t>Every 20 min (gas, air) · hourly (boost) · limit + freshness checks</a:t>
            </a:r>
            <a:endParaRPr lang="en-US" sz="1200" dirty="0"/>
          </a:p>
        </p:txBody>
      </p:sp>
      <p:sp>
        <p:nvSpPr>
          <p:cNvPr id="19" name="card"/>
          <p:cNvSpPr/>
          <p:nvPr/>
        </p:nvSpPr>
        <p:spPr>
          <a:xfrm>
            <a:off x="6309360" y="1645920"/>
            <a:ext cx="2450592" cy="1554480"/>
          </a:xfrm>
          <a:prstGeom prst="roundRect">
            <a:avLst>
              <a:gd name="adj" fmla="val 4706"/>
            </a:avLst>
          </a:prstGeom>
          <a:solidFill>
            <a:schemeClr val="bg2"/>
          </a:solidFill>
          <a:ln/>
        </p:spPr>
      </p:sp>
      <p:sp>
        <p:nvSpPr>
          <p:cNvPr id="20" name="icon circle"/>
          <p:cNvSpPr/>
          <p:nvPr/>
        </p:nvSpPr>
        <p:spPr>
          <a:xfrm>
            <a:off x="6492240" y="1828800"/>
            <a:ext cx="502920" cy="502920"/>
          </a:xfrm>
          <a:prstGeom prst="ellipse">
            <a:avLst/>
          </a:prstGeom>
          <a:solidFill>
            <a:schemeClr val="accent3"/>
          </a:solidFill>
          <a:ln/>
        </p:spPr>
      </p:sp>
      <p:pic>
        <p:nvPicPr>
          <p:cNvPr id="21" name="Image 3" descr="FaShieldAlt">    </p:cNvPr>
          <p:cNvPicPr>
            <a:picLocks noChangeAspect="1"/>
          </p:cNvPicPr>
          <p:nvPr/>
        </p:nvPicPr>
        <p:blipFill>
          <a:blip r:embed="rId4"/>
          <a:stretch>
            <a:fillRect/>
          </a:stretch>
        </p:blipFill>
        <p:spPr>
          <a:xfrm>
            <a:off x="6622999" y="1959559"/>
            <a:ext cx="241402" cy="241402"/>
          </a:xfrm>
          <a:prstGeom prst="rect">
            <a:avLst/>
          </a:prstGeom>
        </p:spPr>
      </p:pic>
      <p:sp>
        <p:nvSpPr>
          <p:cNvPr id="22" name="Text 16"/>
          <p:cNvSpPr txBox="1"/>
          <p:nvPr/>
        </p:nvSpPr>
        <p:spPr>
          <a:xfrm>
            <a:off x="7086600" y="1828800"/>
            <a:ext cx="1600200" cy="502920"/>
          </a:xfrm>
          <a:prstGeom prst="rect">
            <a:avLst/>
          </a:prstGeom>
          <a:noFill/>
          <a:ln/>
        </p:spPr>
        <p:txBody>
          <a:bodyPr wrap="square" lIns="0" tIns="0" rIns="0" bIns="0" rtlCol="0" anchor="ctr"/>
          <a:lstStyle/>
          <a:p>
            <a:pPr indent="0" marL="0">
              <a:buNone/>
            </a:pPr>
            <a:r>
              <a:rPr lang="en-US" sz="1400" b="1" dirty="0">
                <a:solidFill>
                  <a:schemeClr val="tx2"/>
                </a:solidFill>
              </a:rPr>
              <a:t>Quality gate</a:t>
            </a:r>
            <a:endParaRPr lang="en-US" sz="1400" dirty="0"/>
          </a:p>
        </p:txBody>
      </p:sp>
      <p:sp>
        <p:nvSpPr>
          <p:cNvPr id="23" name="Text 17"/>
          <p:cNvSpPr txBox="1"/>
          <p:nvPr/>
        </p:nvSpPr>
        <p:spPr>
          <a:xfrm>
            <a:off x="6492240" y="2423160"/>
            <a:ext cx="2148840" cy="731520"/>
          </a:xfrm>
          <a:prstGeom prst="rect">
            <a:avLst/>
          </a:prstGeom>
          <a:noFill/>
          <a:ln/>
        </p:spPr>
        <p:txBody>
          <a:bodyPr wrap="square" lIns="0" tIns="0" rIns="0" bIns="0" rtlCol="0" anchor="t"/>
          <a:lstStyle/>
          <a:p>
            <a:pPr indent="0" marL="0">
              <a:buNone/>
            </a:pPr>
            <a:r>
              <a:rPr lang="en-US" sz="1200" dirty="0">
                <a:solidFill>
                  <a:schemeClr val="tx1"/>
                </a:solidFill>
              </a:rPr>
              <a:t>Signs, ranges, 30-day coverage 10–45%: release only on pass</a:t>
            </a:r>
            <a:endParaRPr lang="en-US" sz="1200" dirty="0"/>
          </a:p>
        </p:txBody>
      </p:sp>
      <p:sp>
        <p:nvSpPr>
          <p:cNvPr id="24" name="card"/>
          <p:cNvSpPr/>
          <p:nvPr/>
        </p:nvSpPr>
        <p:spPr>
          <a:xfrm>
            <a:off x="6309360" y="3749040"/>
            <a:ext cx="2450592" cy="1554480"/>
          </a:xfrm>
          <a:prstGeom prst="roundRect">
            <a:avLst>
              <a:gd name="adj" fmla="val 4706"/>
            </a:avLst>
          </a:prstGeom>
          <a:solidFill>
            <a:schemeClr val="bg2"/>
          </a:solidFill>
          <a:ln/>
        </p:spPr>
      </p:sp>
      <p:sp>
        <p:nvSpPr>
          <p:cNvPr id="25" name="icon circle"/>
          <p:cNvSpPr/>
          <p:nvPr/>
        </p:nvSpPr>
        <p:spPr>
          <a:xfrm>
            <a:off x="6492240" y="3931920"/>
            <a:ext cx="502920" cy="502920"/>
          </a:xfrm>
          <a:prstGeom prst="ellipse">
            <a:avLst/>
          </a:prstGeom>
          <a:solidFill>
            <a:schemeClr val="accent2"/>
          </a:solidFill>
          <a:ln/>
        </p:spPr>
      </p:sp>
      <p:pic>
        <p:nvPicPr>
          <p:cNvPr id="26" name="Image 4" descr="FaEnvelope">    </p:cNvPr>
          <p:cNvPicPr>
            <a:picLocks noChangeAspect="1"/>
          </p:cNvPicPr>
          <p:nvPr/>
        </p:nvPicPr>
        <p:blipFill>
          <a:blip r:embed="rId5"/>
          <a:stretch>
            <a:fillRect/>
          </a:stretch>
        </p:blipFill>
        <p:spPr>
          <a:xfrm>
            <a:off x="6622999" y="4062679"/>
            <a:ext cx="241402" cy="241402"/>
          </a:xfrm>
          <a:prstGeom prst="rect">
            <a:avLst/>
          </a:prstGeom>
        </p:spPr>
      </p:pic>
      <p:sp>
        <p:nvSpPr>
          <p:cNvPr id="27" name="Text 20"/>
          <p:cNvSpPr txBox="1"/>
          <p:nvPr/>
        </p:nvSpPr>
        <p:spPr>
          <a:xfrm>
            <a:off x="7086600" y="3931920"/>
            <a:ext cx="1600200" cy="502920"/>
          </a:xfrm>
          <a:prstGeom prst="rect">
            <a:avLst/>
          </a:prstGeom>
          <a:noFill/>
          <a:ln/>
        </p:spPr>
        <p:txBody>
          <a:bodyPr wrap="square" lIns="0" tIns="0" rIns="0" bIns="0" rtlCol="0" anchor="ctr"/>
          <a:lstStyle/>
          <a:p>
            <a:pPr indent="0" marL="0">
              <a:buNone/>
            </a:pPr>
            <a:r>
              <a:rPr lang="en-US" sz="1400" b="1" dirty="0">
                <a:solidFill>
                  <a:schemeClr val="tx2"/>
                </a:solidFill>
              </a:rPr>
              <a:t>Operator e-mail</a:t>
            </a:r>
            <a:endParaRPr lang="en-US" sz="1400" dirty="0"/>
          </a:p>
        </p:txBody>
      </p:sp>
      <p:sp>
        <p:nvSpPr>
          <p:cNvPr id="28" name="Text 21"/>
          <p:cNvSpPr txBox="1"/>
          <p:nvPr/>
        </p:nvSpPr>
        <p:spPr>
          <a:xfrm>
            <a:off x="6492240" y="4526280"/>
            <a:ext cx="2148840" cy="731520"/>
          </a:xfrm>
          <a:prstGeom prst="rect">
            <a:avLst/>
          </a:prstGeom>
          <a:noFill/>
          <a:ln/>
        </p:spPr>
        <p:txBody>
          <a:bodyPr wrap="square" lIns="0" tIns="0" rIns="0" bIns="0" rtlCol="0" anchor="t"/>
          <a:lstStyle/>
          <a:p>
            <a:pPr indent="0" marL="0">
              <a:buNone/>
            </a:pPr>
            <a:r>
              <a:rPr lang="en-US" sz="1200" dirty="0">
                <a:solidFill>
                  <a:schemeClr val="tx1"/>
                </a:solidFill>
              </a:rPr>
              <a:t>Setpoints + historical range via plant Logic App; log to Delta</a:t>
            </a:r>
            <a:endParaRPr lang="en-US" sz="1200" dirty="0"/>
          </a:p>
        </p:txBody>
      </p:sp>
      <p:sp>
        <p:nvSpPr>
          <p:cNvPr id="29" name="card"/>
          <p:cNvSpPr/>
          <p:nvPr/>
        </p:nvSpPr>
        <p:spPr>
          <a:xfrm>
            <a:off x="9189720" y="2697480"/>
            <a:ext cx="2450592" cy="1554480"/>
          </a:xfrm>
          <a:prstGeom prst="roundRect">
            <a:avLst>
              <a:gd name="adj" fmla="val 4706"/>
            </a:avLst>
          </a:prstGeom>
          <a:solidFill>
            <a:schemeClr val="bg2"/>
          </a:solidFill>
          <a:ln/>
        </p:spPr>
      </p:sp>
      <p:sp>
        <p:nvSpPr>
          <p:cNvPr id="30" name="icon circle"/>
          <p:cNvSpPr/>
          <p:nvPr/>
        </p:nvSpPr>
        <p:spPr>
          <a:xfrm>
            <a:off x="9372600" y="2880360"/>
            <a:ext cx="502920" cy="502920"/>
          </a:xfrm>
          <a:prstGeom prst="ellipse">
            <a:avLst/>
          </a:prstGeom>
          <a:solidFill>
            <a:schemeClr val="tx2"/>
          </a:solidFill>
          <a:ln/>
        </p:spPr>
      </p:sp>
      <p:pic>
        <p:nvPicPr>
          <p:cNvPr id="31" name="Image 5" descr="FaUserCog">    </p:cNvPr>
          <p:cNvPicPr>
            <a:picLocks noChangeAspect="1"/>
          </p:cNvPicPr>
          <p:nvPr/>
        </p:nvPicPr>
        <p:blipFill>
          <a:blip r:embed="rId6"/>
          <a:stretch>
            <a:fillRect/>
          </a:stretch>
        </p:blipFill>
        <p:spPr>
          <a:xfrm>
            <a:off x="9503359" y="3011119"/>
            <a:ext cx="241402" cy="241402"/>
          </a:xfrm>
          <a:prstGeom prst="rect">
            <a:avLst/>
          </a:prstGeom>
        </p:spPr>
      </p:pic>
      <p:sp>
        <p:nvSpPr>
          <p:cNvPr id="32" name="Text 24"/>
          <p:cNvSpPr txBox="1"/>
          <p:nvPr/>
        </p:nvSpPr>
        <p:spPr>
          <a:xfrm>
            <a:off x="9966960" y="2880360"/>
            <a:ext cx="1600200" cy="502920"/>
          </a:xfrm>
          <a:prstGeom prst="rect">
            <a:avLst/>
          </a:prstGeom>
          <a:noFill/>
          <a:ln/>
        </p:spPr>
        <p:txBody>
          <a:bodyPr wrap="square" lIns="0" tIns="0" rIns="0" bIns="0" rtlCol="0" anchor="ctr"/>
          <a:lstStyle/>
          <a:p>
            <a:pPr indent="0" marL="0">
              <a:buNone/>
            </a:pPr>
            <a:r>
              <a:rPr lang="en-US" sz="1400" b="1" dirty="0">
                <a:solidFill>
                  <a:schemeClr val="tx2"/>
                </a:solidFill>
              </a:rPr>
              <a:t>Operator</a:t>
            </a:r>
            <a:endParaRPr lang="en-US" sz="1400" dirty="0"/>
          </a:p>
        </p:txBody>
      </p:sp>
      <p:sp>
        <p:nvSpPr>
          <p:cNvPr id="33" name="Text 25"/>
          <p:cNvSpPr txBox="1"/>
          <p:nvPr/>
        </p:nvSpPr>
        <p:spPr>
          <a:xfrm>
            <a:off x="9372600" y="3474720"/>
            <a:ext cx="2148840" cy="731520"/>
          </a:xfrm>
          <a:prstGeom prst="rect">
            <a:avLst/>
          </a:prstGeom>
          <a:noFill/>
          <a:ln/>
        </p:spPr>
        <p:txBody>
          <a:bodyPr wrap="square" lIns="0" tIns="0" rIns="0" bIns="0" rtlCol="0" anchor="t"/>
          <a:lstStyle/>
          <a:p>
            <a:pPr indent="0" marL="0">
              <a:buNone/>
            </a:pPr>
            <a:r>
              <a:rPr lang="en-US" sz="1200" dirty="0">
                <a:solidFill>
                  <a:schemeClr val="tx1"/>
                </a:solidFill>
              </a:rPr>
              <a:t>Sets NG and air in minute 15–20; boost each hour</a:t>
            </a:r>
            <a:endParaRPr lang="en-US" sz="1200" dirty="0"/>
          </a:p>
        </p:txBody>
      </p:sp>
      <p:sp>
        <p:nvSpPr>
          <p:cNvPr id="34" name="flow arrow"/>
          <p:cNvSpPr/>
          <p:nvPr/>
        </p:nvSpPr>
        <p:spPr>
          <a:xfrm flipV="1">
            <a:off x="2999232" y="2423160"/>
            <a:ext cx="429768" cy="777240"/>
          </a:xfrm>
          <a:prstGeom prst="line">
            <a:avLst/>
          </a:prstGeom>
          <a:noFill/>
          <a:ln w="22225">
            <a:solidFill>
              <a:srgbClr val="8A96A8"/>
            </a:solidFill>
            <a:prstDash val="solid"/>
            <a:tailEnd type="triangle"/>
          </a:ln>
        </p:spPr>
      </p:sp>
      <p:sp>
        <p:nvSpPr>
          <p:cNvPr id="35" name="flow arrow"/>
          <p:cNvSpPr/>
          <p:nvPr/>
        </p:nvSpPr>
        <p:spPr>
          <a:xfrm>
            <a:off x="2999232" y="3749040"/>
            <a:ext cx="429768" cy="777240"/>
          </a:xfrm>
          <a:prstGeom prst="line">
            <a:avLst/>
          </a:prstGeom>
          <a:noFill/>
          <a:ln w="22225">
            <a:solidFill>
              <a:srgbClr val="8A96A8"/>
            </a:solidFill>
            <a:prstDash val="solid"/>
            <a:tailEnd type="triangle"/>
          </a:ln>
        </p:spPr>
      </p:sp>
      <p:sp>
        <p:nvSpPr>
          <p:cNvPr id="36" name="flow arrow"/>
          <p:cNvSpPr/>
          <p:nvPr/>
        </p:nvSpPr>
        <p:spPr>
          <a:xfrm>
            <a:off x="5879592" y="2423160"/>
            <a:ext cx="429768" cy="914"/>
          </a:xfrm>
          <a:prstGeom prst="line">
            <a:avLst/>
          </a:prstGeom>
          <a:noFill/>
          <a:ln w="22225">
            <a:solidFill>
              <a:srgbClr val="8A96A8"/>
            </a:solidFill>
            <a:prstDash val="solid"/>
            <a:tailEnd type="triangle"/>
          </a:ln>
        </p:spPr>
      </p:sp>
      <p:sp>
        <p:nvSpPr>
          <p:cNvPr id="37" name="model to inference"/>
          <p:cNvSpPr/>
          <p:nvPr/>
        </p:nvSpPr>
        <p:spPr>
          <a:xfrm>
            <a:off x="4654296" y="3200400"/>
            <a:ext cx="914" cy="548640"/>
          </a:xfrm>
          <a:prstGeom prst="line">
            <a:avLst/>
          </a:prstGeom>
          <a:noFill/>
          <a:ln w="22225">
            <a:solidFill>
              <a:srgbClr val="8A96A8"/>
            </a:solidFill>
            <a:prstDash val="solid"/>
            <a:tailEnd type="triangle"/>
          </a:ln>
        </p:spPr>
      </p:sp>
      <p:sp>
        <p:nvSpPr>
          <p:cNvPr id="38" name="gate to e-mail"/>
          <p:cNvSpPr/>
          <p:nvPr/>
        </p:nvSpPr>
        <p:spPr>
          <a:xfrm>
            <a:off x="7534656" y="3200400"/>
            <a:ext cx="914" cy="548640"/>
          </a:xfrm>
          <a:prstGeom prst="line">
            <a:avLst/>
          </a:prstGeom>
          <a:noFill/>
          <a:ln w="22225">
            <a:solidFill>
              <a:srgbClr val="8A96A8"/>
            </a:solidFill>
            <a:prstDash val="solid"/>
            <a:tailEnd type="triangle"/>
          </a:ln>
        </p:spPr>
      </p:sp>
      <p:sp>
        <p:nvSpPr>
          <p:cNvPr id="39" name="flow arrow"/>
          <p:cNvSpPr/>
          <p:nvPr/>
        </p:nvSpPr>
        <p:spPr>
          <a:xfrm flipV="1">
            <a:off x="8759952" y="3749040"/>
            <a:ext cx="429768" cy="777240"/>
          </a:xfrm>
          <a:prstGeom prst="line">
            <a:avLst/>
          </a:prstGeom>
          <a:noFill/>
          <a:ln w="22225">
            <a:solidFill>
              <a:srgbClr val="8A96A8"/>
            </a:solidFill>
            <a:prstDash val="solid"/>
            <a:tailEnd type="triangle"/>
          </a:ln>
        </p:spPr>
      </p:sp>
      <p:sp>
        <p:nvSpPr>
          <p:cNvPr id="40" name="Text 32"/>
          <p:cNvSpPr txBox="1"/>
          <p:nvPr/>
        </p:nvSpPr>
        <p:spPr>
          <a:xfrm>
            <a:off x="548640" y="5577840"/>
            <a:ext cx="11094415" cy="457200"/>
          </a:xfrm>
          <a:prstGeom prst="rect">
            <a:avLst/>
          </a:prstGeom>
          <a:noFill/>
          <a:ln/>
        </p:spPr>
        <p:txBody>
          <a:bodyPr wrap="square" lIns="0" tIns="0" rIns="0" bIns="0" rtlCol="0" anchor="t"/>
          <a:lstStyle/>
          <a:p>
            <a:pPr indent="0" marL="0">
              <a:buNone/>
            </a:pPr>
            <a:r>
              <a:rPr lang="en-US" sz="1200" i="1" dirty="0">
                <a:solidFill>
                  <a:schemeClr val="accent4"/>
                </a:solidFill>
              </a:rPr>
              <a:t>Model file sfc_recommender_latest.json (numbers only, versioned) · Notebooks 01_training_sfc_model and 02_inference_recommendation_email · pandas/numpy only, no project code needed</a:t>
            </a:r>
            <a:endParaRPr lang="en-US" sz="12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2743200" cy="822960"/>
          </a:xfrm>
          <a:prstGeom prst="rect">
            <a:avLst/>
          </a:prstGeom>
          <a:noFill/>
          <a:ln/>
        </p:spPr>
        <p:txBody>
          <a:bodyPr wrap="square" rtlCol="0"/>
          <a:lstStyle/>
          <a:p>
            <a:pPr indent="0" marL="0">
              <a:buNone/>
            </a:pPr>
            <a:r>
              <a:rPr lang="en-US" sz="2800" b="1" dirty="0">
                <a:solidFill>
                  <a:schemeClr val="accent2"/>
                </a:solidFill>
              </a:rPr>
              <a:t>04</a:t>
            </a:r>
            <a:endParaRPr lang="en-US" sz="2800" dirty="0"/>
          </a:p>
        </p:txBody>
      </p:sp>
      <p:sp>
        <p:nvSpPr>
          <p:cNvPr id="3" name="Text 0"/>
          <p:cNvSpPr/>
          <p:nvPr>
            <p:ph idx="101" type="title" hasCustomPrompt="1"/>
          </p:nvPr>
        </p:nvSpPr>
        <p:spPr>
          <a:xfrm>
            <a:off x="822960" y="2651760"/>
            <a:ext cx="10241280" cy="1097280"/>
          </a:xfrm>
          <a:prstGeom prst="rect">
            <a:avLst/>
          </a:prstGeom>
          <a:noFill/>
          <a:ln/>
        </p:spPr>
        <p:txBody>
          <a:bodyPr wrap="square" rtlCol="0" anchor="t"/>
          <a:lstStyle/>
          <a:p>
            <a:pPr algn="l" indent="0" marL="0">
              <a:buNone/>
            </a:pPr>
            <a:r>
              <a:rPr lang="en-US" sz="4000" b="1" dirty="0">
                <a:solidFill>
                  <a:schemeClr val="bg1"/>
                </a:solidFill>
                <a:latin typeface="Arial" pitchFamily="34" charset="0"/>
                <a:ea typeface="Arial" pitchFamily="34" charset="-122"/>
                <a:cs typeface="Arial" pitchFamily="34" charset="-120"/>
              </a:rPr>
              <a:t>What the operator gets</a:t>
            </a:r>
            <a:endParaRPr lang="en-US" sz="4000" dirty="0"/>
          </a:p>
        </p:txBody>
      </p:sp>
      <p:sp>
        <p:nvSpPr>
          <p:cNvPr id="4" name="Text 0"/>
          <p:cNvSpPr/>
          <p:nvPr>
            <p:ph idx="102" type="body" hasCustomPrompt="1"/>
          </p:nvPr>
        </p:nvSpPr>
        <p:spPr>
          <a:xfrm>
            <a:off x="822960" y="3840480"/>
            <a:ext cx="10241280" cy="822960"/>
          </a:xfrm>
          <a:prstGeom prst="rect">
            <a:avLst/>
          </a:prstGeom>
          <a:noFill/>
          <a:ln/>
        </p:spPr>
        <p:txBody>
          <a:bodyPr wrap="square" rtlCol="0" anchor="t"/>
          <a:lstStyle/>
          <a:p>
            <a:pPr indent="0" marL="0">
              <a:buNone/>
            </a:pPr>
            <a:r>
              <a:rPr lang="en-US" sz="1800" dirty="0">
                <a:solidFill>
                  <a:srgbClr val="C9D3E0"/>
                </a:solidFill>
              </a:rPr>
              <a:t>Four setpoints, each shown with its historical range</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Operator setpoints</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Every value is in the same unit as the DCS / workbook column: the operator types it directly</a:t>
            </a:r>
            <a:endParaRPr lang="en-US" sz="1600" dirty="0"/>
          </a:p>
        </p:txBody>
      </p:sp>
      <p:sp>
        <p:nvSpPr>
          <p:cNvPr id="4" name="card"/>
          <p:cNvSpPr/>
          <p:nvPr/>
        </p:nvSpPr>
        <p:spPr>
          <a:xfrm>
            <a:off x="548640" y="1645920"/>
            <a:ext cx="2615184" cy="2651760"/>
          </a:xfrm>
          <a:prstGeom prst="roundRect">
            <a:avLst>
              <a:gd name="adj" fmla="val 2797"/>
            </a:avLst>
          </a:prstGeom>
          <a:solidFill>
            <a:schemeClr val="bg2"/>
          </a:solidFill>
          <a:ln/>
        </p:spPr>
      </p:sp>
      <p:sp>
        <p:nvSpPr>
          <p:cNvPr id="5" name="icon circle"/>
          <p:cNvSpPr/>
          <p:nvPr/>
        </p:nvSpPr>
        <p:spPr>
          <a:xfrm>
            <a:off x="777240" y="1828800"/>
            <a:ext cx="594360" cy="594360"/>
          </a:xfrm>
          <a:prstGeom prst="ellipse">
            <a:avLst/>
          </a:prstGeom>
          <a:solidFill>
            <a:schemeClr val="accent2"/>
          </a:solidFill>
          <a:ln/>
        </p:spPr>
      </p:sp>
      <p:pic>
        <p:nvPicPr>
          <p:cNvPr id="6" name="Image 0" descr="FaFire">    </p:cNvPr>
          <p:cNvPicPr>
            <a:picLocks noChangeAspect="1"/>
          </p:cNvPicPr>
          <p:nvPr/>
        </p:nvPicPr>
        <p:blipFill>
          <a:blip r:embed="rId1"/>
          <a:stretch>
            <a:fillRect/>
          </a:stretch>
        </p:blipFill>
        <p:spPr>
          <a:xfrm>
            <a:off x="931774" y="1983334"/>
            <a:ext cx="285293" cy="285293"/>
          </a:xfrm>
          <a:prstGeom prst="rect">
            <a:avLst/>
          </a:prstGeom>
        </p:spPr>
      </p:pic>
      <p:sp>
        <p:nvSpPr>
          <p:cNvPr id="7" name="Text 4"/>
          <p:cNvSpPr txBox="1"/>
          <p:nvPr/>
        </p:nvSpPr>
        <p:spPr>
          <a:xfrm>
            <a:off x="777240" y="2560320"/>
            <a:ext cx="2194560" cy="411480"/>
          </a:xfrm>
          <a:prstGeom prst="rect">
            <a:avLst/>
          </a:prstGeom>
          <a:noFill/>
          <a:ln/>
        </p:spPr>
        <p:txBody>
          <a:bodyPr wrap="square" lIns="0" tIns="0" rIns="0" bIns="0" rtlCol="0" anchor="t"/>
          <a:lstStyle/>
          <a:p>
            <a:pPr indent="0" marL="0">
              <a:buNone/>
            </a:pPr>
            <a:r>
              <a:rPr lang="en-US" sz="2000" b="1" dirty="0">
                <a:solidFill>
                  <a:schemeClr val="tx2"/>
                </a:solidFill>
              </a:rPr>
              <a:t>NG flow</a:t>
            </a:r>
            <a:endParaRPr lang="en-US" sz="2000" dirty="0"/>
          </a:p>
        </p:txBody>
      </p:sp>
      <p:sp>
        <p:nvSpPr>
          <p:cNvPr id="8" name="Text 5"/>
          <p:cNvSpPr txBox="1"/>
          <p:nvPr/>
        </p:nvSpPr>
        <p:spPr>
          <a:xfrm>
            <a:off x="777240" y="2971800"/>
            <a:ext cx="2194560" cy="274320"/>
          </a:xfrm>
          <a:prstGeom prst="rect">
            <a:avLst/>
          </a:prstGeom>
          <a:noFill/>
          <a:ln/>
        </p:spPr>
        <p:txBody>
          <a:bodyPr wrap="square" lIns="0" tIns="0" rIns="0" bIns="0" rtlCol="0" anchor="t"/>
          <a:lstStyle/>
          <a:p>
            <a:pPr indent="0" marL="0">
              <a:buNone/>
            </a:pPr>
            <a:r>
              <a:rPr lang="en-US" sz="1300" dirty="0">
                <a:solidFill>
                  <a:schemeClr val="accent4"/>
                </a:solidFill>
              </a:rPr>
              <a:t>SCM/15 min</a:t>
            </a:r>
            <a:endParaRPr lang="en-US" sz="1300" dirty="0"/>
          </a:p>
        </p:txBody>
      </p:sp>
      <p:sp>
        <p:nvSpPr>
          <p:cNvPr id="9" name="Text 6"/>
          <p:cNvSpPr txBox="1"/>
          <p:nvPr/>
        </p:nvSpPr>
        <p:spPr>
          <a:xfrm>
            <a:off x="777240" y="3291840"/>
            <a:ext cx="2194560" cy="411480"/>
          </a:xfrm>
          <a:prstGeom prst="rect">
            <a:avLst/>
          </a:prstGeom>
          <a:noFill/>
          <a:ln/>
        </p:spPr>
        <p:txBody>
          <a:bodyPr wrap="square" lIns="0" tIns="0" rIns="0" bIns="0" rtlCol="0" anchor="t"/>
          <a:lstStyle/>
          <a:p>
            <a:pPr indent="0" marL="0">
              <a:buNone/>
            </a:pPr>
            <a:r>
              <a:rPr lang="en-US" sz="1300" dirty="0">
                <a:solidFill>
                  <a:schemeClr val="tx1"/>
                </a:solidFill>
              </a:rPr>
              <a:t>One value for both ports (common header)</a:t>
            </a:r>
            <a:endParaRPr lang="en-US" sz="1300" dirty="0"/>
          </a:p>
        </p:txBody>
      </p:sp>
      <p:sp>
        <p:nvSpPr>
          <p:cNvPr id="10" name="Text 7"/>
          <p:cNvSpPr txBox="1"/>
          <p:nvPr/>
        </p:nvSpPr>
        <p:spPr>
          <a:xfrm>
            <a:off x="777240" y="3749040"/>
            <a:ext cx="2194560" cy="457200"/>
          </a:xfrm>
          <a:prstGeom prst="rect">
            <a:avLst/>
          </a:prstGeom>
          <a:noFill/>
          <a:ln/>
        </p:spPr>
        <p:txBody>
          <a:bodyPr wrap="square" lIns="0" tIns="0" rIns="0" bIns="0" rtlCol="0" anchor="t"/>
          <a:lstStyle/>
          <a:p>
            <a:pPr indent="0" marL="0">
              <a:buNone/>
            </a:pPr>
            <a:r>
              <a:rPr lang="en-US" sz="1200" b="1" dirty="0">
                <a:solidFill>
                  <a:schemeClr val="accent2"/>
                </a:solidFill>
              </a:rPr>
              <a:t>Every 20-min reversal, set in minute 15–20</a:t>
            </a:r>
            <a:endParaRPr lang="en-US" sz="1200" dirty="0"/>
          </a:p>
        </p:txBody>
      </p:sp>
      <p:sp>
        <p:nvSpPr>
          <p:cNvPr id="11" name="card"/>
          <p:cNvSpPr/>
          <p:nvPr/>
        </p:nvSpPr>
        <p:spPr>
          <a:xfrm>
            <a:off x="3364992" y="1645920"/>
            <a:ext cx="2615184" cy="2651760"/>
          </a:xfrm>
          <a:prstGeom prst="roundRect">
            <a:avLst>
              <a:gd name="adj" fmla="val 2797"/>
            </a:avLst>
          </a:prstGeom>
          <a:solidFill>
            <a:schemeClr val="bg2"/>
          </a:solidFill>
          <a:ln/>
        </p:spPr>
      </p:sp>
      <p:sp>
        <p:nvSpPr>
          <p:cNvPr id="12" name="icon circle"/>
          <p:cNvSpPr/>
          <p:nvPr/>
        </p:nvSpPr>
        <p:spPr>
          <a:xfrm>
            <a:off x="3593592" y="1828800"/>
            <a:ext cx="594360" cy="594360"/>
          </a:xfrm>
          <a:prstGeom prst="ellipse">
            <a:avLst/>
          </a:prstGeom>
          <a:solidFill>
            <a:schemeClr val="accent1"/>
          </a:solidFill>
          <a:ln/>
        </p:spPr>
      </p:sp>
      <p:pic>
        <p:nvPicPr>
          <p:cNvPr id="13" name="Image 1" descr="FaWind">    </p:cNvPr>
          <p:cNvPicPr>
            <a:picLocks noChangeAspect="1"/>
          </p:cNvPicPr>
          <p:nvPr/>
        </p:nvPicPr>
        <p:blipFill>
          <a:blip r:embed="rId2"/>
          <a:stretch>
            <a:fillRect/>
          </a:stretch>
        </p:blipFill>
        <p:spPr>
          <a:xfrm>
            <a:off x="3748126" y="1983334"/>
            <a:ext cx="285293" cy="285293"/>
          </a:xfrm>
          <a:prstGeom prst="rect">
            <a:avLst/>
          </a:prstGeom>
        </p:spPr>
      </p:pic>
      <p:sp>
        <p:nvSpPr>
          <p:cNvPr id="14" name="Text 10"/>
          <p:cNvSpPr txBox="1"/>
          <p:nvPr/>
        </p:nvSpPr>
        <p:spPr>
          <a:xfrm>
            <a:off x="3593592" y="2560320"/>
            <a:ext cx="2194560" cy="411480"/>
          </a:xfrm>
          <a:prstGeom prst="rect">
            <a:avLst/>
          </a:prstGeom>
          <a:noFill/>
          <a:ln/>
        </p:spPr>
        <p:txBody>
          <a:bodyPr wrap="square" lIns="0" tIns="0" rIns="0" bIns="0" rtlCol="0" anchor="t"/>
          <a:lstStyle/>
          <a:p>
            <a:pPr indent="0" marL="0">
              <a:buNone/>
            </a:pPr>
            <a:r>
              <a:rPr lang="en-US" sz="2000" b="1" dirty="0">
                <a:solidFill>
                  <a:schemeClr val="tx2"/>
                </a:solidFill>
              </a:rPr>
              <a:t>Secondary air</a:t>
            </a:r>
            <a:endParaRPr lang="en-US" sz="2000" dirty="0"/>
          </a:p>
        </p:txBody>
      </p:sp>
      <p:sp>
        <p:nvSpPr>
          <p:cNvPr id="15" name="Text 11"/>
          <p:cNvSpPr txBox="1"/>
          <p:nvPr/>
        </p:nvSpPr>
        <p:spPr>
          <a:xfrm>
            <a:off x="3593592" y="2971800"/>
            <a:ext cx="2194560" cy="274320"/>
          </a:xfrm>
          <a:prstGeom prst="rect">
            <a:avLst/>
          </a:prstGeom>
          <a:noFill/>
          <a:ln/>
        </p:spPr>
        <p:txBody>
          <a:bodyPr wrap="square" lIns="0" tIns="0" rIns="0" bIns="0" rtlCol="0" anchor="t"/>
          <a:lstStyle/>
          <a:p>
            <a:pPr indent="0" marL="0">
              <a:buNone/>
            </a:pPr>
            <a:r>
              <a:rPr lang="en-US" sz="1300" dirty="0">
                <a:solidFill>
                  <a:schemeClr val="accent4"/>
                </a:solidFill>
              </a:rPr>
              <a:t>SCM/15 min</a:t>
            </a:r>
            <a:endParaRPr lang="en-US" sz="1300" dirty="0"/>
          </a:p>
        </p:txBody>
      </p:sp>
      <p:sp>
        <p:nvSpPr>
          <p:cNvPr id="16" name="Text 12"/>
          <p:cNvSpPr txBox="1"/>
          <p:nvPr/>
        </p:nvSpPr>
        <p:spPr>
          <a:xfrm>
            <a:off x="3593592" y="3291840"/>
            <a:ext cx="2194560" cy="411480"/>
          </a:xfrm>
          <a:prstGeom prst="rect">
            <a:avLst/>
          </a:prstGeom>
          <a:noFill/>
          <a:ln/>
        </p:spPr>
        <p:txBody>
          <a:bodyPr wrap="square" lIns="0" tIns="0" rIns="0" bIns="0" rtlCol="0" anchor="t"/>
          <a:lstStyle/>
          <a:p>
            <a:pPr indent="0" marL="0">
              <a:buNone/>
            </a:pPr>
            <a:r>
              <a:rPr lang="en-US" sz="1300" dirty="0">
                <a:solidFill>
                  <a:schemeClr val="tx1"/>
                </a:solidFill>
              </a:rPr>
              <a:t>Air per Mcal × heat</a:t>
            </a:r>
            <a:endParaRPr lang="en-US" sz="1300" dirty="0"/>
          </a:p>
        </p:txBody>
      </p:sp>
      <p:sp>
        <p:nvSpPr>
          <p:cNvPr id="17" name="Text 13"/>
          <p:cNvSpPr txBox="1"/>
          <p:nvPr/>
        </p:nvSpPr>
        <p:spPr>
          <a:xfrm>
            <a:off x="3593592" y="3749040"/>
            <a:ext cx="2194560" cy="457200"/>
          </a:xfrm>
          <a:prstGeom prst="rect">
            <a:avLst/>
          </a:prstGeom>
          <a:noFill/>
          <a:ln/>
        </p:spPr>
        <p:txBody>
          <a:bodyPr wrap="square" lIns="0" tIns="0" rIns="0" bIns="0" rtlCol="0" anchor="t"/>
          <a:lstStyle/>
          <a:p>
            <a:pPr indent="0" marL="0">
              <a:buNone/>
            </a:pPr>
            <a:r>
              <a:rPr lang="en-US" sz="1200" b="1" dirty="0">
                <a:solidFill>
                  <a:schemeClr val="accent1"/>
                </a:solidFill>
              </a:rPr>
              <a:t>Every 20-min reversal</a:t>
            </a:r>
            <a:endParaRPr lang="en-US" sz="1200" dirty="0"/>
          </a:p>
        </p:txBody>
      </p:sp>
      <p:sp>
        <p:nvSpPr>
          <p:cNvPr id="18" name="card"/>
          <p:cNvSpPr/>
          <p:nvPr/>
        </p:nvSpPr>
        <p:spPr>
          <a:xfrm>
            <a:off x="6181344" y="1645920"/>
            <a:ext cx="2615184" cy="2651760"/>
          </a:xfrm>
          <a:prstGeom prst="roundRect">
            <a:avLst>
              <a:gd name="adj" fmla="val 2797"/>
            </a:avLst>
          </a:prstGeom>
          <a:solidFill>
            <a:schemeClr val="bg2"/>
          </a:solidFill>
          <a:ln/>
        </p:spPr>
      </p:sp>
      <p:sp>
        <p:nvSpPr>
          <p:cNvPr id="19" name="icon circle"/>
          <p:cNvSpPr/>
          <p:nvPr/>
        </p:nvSpPr>
        <p:spPr>
          <a:xfrm>
            <a:off x="6409944" y="1828800"/>
            <a:ext cx="594360" cy="594360"/>
          </a:xfrm>
          <a:prstGeom prst="ellipse">
            <a:avLst/>
          </a:prstGeom>
          <a:solidFill>
            <a:schemeClr val="accent1"/>
          </a:solidFill>
          <a:ln/>
        </p:spPr>
      </p:sp>
      <p:pic>
        <p:nvPicPr>
          <p:cNvPr id="20" name="Image 2" descr="FaPercentage">    </p:cNvPr>
          <p:cNvPicPr>
            <a:picLocks noChangeAspect="1"/>
          </p:cNvPicPr>
          <p:nvPr/>
        </p:nvPicPr>
        <p:blipFill>
          <a:blip r:embed="rId3"/>
          <a:stretch>
            <a:fillRect/>
          </a:stretch>
        </p:blipFill>
        <p:spPr>
          <a:xfrm>
            <a:off x="6564478" y="1983334"/>
            <a:ext cx="285293" cy="285293"/>
          </a:xfrm>
          <a:prstGeom prst="rect">
            <a:avLst/>
          </a:prstGeom>
        </p:spPr>
      </p:pic>
      <p:sp>
        <p:nvSpPr>
          <p:cNvPr id="21" name="Text 16"/>
          <p:cNvSpPr txBox="1"/>
          <p:nvPr/>
        </p:nvSpPr>
        <p:spPr>
          <a:xfrm>
            <a:off x="6409944" y="2560320"/>
            <a:ext cx="2194560" cy="411480"/>
          </a:xfrm>
          <a:prstGeom prst="rect">
            <a:avLst/>
          </a:prstGeom>
          <a:noFill/>
          <a:ln/>
        </p:spPr>
        <p:txBody>
          <a:bodyPr wrap="square" lIns="0" tIns="0" rIns="0" bIns="0" rtlCol="0" anchor="t"/>
          <a:lstStyle/>
          <a:p>
            <a:pPr indent="0" marL="0">
              <a:buNone/>
            </a:pPr>
            <a:r>
              <a:rPr lang="en-US" sz="2000" b="1" dirty="0">
                <a:solidFill>
                  <a:schemeClr val="tx2"/>
                </a:solidFill>
              </a:rPr>
              <a:t>Air-fuel ratio</a:t>
            </a:r>
            <a:endParaRPr lang="en-US" sz="2000" dirty="0"/>
          </a:p>
        </p:txBody>
      </p:sp>
      <p:sp>
        <p:nvSpPr>
          <p:cNvPr id="22" name="Text 17"/>
          <p:cNvSpPr txBox="1"/>
          <p:nvPr/>
        </p:nvSpPr>
        <p:spPr>
          <a:xfrm>
            <a:off x="6409944" y="2971800"/>
            <a:ext cx="2194560" cy="274320"/>
          </a:xfrm>
          <a:prstGeom prst="rect">
            <a:avLst/>
          </a:prstGeom>
          <a:noFill/>
          <a:ln/>
        </p:spPr>
        <p:txBody>
          <a:bodyPr wrap="square" lIns="0" tIns="0" rIns="0" bIns="0" rtlCol="0" anchor="t"/>
          <a:lstStyle/>
          <a:p>
            <a:pPr indent="0" marL="0">
              <a:buNone/>
            </a:pPr>
            <a:r>
              <a:rPr lang="en-US" sz="1300" dirty="0">
                <a:solidFill>
                  <a:schemeClr val="accent4"/>
                </a:solidFill>
              </a:rPr>
              <a:t>air ÷ NG</a:t>
            </a:r>
            <a:endParaRPr lang="en-US" sz="1300" dirty="0"/>
          </a:p>
        </p:txBody>
      </p:sp>
      <p:sp>
        <p:nvSpPr>
          <p:cNvPr id="23" name="Text 18"/>
          <p:cNvSpPr txBox="1"/>
          <p:nvPr/>
        </p:nvSpPr>
        <p:spPr>
          <a:xfrm>
            <a:off x="6409944" y="3291840"/>
            <a:ext cx="2194560" cy="411480"/>
          </a:xfrm>
          <a:prstGeom prst="rect">
            <a:avLst/>
          </a:prstGeom>
          <a:noFill/>
          <a:ln/>
        </p:spPr>
        <p:txBody>
          <a:bodyPr wrap="square" lIns="0" tIns="0" rIns="0" bIns="0" rtlCol="0" anchor="t"/>
          <a:lstStyle/>
          <a:p>
            <a:pPr indent="0" marL="0">
              <a:buNone/>
            </a:pPr>
            <a:r>
              <a:rPr lang="en-US" sz="1300" dirty="0">
                <a:solidFill>
                  <a:schemeClr val="tx1"/>
                </a:solidFill>
              </a:rPr>
              <a:t>Follows NCV automatically</a:t>
            </a:r>
            <a:endParaRPr lang="en-US" sz="1300" dirty="0"/>
          </a:p>
        </p:txBody>
      </p:sp>
      <p:sp>
        <p:nvSpPr>
          <p:cNvPr id="24" name="Text 19"/>
          <p:cNvSpPr txBox="1"/>
          <p:nvPr/>
        </p:nvSpPr>
        <p:spPr>
          <a:xfrm>
            <a:off x="6409944" y="3749040"/>
            <a:ext cx="2194560" cy="457200"/>
          </a:xfrm>
          <a:prstGeom prst="rect">
            <a:avLst/>
          </a:prstGeom>
          <a:noFill/>
          <a:ln/>
        </p:spPr>
        <p:txBody>
          <a:bodyPr wrap="square" lIns="0" tIns="0" rIns="0" bIns="0" rtlCol="0" anchor="t"/>
          <a:lstStyle/>
          <a:p>
            <a:pPr indent="0" marL="0">
              <a:buNone/>
            </a:pPr>
            <a:r>
              <a:rPr lang="en-US" sz="1200" b="1" dirty="0">
                <a:solidFill>
                  <a:schemeClr val="accent1"/>
                </a:solidFill>
              </a:rPr>
              <a:t>Every 20-min reversal</a:t>
            </a:r>
            <a:endParaRPr lang="en-US" sz="1200" dirty="0"/>
          </a:p>
        </p:txBody>
      </p:sp>
      <p:sp>
        <p:nvSpPr>
          <p:cNvPr id="25" name="card"/>
          <p:cNvSpPr/>
          <p:nvPr/>
        </p:nvSpPr>
        <p:spPr>
          <a:xfrm>
            <a:off x="8997696" y="1645920"/>
            <a:ext cx="2615184" cy="2651760"/>
          </a:xfrm>
          <a:prstGeom prst="roundRect">
            <a:avLst>
              <a:gd name="adj" fmla="val 2797"/>
            </a:avLst>
          </a:prstGeom>
          <a:solidFill>
            <a:schemeClr val="bg2"/>
          </a:solidFill>
          <a:ln/>
        </p:spPr>
      </p:sp>
      <p:sp>
        <p:nvSpPr>
          <p:cNvPr id="26" name="icon circle"/>
          <p:cNvSpPr/>
          <p:nvPr/>
        </p:nvSpPr>
        <p:spPr>
          <a:xfrm>
            <a:off x="9226296" y="1828800"/>
            <a:ext cx="594360" cy="594360"/>
          </a:xfrm>
          <a:prstGeom prst="ellipse">
            <a:avLst/>
          </a:prstGeom>
          <a:solidFill>
            <a:schemeClr val="tx2"/>
          </a:solidFill>
          <a:ln/>
        </p:spPr>
      </p:sp>
      <p:pic>
        <p:nvPicPr>
          <p:cNvPr id="27" name="Image 3" descr="FaBolt">    </p:cNvPr>
          <p:cNvPicPr>
            <a:picLocks noChangeAspect="1"/>
          </p:cNvPicPr>
          <p:nvPr/>
        </p:nvPicPr>
        <p:blipFill>
          <a:blip r:embed="rId4"/>
          <a:stretch>
            <a:fillRect/>
          </a:stretch>
        </p:blipFill>
        <p:spPr>
          <a:xfrm>
            <a:off x="9380830" y="1983334"/>
            <a:ext cx="285293" cy="285293"/>
          </a:xfrm>
          <a:prstGeom prst="rect">
            <a:avLst/>
          </a:prstGeom>
        </p:spPr>
      </p:pic>
      <p:sp>
        <p:nvSpPr>
          <p:cNvPr id="28" name="Text 22"/>
          <p:cNvSpPr txBox="1"/>
          <p:nvPr/>
        </p:nvSpPr>
        <p:spPr>
          <a:xfrm>
            <a:off x="9226296" y="2560320"/>
            <a:ext cx="2194560" cy="411480"/>
          </a:xfrm>
          <a:prstGeom prst="rect">
            <a:avLst/>
          </a:prstGeom>
          <a:noFill/>
          <a:ln/>
        </p:spPr>
        <p:txBody>
          <a:bodyPr wrap="square" lIns="0" tIns="0" rIns="0" bIns="0" rtlCol="0" anchor="t"/>
          <a:lstStyle/>
          <a:p>
            <a:pPr indent="0" marL="0">
              <a:buNone/>
            </a:pPr>
            <a:r>
              <a:rPr lang="en-US" sz="2000" b="1" dirty="0">
                <a:solidFill>
                  <a:schemeClr val="tx2"/>
                </a:solidFill>
              </a:rPr>
              <a:t>Barrier boost</a:t>
            </a:r>
            <a:endParaRPr lang="en-US" sz="2000" dirty="0"/>
          </a:p>
        </p:txBody>
      </p:sp>
      <p:sp>
        <p:nvSpPr>
          <p:cNvPr id="29" name="Text 23"/>
          <p:cNvSpPr txBox="1"/>
          <p:nvPr/>
        </p:nvSpPr>
        <p:spPr>
          <a:xfrm>
            <a:off x="9226296" y="2971800"/>
            <a:ext cx="2194560" cy="274320"/>
          </a:xfrm>
          <a:prstGeom prst="rect">
            <a:avLst/>
          </a:prstGeom>
          <a:noFill/>
          <a:ln/>
        </p:spPr>
        <p:txBody>
          <a:bodyPr wrap="square" lIns="0" tIns="0" rIns="0" bIns="0" rtlCol="0" anchor="t"/>
          <a:lstStyle/>
          <a:p>
            <a:pPr indent="0" marL="0">
              <a:buNone/>
            </a:pPr>
            <a:r>
              <a:rPr lang="en-US" sz="1300" dirty="0">
                <a:solidFill>
                  <a:schemeClr val="accent4"/>
                </a:solidFill>
              </a:rPr>
              <a:t>kWh/h</a:t>
            </a:r>
            <a:endParaRPr lang="en-US" sz="1300" dirty="0"/>
          </a:p>
        </p:txBody>
      </p:sp>
      <p:sp>
        <p:nvSpPr>
          <p:cNvPr id="30" name="Text 24"/>
          <p:cNvSpPr txBox="1"/>
          <p:nvPr/>
        </p:nvSpPr>
        <p:spPr>
          <a:xfrm>
            <a:off x="9226296" y="3291840"/>
            <a:ext cx="2194560" cy="411480"/>
          </a:xfrm>
          <a:prstGeom prst="rect">
            <a:avLst/>
          </a:prstGeom>
          <a:noFill/>
          <a:ln/>
        </p:spPr>
        <p:txBody>
          <a:bodyPr wrap="square" lIns="0" tIns="0" rIns="0" bIns="0" rtlCol="0" anchor="t"/>
          <a:lstStyle/>
          <a:p>
            <a:pPr indent="0" marL="0">
              <a:buNone/>
            </a:pPr>
            <a:r>
              <a:rPr lang="en-US" sz="1300" dirty="0">
                <a:solidFill>
                  <a:schemeClr val="tx1"/>
                </a:solidFill>
              </a:rPr>
              <a:t>Holds MB3 at 1,320.25 °C</a:t>
            </a:r>
            <a:endParaRPr lang="en-US" sz="1300" dirty="0"/>
          </a:p>
        </p:txBody>
      </p:sp>
      <p:sp>
        <p:nvSpPr>
          <p:cNvPr id="31" name="Text 25"/>
          <p:cNvSpPr txBox="1"/>
          <p:nvPr/>
        </p:nvSpPr>
        <p:spPr>
          <a:xfrm>
            <a:off x="9226296" y="3749040"/>
            <a:ext cx="2194560" cy="457200"/>
          </a:xfrm>
          <a:prstGeom prst="rect">
            <a:avLst/>
          </a:prstGeom>
          <a:noFill/>
          <a:ln/>
        </p:spPr>
        <p:txBody>
          <a:bodyPr wrap="square" lIns="0" tIns="0" rIns="0" bIns="0" rtlCol="0" anchor="t"/>
          <a:lstStyle/>
          <a:p>
            <a:pPr indent="0" marL="0">
              <a:buNone/>
            </a:pPr>
            <a:r>
              <a:rPr lang="en-US" sz="1200" b="1" dirty="0">
                <a:solidFill>
                  <a:schemeClr val="tx2"/>
                </a:solidFill>
              </a:rPr>
              <a:t>Every hour</a:t>
            </a:r>
            <a:endParaRPr lang="en-US" sz="1200" dirty="0"/>
          </a:p>
        </p:txBody>
      </p:sp>
      <p:sp>
        <p:nvSpPr>
          <p:cNvPr id="32" name="card"/>
          <p:cNvSpPr/>
          <p:nvPr/>
        </p:nvSpPr>
        <p:spPr>
          <a:xfrm>
            <a:off x="548640" y="4526280"/>
            <a:ext cx="5486400" cy="1691640"/>
          </a:xfrm>
          <a:prstGeom prst="roundRect">
            <a:avLst>
              <a:gd name="adj" fmla="val 4324"/>
            </a:avLst>
          </a:prstGeom>
          <a:solidFill>
            <a:schemeClr val="bg2"/>
          </a:solidFill>
          <a:ln/>
        </p:spPr>
      </p:sp>
      <p:sp>
        <p:nvSpPr>
          <p:cNvPr id="33" name="Text 27"/>
          <p:cNvSpPr txBox="1"/>
          <p:nvPr/>
        </p:nvSpPr>
        <p:spPr>
          <a:xfrm>
            <a:off x="777240" y="4645152"/>
            <a:ext cx="5029200" cy="320040"/>
          </a:xfrm>
          <a:prstGeom prst="rect">
            <a:avLst/>
          </a:prstGeom>
          <a:noFill/>
          <a:ln/>
        </p:spPr>
        <p:txBody>
          <a:bodyPr wrap="square" lIns="0" tIns="0" rIns="0" bIns="0" rtlCol="0" anchor="t"/>
          <a:lstStyle/>
          <a:p>
            <a:pPr indent="0" marL="0">
              <a:buNone/>
            </a:pPr>
            <a:r>
              <a:rPr lang="en-US" sz="1500" b="1" dirty="0">
                <a:solidFill>
                  <a:schemeClr val="tx2"/>
                </a:solidFill>
              </a:rPr>
              <a:t>Automatic inputs</a:t>
            </a:r>
            <a:endParaRPr lang="en-US" sz="1500" dirty="0"/>
          </a:p>
        </p:txBody>
      </p:sp>
      <p:sp>
        <p:nvSpPr>
          <p:cNvPr id="34" name="Text 28"/>
          <p:cNvSpPr txBox="1"/>
          <p:nvPr/>
        </p:nvSpPr>
        <p:spPr>
          <a:xfrm>
            <a:off x="777240" y="4983480"/>
            <a:ext cx="5074920" cy="1188720"/>
          </a:xfrm>
          <a:prstGeom prst="rect">
            <a:avLst/>
          </a:prstGeom>
          <a:noFill/>
          <a:ln/>
        </p:spPr>
        <p:txBody>
          <a:bodyPr wrap="square" lIns="0" tIns="0" rIns="0" bIns="0" rtlCol="0" anchor="t"/>
          <a:lstStyle/>
          <a:p>
            <a:pPr marL="190500" indent="-190500">
              <a:spcAft>
                <a:spcPts val="600"/>
              </a:spcAft>
              <a:buSzPct val="100000"/>
              <a:buChar char="•"/>
            </a:pPr>
            <a:r>
              <a:rPr lang="en-US" sz="1300" dirty="0">
                <a:solidFill>
                  <a:schemeClr val="tx1"/>
                </a:solidFill>
              </a:rPr>
              <a:t>NCV every 15 min (UEMS); spikes filtered, last valid value kept</a:t>
            </a:r>
            <a:endParaRPr lang="en-US" sz="1300" dirty="0"/>
          </a:p>
          <a:p>
            <a:pPr marL="190500" indent="-190500">
              <a:spcAft>
                <a:spcPts val="600"/>
              </a:spcAft>
              <a:buSzPct val="100000"/>
              <a:buChar char="•"/>
            </a:pPr>
            <a:r>
              <a:rPr lang="en-US" sz="1300" dirty="0">
                <a:solidFill>
                  <a:schemeClr val="tx1"/>
                </a:solidFill>
              </a:rPr>
              <a:t>MB3 bottom temperature and last hour's boost (DCS / DB)</a:t>
            </a:r>
            <a:endParaRPr lang="en-US" sz="1300" dirty="0"/>
          </a:p>
        </p:txBody>
      </p:sp>
      <p:sp>
        <p:nvSpPr>
          <p:cNvPr id="35" name="card"/>
          <p:cNvSpPr/>
          <p:nvPr/>
        </p:nvSpPr>
        <p:spPr>
          <a:xfrm>
            <a:off x="6153912" y="4526280"/>
            <a:ext cx="5486400" cy="1691640"/>
          </a:xfrm>
          <a:prstGeom prst="roundRect">
            <a:avLst>
              <a:gd name="adj" fmla="val 4324"/>
            </a:avLst>
          </a:prstGeom>
          <a:solidFill>
            <a:schemeClr val="bg2"/>
          </a:solidFill>
          <a:ln/>
        </p:spPr>
      </p:sp>
      <p:sp>
        <p:nvSpPr>
          <p:cNvPr id="36" name="Text 30"/>
          <p:cNvSpPr txBox="1"/>
          <p:nvPr/>
        </p:nvSpPr>
        <p:spPr>
          <a:xfrm>
            <a:off x="6382512" y="4645152"/>
            <a:ext cx="5029200" cy="320040"/>
          </a:xfrm>
          <a:prstGeom prst="rect">
            <a:avLst/>
          </a:prstGeom>
          <a:noFill/>
          <a:ln/>
        </p:spPr>
        <p:txBody>
          <a:bodyPr wrap="square" lIns="0" tIns="0" rIns="0" bIns="0" rtlCol="0" anchor="t"/>
          <a:lstStyle/>
          <a:p>
            <a:pPr indent="0" marL="0">
              <a:buNone/>
            </a:pPr>
            <a:r>
              <a:rPr lang="en-US" sz="1500" b="1" dirty="0">
                <a:solidFill>
                  <a:schemeClr val="tx2"/>
                </a:solidFill>
              </a:rPr>
              <a:t>Operator inputs (once a day / hourly)</a:t>
            </a:r>
            <a:endParaRPr lang="en-US" sz="1500" dirty="0"/>
          </a:p>
        </p:txBody>
      </p:sp>
      <p:sp>
        <p:nvSpPr>
          <p:cNvPr id="37" name="Text 31"/>
          <p:cNvSpPr txBox="1"/>
          <p:nvPr/>
        </p:nvSpPr>
        <p:spPr>
          <a:xfrm>
            <a:off x="6382512" y="4983480"/>
            <a:ext cx="5074920" cy="1188720"/>
          </a:xfrm>
          <a:prstGeom prst="rect">
            <a:avLst/>
          </a:prstGeom>
          <a:noFill/>
          <a:ln/>
        </p:spPr>
        <p:txBody>
          <a:bodyPr wrap="square" lIns="0" tIns="0" rIns="0" bIns="0" rtlCol="0" anchor="t"/>
          <a:lstStyle/>
          <a:p>
            <a:pPr marL="190500" indent="-190500">
              <a:spcAft>
                <a:spcPts val="600"/>
              </a:spcAft>
              <a:buSzPct val="100000"/>
              <a:buChar char="•"/>
            </a:pPr>
            <a:r>
              <a:rPr lang="en-US" sz="1300" dirty="0">
                <a:solidFill>
                  <a:schemeClr val="tx1"/>
                </a:solidFill>
              </a:rPr>
              <a:t>Draw and cullet % for the day</a:t>
            </a:r>
            <a:endParaRPr lang="en-US" sz="1300" dirty="0"/>
          </a:p>
          <a:p>
            <a:pPr marL="190500" indent="-190500">
              <a:spcAft>
                <a:spcPts val="600"/>
              </a:spcAft>
              <a:buSzPct val="100000"/>
              <a:buChar char="•"/>
            </a:pPr>
            <a:r>
              <a:rPr lang="en-US" sz="1300" dirty="0">
                <a:solidFill>
                  <a:schemeClr val="tx1"/>
                </a:solidFill>
              </a:rPr>
              <a:t>Optical crown temperature: checked against 1,568–1,578 °C as a guard-rail</a:t>
            </a:r>
            <a:endParaRPr lang="en-US" sz="13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Historical range + recommendation</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Example: 19 Aug 2026, 10:00. The furnace was over-fired; the recommendation brings every setpoint back inside history</a:t>
            </a:r>
            <a:endParaRPr lang="en-US" sz="1600" dirty="0"/>
          </a:p>
        </p:txBody>
      </p:sp>
      <p:sp>
        <p:nvSpPr>
          <p:cNvPr id="4" name="Text 2"/>
          <p:cNvSpPr txBox="1"/>
          <p:nvPr/>
        </p:nvSpPr>
        <p:spPr>
          <a:xfrm>
            <a:off x="548640" y="1481328"/>
            <a:ext cx="11094415" cy="320040"/>
          </a:xfrm>
          <a:prstGeom prst="rect">
            <a:avLst/>
          </a:prstGeom>
          <a:noFill/>
          <a:ln/>
        </p:spPr>
        <p:txBody>
          <a:bodyPr wrap="square" lIns="0" tIns="0" rIns="0" bIns="0" rtlCol="0" anchor="t"/>
          <a:lstStyle/>
          <a:p>
            <a:pPr indent="0" marL="0">
              <a:buNone/>
            </a:pPr>
            <a:r>
              <a:rPr lang="en-US" sz="1300" dirty="0">
                <a:solidFill>
                  <a:schemeClr val="tx1"/>
                </a:solidFill>
              </a:rPr>
              <a:t>Inputs: NCV 9,117 kcal/SCM · draw 61.9 t · cullet 19% · MB3 1,323.7 °C · barrier boost last hour 563 kWh/h · optical 1,574.5 °C (in band)</a:t>
            </a:r>
            <a:endParaRPr lang="en-US" sz="1300" dirty="0"/>
          </a:p>
        </p:txBody>
      </p:sp>
      <p:sp>
        <p:nvSpPr>
          <p:cNvPr id="5" name="Text 3"/>
          <p:cNvSpPr txBox="1"/>
          <p:nvPr/>
        </p:nvSpPr>
        <p:spPr>
          <a:xfrm>
            <a:off x="548640" y="1920240"/>
            <a:ext cx="2377440" cy="274320"/>
          </a:xfrm>
          <a:prstGeom prst="rect">
            <a:avLst/>
          </a:prstGeom>
          <a:noFill/>
          <a:ln/>
        </p:spPr>
        <p:txBody>
          <a:bodyPr wrap="square" lIns="0" tIns="0" rIns="0" bIns="0" rtlCol="0" anchor="t"/>
          <a:lstStyle/>
          <a:p>
            <a:pPr indent="0" marL="0">
              <a:buNone/>
            </a:pPr>
            <a:r>
              <a:rPr lang="en-US" sz="1200" b="1" dirty="0">
                <a:solidFill>
                  <a:schemeClr val="accent4"/>
                </a:solidFill>
              </a:rPr>
              <a:t>Setpoint</a:t>
            </a:r>
            <a:endParaRPr lang="en-US" sz="1200" dirty="0"/>
          </a:p>
        </p:txBody>
      </p:sp>
      <p:sp>
        <p:nvSpPr>
          <p:cNvPr id="6" name="Text 4"/>
          <p:cNvSpPr txBox="1"/>
          <p:nvPr/>
        </p:nvSpPr>
        <p:spPr>
          <a:xfrm>
            <a:off x="3017520" y="1920240"/>
            <a:ext cx="5120640" cy="274320"/>
          </a:xfrm>
          <a:prstGeom prst="rect">
            <a:avLst/>
          </a:prstGeom>
          <a:noFill/>
          <a:ln/>
        </p:spPr>
        <p:txBody>
          <a:bodyPr wrap="square" lIns="0" tIns="0" rIns="0" bIns="0" rtlCol="0" anchor="t"/>
          <a:lstStyle/>
          <a:p>
            <a:pPr indent="0" marL="0">
              <a:buNone/>
            </a:pPr>
            <a:r>
              <a:rPr lang="en-US" sz="1200" b="1" dirty="0">
                <a:solidFill>
                  <a:schemeClr val="accent4"/>
                </a:solidFill>
              </a:rPr>
              <a:t>Historical P1 – P99 range (grey), median (|), actual (●), recommended (◆)</a:t>
            </a:r>
            <a:endParaRPr lang="en-US" sz="1200" dirty="0"/>
          </a:p>
        </p:txBody>
      </p:sp>
      <p:sp>
        <p:nvSpPr>
          <p:cNvPr id="7" name="Text 5"/>
          <p:cNvSpPr txBox="1"/>
          <p:nvPr/>
        </p:nvSpPr>
        <p:spPr>
          <a:xfrm>
            <a:off x="8412480" y="1920240"/>
            <a:ext cx="1737360" cy="274320"/>
          </a:xfrm>
          <a:prstGeom prst="rect">
            <a:avLst/>
          </a:prstGeom>
          <a:noFill/>
          <a:ln/>
        </p:spPr>
        <p:txBody>
          <a:bodyPr wrap="square" lIns="0" tIns="0" rIns="0" bIns="0" rtlCol="0" anchor="t"/>
          <a:lstStyle/>
          <a:p>
            <a:pPr algn="r" indent="0" marL="0">
              <a:buNone/>
            </a:pPr>
            <a:r>
              <a:rPr lang="en-US" sz="1200" b="1" dirty="0">
                <a:solidFill>
                  <a:schemeClr val="accent4"/>
                </a:solidFill>
              </a:rPr>
              <a:t>Actual</a:t>
            </a:r>
            <a:endParaRPr lang="en-US" sz="1200" dirty="0"/>
          </a:p>
        </p:txBody>
      </p:sp>
      <p:sp>
        <p:nvSpPr>
          <p:cNvPr id="8" name="Text 6"/>
          <p:cNvSpPr txBox="1"/>
          <p:nvPr/>
        </p:nvSpPr>
        <p:spPr>
          <a:xfrm>
            <a:off x="10241280" y="1920240"/>
            <a:ext cx="1399032" cy="274320"/>
          </a:xfrm>
          <a:prstGeom prst="rect">
            <a:avLst/>
          </a:prstGeom>
          <a:noFill/>
          <a:ln/>
        </p:spPr>
        <p:txBody>
          <a:bodyPr wrap="square" lIns="0" tIns="0" rIns="0" bIns="0" rtlCol="0" anchor="t"/>
          <a:lstStyle/>
          <a:p>
            <a:pPr algn="r" indent="0" marL="0">
              <a:buNone/>
            </a:pPr>
            <a:r>
              <a:rPr lang="en-US" sz="1200" b="1" dirty="0">
                <a:solidFill>
                  <a:schemeClr val="accent4"/>
                </a:solidFill>
              </a:rPr>
              <a:t>Recommended</a:t>
            </a:r>
            <a:endParaRPr lang="en-US" sz="1200" dirty="0"/>
          </a:p>
        </p:txBody>
      </p:sp>
      <p:sp>
        <p:nvSpPr>
          <p:cNvPr id="9" name="card"/>
          <p:cNvSpPr/>
          <p:nvPr/>
        </p:nvSpPr>
        <p:spPr>
          <a:xfrm>
            <a:off x="548640" y="2258568"/>
            <a:ext cx="11094415" cy="749808"/>
          </a:xfrm>
          <a:prstGeom prst="roundRect">
            <a:avLst>
              <a:gd name="adj" fmla="val 9756"/>
            </a:avLst>
          </a:prstGeom>
          <a:solidFill>
            <a:schemeClr val="bg2"/>
          </a:solidFill>
          <a:ln/>
        </p:spPr>
      </p:sp>
      <p:sp>
        <p:nvSpPr>
          <p:cNvPr id="10" name="Text 8"/>
          <p:cNvSpPr txBox="1"/>
          <p:nvPr/>
        </p:nvSpPr>
        <p:spPr>
          <a:xfrm>
            <a:off x="685800" y="2331720"/>
            <a:ext cx="2286000" cy="603504"/>
          </a:xfrm>
          <a:prstGeom prst="rect">
            <a:avLst/>
          </a:prstGeom>
          <a:noFill/>
          <a:ln/>
        </p:spPr>
        <p:txBody>
          <a:bodyPr wrap="square" lIns="0" tIns="0" rIns="0" bIns="0" rtlCol="0" anchor="ctr"/>
          <a:lstStyle/>
          <a:p>
            <a:pPr indent="0" marL="0">
              <a:buNone/>
            </a:pPr>
            <a:r>
              <a:rPr lang="en-US" sz="1500" b="1" dirty="0">
                <a:solidFill>
                  <a:schemeClr val="tx2"/>
                </a:solidFill>
              </a:rPr>
              <a:t>NG flow</a:t>
            </a:r>
            <a:endParaRPr lang="en-US" sz="1500" dirty="0"/>
          </a:p>
          <a:p>
            <a:pPr indent="0" marL="0">
              <a:buNone/>
            </a:pPr>
            <a:r>
              <a:rPr lang="en-US" sz="1200" dirty="0">
                <a:solidFill>
                  <a:schemeClr val="accent4"/>
                </a:solidFill>
              </a:rPr>
              <a:t>SCM/15 min</a:t>
            </a:r>
            <a:endParaRPr lang="en-US" sz="1500" dirty="0"/>
          </a:p>
        </p:txBody>
      </p:sp>
      <p:sp>
        <p:nvSpPr>
          <p:cNvPr id="11" name="range bar"/>
          <p:cNvSpPr/>
          <p:nvPr/>
        </p:nvSpPr>
        <p:spPr>
          <a:xfrm>
            <a:off x="3370668" y="2551176"/>
            <a:ext cx="3136361" cy="164592"/>
          </a:xfrm>
          <a:prstGeom prst="roundRect">
            <a:avLst>
              <a:gd name="adj" fmla="val 50000"/>
            </a:avLst>
          </a:prstGeom>
          <a:solidFill>
            <a:srgbClr val="D5DBE3"/>
          </a:solidFill>
          <a:ln/>
        </p:spPr>
      </p:sp>
      <p:sp>
        <p:nvSpPr>
          <p:cNvPr id="12" name="median tick"/>
          <p:cNvSpPr/>
          <p:nvPr/>
        </p:nvSpPr>
        <p:spPr>
          <a:xfrm>
            <a:off x="4570710" y="2468880"/>
            <a:ext cx="22860" cy="329184"/>
          </a:xfrm>
          <a:prstGeom prst="rect">
            <a:avLst/>
          </a:prstGeom>
          <a:solidFill>
            <a:schemeClr val="accent4"/>
          </a:solidFill>
          <a:ln/>
        </p:spPr>
      </p:sp>
      <p:sp>
        <p:nvSpPr>
          <p:cNvPr id="13" name="Text 11"/>
          <p:cNvSpPr txBox="1"/>
          <p:nvPr/>
        </p:nvSpPr>
        <p:spPr>
          <a:xfrm>
            <a:off x="2822028" y="2743200"/>
            <a:ext cx="1097280" cy="201168"/>
          </a:xfrm>
          <a:prstGeom prst="rect">
            <a:avLst/>
          </a:prstGeom>
          <a:noFill/>
          <a:ln/>
        </p:spPr>
        <p:txBody>
          <a:bodyPr wrap="square" lIns="0" tIns="0" rIns="0" bIns="0" rtlCol="0" anchor="t"/>
          <a:lstStyle/>
          <a:p>
            <a:pPr algn="ctr" indent="0" marL="0">
              <a:buNone/>
            </a:pPr>
            <a:r>
              <a:rPr lang="en-US" sz="1000" dirty="0">
                <a:solidFill>
                  <a:schemeClr val="accent4"/>
                </a:solidFill>
              </a:rPr>
              <a:t>73.9</a:t>
            </a:r>
            <a:endParaRPr lang="en-US" sz="1000" dirty="0"/>
          </a:p>
        </p:txBody>
      </p:sp>
      <p:sp>
        <p:nvSpPr>
          <p:cNvPr id="14" name="Text 12"/>
          <p:cNvSpPr txBox="1"/>
          <p:nvPr/>
        </p:nvSpPr>
        <p:spPr>
          <a:xfrm>
            <a:off x="5958389" y="2743200"/>
            <a:ext cx="1097280" cy="201168"/>
          </a:xfrm>
          <a:prstGeom prst="rect">
            <a:avLst/>
          </a:prstGeom>
          <a:noFill/>
          <a:ln/>
        </p:spPr>
        <p:txBody>
          <a:bodyPr wrap="square" lIns="0" tIns="0" rIns="0" bIns="0" rtlCol="0" anchor="t"/>
          <a:lstStyle/>
          <a:p>
            <a:pPr algn="ctr" indent="0" marL="0">
              <a:buNone/>
            </a:pPr>
            <a:r>
              <a:rPr lang="en-US" sz="1000" dirty="0">
                <a:solidFill>
                  <a:schemeClr val="accent4"/>
                </a:solidFill>
              </a:rPr>
              <a:t>96.3</a:t>
            </a:r>
            <a:endParaRPr lang="en-US" sz="1000" dirty="0"/>
          </a:p>
        </p:txBody>
      </p:sp>
      <p:sp>
        <p:nvSpPr>
          <p:cNvPr id="15" name="actual marker"/>
          <p:cNvSpPr/>
          <p:nvPr/>
        </p:nvSpPr>
        <p:spPr>
          <a:xfrm>
            <a:off x="7684428" y="2532888"/>
            <a:ext cx="201168" cy="201168"/>
          </a:xfrm>
          <a:prstGeom prst="ellipse">
            <a:avLst/>
          </a:prstGeom>
          <a:solidFill>
            <a:schemeClr val="accent2"/>
          </a:solidFill>
          <a:ln w="12700">
            <a:solidFill>
              <a:srgbClr val="FFFFFF"/>
            </a:solidFill>
            <a:prstDash val="solid"/>
          </a:ln>
        </p:spPr>
      </p:sp>
      <p:sp>
        <p:nvSpPr>
          <p:cNvPr id="16" name="recommended marker"/>
          <p:cNvSpPr/>
          <p:nvPr/>
        </p:nvSpPr>
        <p:spPr>
          <a:xfrm>
            <a:off x="5194506" y="2505456"/>
            <a:ext cx="256032" cy="256032"/>
          </a:xfrm>
          <a:prstGeom prst="diamond">
            <a:avLst/>
          </a:prstGeom>
          <a:solidFill>
            <a:schemeClr val="accent3"/>
          </a:solidFill>
          <a:ln w="12700">
            <a:solidFill>
              <a:srgbClr val="FFFFFF"/>
            </a:solidFill>
            <a:prstDash val="solid"/>
          </a:ln>
        </p:spPr>
      </p:sp>
      <p:sp>
        <p:nvSpPr>
          <p:cNvPr id="17" name="Text 15"/>
          <p:cNvSpPr txBox="1"/>
          <p:nvPr/>
        </p:nvSpPr>
        <p:spPr>
          <a:xfrm>
            <a:off x="8412480" y="2331720"/>
            <a:ext cx="1737360" cy="603504"/>
          </a:xfrm>
          <a:prstGeom prst="rect">
            <a:avLst/>
          </a:prstGeom>
          <a:noFill/>
          <a:ln/>
        </p:spPr>
        <p:txBody>
          <a:bodyPr wrap="square" lIns="0" tIns="0" rIns="0" bIns="0" rtlCol="0" anchor="ctr"/>
          <a:lstStyle/>
          <a:p>
            <a:pPr algn="r" indent="0" marL="0">
              <a:buNone/>
            </a:pPr>
            <a:r>
              <a:rPr lang="en-US" sz="1400" b="1" dirty="0">
                <a:solidFill>
                  <a:schemeClr val="accent2"/>
                </a:solidFill>
              </a:rPr>
              <a:t>105.5 ▲ &gt;P99</a:t>
            </a:r>
            <a:endParaRPr lang="en-US" sz="1400" dirty="0"/>
          </a:p>
        </p:txBody>
      </p:sp>
      <p:sp>
        <p:nvSpPr>
          <p:cNvPr id="18" name="Text 16"/>
          <p:cNvSpPr txBox="1"/>
          <p:nvPr/>
        </p:nvSpPr>
        <p:spPr>
          <a:xfrm>
            <a:off x="10241280" y="2331720"/>
            <a:ext cx="1399032" cy="603504"/>
          </a:xfrm>
          <a:prstGeom prst="rect">
            <a:avLst/>
          </a:prstGeom>
          <a:noFill/>
          <a:ln/>
        </p:spPr>
        <p:txBody>
          <a:bodyPr wrap="square" lIns="0" tIns="0" rIns="0" bIns="0" rtlCol="0" anchor="ctr"/>
          <a:lstStyle/>
          <a:p>
            <a:pPr algn="r" indent="0" marL="0">
              <a:buNone/>
            </a:pPr>
            <a:r>
              <a:rPr lang="en-US" sz="1800" b="1" dirty="0">
                <a:solidFill>
                  <a:schemeClr val="accent3"/>
                </a:solidFill>
              </a:rPr>
              <a:t>87.9</a:t>
            </a:r>
            <a:endParaRPr lang="en-US" sz="1800" dirty="0"/>
          </a:p>
        </p:txBody>
      </p:sp>
      <p:sp>
        <p:nvSpPr>
          <p:cNvPr id="19" name="card"/>
          <p:cNvSpPr/>
          <p:nvPr/>
        </p:nvSpPr>
        <p:spPr>
          <a:xfrm>
            <a:off x="548640" y="3127248"/>
            <a:ext cx="11094415" cy="749808"/>
          </a:xfrm>
          <a:prstGeom prst="roundRect">
            <a:avLst>
              <a:gd name="adj" fmla="val 9756"/>
            </a:avLst>
          </a:prstGeom>
          <a:solidFill>
            <a:schemeClr val="bg1"/>
          </a:solidFill>
          <a:ln/>
        </p:spPr>
      </p:sp>
      <p:sp>
        <p:nvSpPr>
          <p:cNvPr id="20" name="Text 18"/>
          <p:cNvSpPr txBox="1"/>
          <p:nvPr/>
        </p:nvSpPr>
        <p:spPr>
          <a:xfrm>
            <a:off x="685800" y="3200400"/>
            <a:ext cx="2286000" cy="603504"/>
          </a:xfrm>
          <a:prstGeom prst="rect">
            <a:avLst/>
          </a:prstGeom>
          <a:noFill/>
          <a:ln/>
        </p:spPr>
        <p:txBody>
          <a:bodyPr wrap="square" lIns="0" tIns="0" rIns="0" bIns="0" rtlCol="0" anchor="ctr"/>
          <a:lstStyle/>
          <a:p>
            <a:pPr indent="0" marL="0">
              <a:buNone/>
            </a:pPr>
            <a:r>
              <a:rPr lang="en-US" sz="1500" b="1" dirty="0">
                <a:solidFill>
                  <a:schemeClr val="tx2"/>
                </a:solidFill>
              </a:rPr>
              <a:t>Secondary air</a:t>
            </a:r>
            <a:endParaRPr lang="en-US" sz="1500" dirty="0"/>
          </a:p>
          <a:p>
            <a:pPr indent="0" marL="0">
              <a:buNone/>
            </a:pPr>
            <a:r>
              <a:rPr lang="en-US" sz="1200" dirty="0">
                <a:solidFill>
                  <a:schemeClr val="accent4"/>
                </a:solidFill>
              </a:rPr>
              <a:t>SCM/15 min</a:t>
            </a:r>
            <a:endParaRPr lang="en-US" sz="1500" dirty="0"/>
          </a:p>
        </p:txBody>
      </p:sp>
      <p:sp>
        <p:nvSpPr>
          <p:cNvPr id="21" name="range bar"/>
          <p:cNvSpPr/>
          <p:nvPr/>
        </p:nvSpPr>
        <p:spPr>
          <a:xfrm>
            <a:off x="3370668" y="3419856"/>
            <a:ext cx="2947710" cy="164592"/>
          </a:xfrm>
          <a:prstGeom prst="roundRect">
            <a:avLst>
              <a:gd name="adj" fmla="val 50000"/>
            </a:avLst>
          </a:prstGeom>
          <a:solidFill>
            <a:srgbClr val="D5DBE3"/>
          </a:solidFill>
          <a:ln/>
        </p:spPr>
      </p:sp>
      <p:sp>
        <p:nvSpPr>
          <p:cNvPr id="22" name="median tick"/>
          <p:cNvSpPr/>
          <p:nvPr/>
        </p:nvSpPr>
        <p:spPr>
          <a:xfrm>
            <a:off x="4760539" y="3337560"/>
            <a:ext cx="22860" cy="329184"/>
          </a:xfrm>
          <a:prstGeom prst="rect">
            <a:avLst/>
          </a:prstGeom>
          <a:solidFill>
            <a:schemeClr val="accent4"/>
          </a:solidFill>
          <a:ln/>
        </p:spPr>
      </p:sp>
      <p:sp>
        <p:nvSpPr>
          <p:cNvPr id="23" name="Text 21"/>
          <p:cNvSpPr txBox="1"/>
          <p:nvPr/>
        </p:nvSpPr>
        <p:spPr>
          <a:xfrm>
            <a:off x="2822028" y="3611880"/>
            <a:ext cx="1097280" cy="201168"/>
          </a:xfrm>
          <a:prstGeom prst="rect">
            <a:avLst/>
          </a:prstGeom>
          <a:noFill/>
          <a:ln/>
        </p:spPr>
        <p:txBody>
          <a:bodyPr wrap="square" lIns="0" tIns="0" rIns="0" bIns="0" rtlCol="0" anchor="t"/>
          <a:lstStyle/>
          <a:p>
            <a:pPr algn="ctr" indent="0" marL="0">
              <a:buNone/>
            </a:pPr>
            <a:r>
              <a:rPr lang="en-US" sz="1000" dirty="0">
                <a:solidFill>
                  <a:schemeClr val="accent4"/>
                </a:solidFill>
              </a:rPr>
              <a:t>921</a:t>
            </a:r>
            <a:endParaRPr lang="en-US" sz="1000" dirty="0"/>
          </a:p>
        </p:txBody>
      </p:sp>
      <p:sp>
        <p:nvSpPr>
          <p:cNvPr id="24" name="Text 22"/>
          <p:cNvSpPr txBox="1"/>
          <p:nvPr/>
        </p:nvSpPr>
        <p:spPr>
          <a:xfrm>
            <a:off x="5769738" y="3611880"/>
            <a:ext cx="1097280" cy="201168"/>
          </a:xfrm>
          <a:prstGeom prst="rect">
            <a:avLst/>
          </a:prstGeom>
          <a:noFill/>
          <a:ln/>
        </p:spPr>
        <p:txBody>
          <a:bodyPr wrap="square" lIns="0" tIns="0" rIns="0" bIns="0" rtlCol="0" anchor="t"/>
          <a:lstStyle/>
          <a:p>
            <a:pPr algn="ctr" indent="0" marL="0">
              <a:buNone/>
            </a:pPr>
            <a:r>
              <a:rPr lang="en-US" sz="1000" dirty="0">
                <a:solidFill>
                  <a:schemeClr val="accent4"/>
                </a:solidFill>
              </a:rPr>
              <a:t>1,104</a:t>
            </a:r>
            <a:endParaRPr lang="en-US" sz="1000" dirty="0"/>
          </a:p>
        </p:txBody>
      </p:sp>
      <p:sp>
        <p:nvSpPr>
          <p:cNvPr id="25" name="actual marker"/>
          <p:cNvSpPr/>
          <p:nvPr/>
        </p:nvSpPr>
        <p:spPr>
          <a:xfrm>
            <a:off x="7684428" y="3401568"/>
            <a:ext cx="201168" cy="201168"/>
          </a:xfrm>
          <a:prstGeom prst="ellipse">
            <a:avLst/>
          </a:prstGeom>
          <a:solidFill>
            <a:schemeClr val="accent2"/>
          </a:solidFill>
          <a:ln w="12700">
            <a:solidFill>
              <a:srgbClr val="FFFFFF"/>
            </a:solidFill>
            <a:prstDash val="solid"/>
          </a:ln>
        </p:spPr>
      </p:sp>
      <p:sp>
        <p:nvSpPr>
          <p:cNvPr id="26" name="recommended marker"/>
          <p:cNvSpPr/>
          <p:nvPr/>
        </p:nvSpPr>
        <p:spPr>
          <a:xfrm>
            <a:off x="4763843" y="3374136"/>
            <a:ext cx="256032" cy="256032"/>
          </a:xfrm>
          <a:prstGeom prst="diamond">
            <a:avLst/>
          </a:prstGeom>
          <a:solidFill>
            <a:schemeClr val="accent3"/>
          </a:solidFill>
          <a:ln w="12700">
            <a:solidFill>
              <a:srgbClr val="FFFFFF"/>
            </a:solidFill>
            <a:prstDash val="solid"/>
          </a:ln>
        </p:spPr>
      </p:sp>
      <p:sp>
        <p:nvSpPr>
          <p:cNvPr id="27" name="Text 25"/>
          <p:cNvSpPr txBox="1"/>
          <p:nvPr/>
        </p:nvSpPr>
        <p:spPr>
          <a:xfrm>
            <a:off x="8412480" y="3200400"/>
            <a:ext cx="1737360" cy="603504"/>
          </a:xfrm>
          <a:prstGeom prst="rect">
            <a:avLst/>
          </a:prstGeom>
          <a:noFill/>
          <a:ln/>
        </p:spPr>
        <p:txBody>
          <a:bodyPr wrap="square" lIns="0" tIns="0" rIns="0" bIns="0" rtlCol="0" anchor="ctr"/>
          <a:lstStyle/>
          <a:p>
            <a:pPr algn="r" indent="0" marL="0">
              <a:buNone/>
            </a:pPr>
            <a:r>
              <a:rPr lang="en-US" sz="1400" b="1" dirty="0">
                <a:solidFill>
                  <a:schemeClr val="accent2"/>
                </a:solidFill>
              </a:rPr>
              <a:t>1,196 ▲ &gt;P99</a:t>
            </a:r>
            <a:endParaRPr lang="en-US" sz="1400" dirty="0"/>
          </a:p>
        </p:txBody>
      </p:sp>
      <p:sp>
        <p:nvSpPr>
          <p:cNvPr id="28" name="Text 26"/>
          <p:cNvSpPr txBox="1"/>
          <p:nvPr/>
        </p:nvSpPr>
        <p:spPr>
          <a:xfrm>
            <a:off x="10241280" y="3200400"/>
            <a:ext cx="1399032" cy="603504"/>
          </a:xfrm>
          <a:prstGeom prst="rect">
            <a:avLst/>
          </a:prstGeom>
          <a:noFill/>
          <a:ln/>
        </p:spPr>
        <p:txBody>
          <a:bodyPr wrap="square" lIns="0" tIns="0" rIns="0" bIns="0" rtlCol="0" anchor="ctr"/>
          <a:lstStyle/>
          <a:p>
            <a:pPr algn="r" indent="0" marL="0">
              <a:buNone/>
            </a:pPr>
            <a:r>
              <a:rPr lang="en-US" sz="1800" b="1" dirty="0">
                <a:solidFill>
                  <a:schemeClr val="accent3"/>
                </a:solidFill>
              </a:rPr>
              <a:t>1,015</a:t>
            </a:r>
            <a:endParaRPr lang="en-US" sz="1800" dirty="0"/>
          </a:p>
        </p:txBody>
      </p:sp>
      <p:sp>
        <p:nvSpPr>
          <p:cNvPr id="29" name="card"/>
          <p:cNvSpPr/>
          <p:nvPr/>
        </p:nvSpPr>
        <p:spPr>
          <a:xfrm>
            <a:off x="548640" y="3995928"/>
            <a:ext cx="11094415" cy="749808"/>
          </a:xfrm>
          <a:prstGeom prst="roundRect">
            <a:avLst>
              <a:gd name="adj" fmla="val 9756"/>
            </a:avLst>
          </a:prstGeom>
          <a:solidFill>
            <a:schemeClr val="bg2"/>
          </a:solidFill>
          <a:ln/>
        </p:spPr>
      </p:sp>
      <p:sp>
        <p:nvSpPr>
          <p:cNvPr id="30" name="Text 28"/>
          <p:cNvSpPr txBox="1"/>
          <p:nvPr/>
        </p:nvSpPr>
        <p:spPr>
          <a:xfrm>
            <a:off x="685800" y="4069080"/>
            <a:ext cx="2286000" cy="603504"/>
          </a:xfrm>
          <a:prstGeom prst="rect">
            <a:avLst/>
          </a:prstGeom>
          <a:noFill/>
          <a:ln/>
        </p:spPr>
        <p:txBody>
          <a:bodyPr wrap="square" lIns="0" tIns="0" rIns="0" bIns="0" rtlCol="0" anchor="ctr"/>
          <a:lstStyle/>
          <a:p>
            <a:pPr indent="0" marL="0">
              <a:buNone/>
            </a:pPr>
            <a:r>
              <a:rPr lang="en-US" sz="1500" b="1" dirty="0">
                <a:solidFill>
                  <a:schemeClr val="tx2"/>
                </a:solidFill>
              </a:rPr>
              <a:t>Air-fuel ratio</a:t>
            </a:r>
            <a:endParaRPr lang="en-US" sz="1500" dirty="0"/>
          </a:p>
          <a:p>
            <a:pPr indent="0" marL="0">
              <a:buNone/>
            </a:pPr>
            <a:r>
              <a:rPr lang="en-US" sz="1200" dirty="0">
                <a:solidFill>
                  <a:schemeClr val="accent4"/>
                </a:solidFill>
              </a:rPr>
              <a:t>–</a:t>
            </a:r>
            <a:endParaRPr lang="en-US" sz="1500" dirty="0"/>
          </a:p>
        </p:txBody>
      </p:sp>
      <p:sp>
        <p:nvSpPr>
          <p:cNvPr id="31" name="range bar"/>
          <p:cNvSpPr/>
          <p:nvPr/>
        </p:nvSpPr>
        <p:spPr>
          <a:xfrm>
            <a:off x="3370668" y="4288536"/>
            <a:ext cx="4414345" cy="164592"/>
          </a:xfrm>
          <a:prstGeom prst="roundRect">
            <a:avLst>
              <a:gd name="adj" fmla="val 50000"/>
            </a:avLst>
          </a:prstGeom>
          <a:solidFill>
            <a:srgbClr val="D5DBE3"/>
          </a:solidFill>
          <a:ln/>
        </p:spPr>
      </p:sp>
      <p:sp>
        <p:nvSpPr>
          <p:cNvPr id="32" name="median tick"/>
          <p:cNvSpPr/>
          <p:nvPr/>
        </p:nvSpPr>
        <p:spPr>
          <a:xfrm>
            <a:off x="5485787" y="4206240"/>
            <a:ext cx="22860" cy="329184"/>
          </a:xfrm>
          <a:prstGeom prst="rect">
            <a:avLst/>
          </a:prstGeom>
          <a:solidFill>
            <a:schemeClr val="accent4"/>
          </a:solidFill>
          <a:ln/>
        </p:spPr>
      </p:sp>
      <p:sp>
        <p:nvSpPr>
          <p:cNvPr id="33" name="Text 31"/>
          <p:cNvSpPr txBox="1"/>
          <p:nvPr/>
        </p:nvSpPr>
        <p:spPr>
          <a:xfrm>
            <a:off x="2822028" y="4480560"/>
            <a:ext cx="1097280" cy="201168"/>
          </a:xfrm>
          <a:prstGeom prst="rect">
            <a:avLst/>
          </a:prstGeom>
          <a:noFill/>
          <a:ln/>
        </p:spPr>
        <p:txBody>
          <a:bodyPr wrap="square" lIns="0" tIns="0" rIns="0" bIns="0" rtlCol="0" anchor="t"/>
          <a:lstStyle/>
          <a:p>
            <a:pPr algn="ctr" indent="0" marL="0">
              <a:buNone/>
            </a:pPr>
            <a:r>
              <a:rPr lang="en-US" sz="1000" dirty="0">
                <a:solidFill>
                  <a:schemeClr val="accent4"/>
                </a:solidFill>
              </a:rPr>
              <a:t>10.99</a:t>
            </a:r>
            <a:endParaRPr lang="en-US" sz="1000" dirty="0"/>
          </a:p>
        </p:txBody>
      </p:sp>
      <p:sp>
        <p:nvSpPr>
          <p:cNvPr id="34" name="Text 32"/>
          <p:cNvSpPr txBox="1"/>
          <p:nvPr/>
        </p:nvSpPr>
        <p:spPr>
          <a:xfrm>
            <a:off x="7236372" y="4480560"/>
            <a:ext cx="1097280" cy="201168"/>
          </a:xfrm>
          <a:prstGeom prst="rect">
            <a:avLst/>
          </a:prstGeom>
          <a:noFill/>
          <a:ln/>
        </p:spPr>
        <p:txBody>
          <a:bodyPr wrap="square" lIns="0" tIns="0" rIns="0" bIns="0" rtlCol="0" anchor="t"/>
          <a:lstStyle/>
          <a:p>
            <a:pPr algn="ctr" indent="0" marL="0">
              <a:buNone/>
            </a:pPr>
            <a:r>
              <a:rPr lang="en-US" sz="1000" dirty="0">
                <a:solidFill>
                  <a:schemeClr val="accent4"/>
                </a:solidFill>
              </a:rPr>
              <a:t>13.44</a:t>
            </a:r>
            <a:endParaRPr lang="en-US" sz="1000" dirty="0"/>
          </a:p>
        </p:txBody>
      </p:sp>
      <p:sp>
        <p:nvSpPr>
          <p:cNvPr id="35" name="actual marker"/>
          <p:cNvSpPr/>
          <p:nvPr/>
        </p:nvSpPr>
        <p:spPr>
          <a:xfrm>
            <a:off x="3900704" y="4270248"/>
            <a:ext cx="201168" cy="201168"/>
          </a:xfrm>
          <a:prstGeom prst="ellipse">
            <a:avLst/>
          </a:prstGeom>
          <a:solidFill>
            <a:schemeClr val="accent2"/>
          </a:solidFill>
          <a:ln w="12700">
            <a:solidFill>
              <a:srgbClr val="FFFFFF"/>
            </a:solidFill>
            <a:prstDash val="solid"/>
          </a:ln>
        </p:spPr>
      </p:sp>
      <p:sp>
        <p:nvSpPr>
          <p:cNvPr id="36" name="recommended marker"/>
          <p:cNvSpPr/>
          <p:nvPr/>
        </p:nvSpPr>
        <p:spPr>
          <a:xfrm>
            <a:off x="4269662" y="4242816"/>
            <a:ext cx="256032" cy="256032"/>
          </a:xfrm>
          <a:prstGeom prst="diamond">
            <a:avLst/>
          </a:prstGeom>
          <a:solidFill>
            <a:schemeClr val="accent3"/>
          </a:solidFill>
          <a:ln w="12700">
            <a:solidFill>
              <a:srgbClr val="FFFFFF"/>
            </a:solidFill>
            <a:prstDash val="solid"/>
          </a:ln>
        </p:spPr>
      </p:sp>
      <p:sp>
        <p:nvSpPr>
          <p:cNvPr id="37" name="Text 35"/>
          <p:cNvSpPr txBox="1"/>
          <p:nvPr/>
        </p:nvSpPr>
        <p:spPr>
          <a:xfrm>
            <a:off x="8412480" y="4069080"/>
            <a:ext cx="1737360" cy="603504"/>
          </a:xfrm>
          <a:prstGeom prst="rect">
            <a:avLst/>
          </a:prstGeom>
          <a:noFill/>
          <a:ln/>
        </p:spPr>
        <p:txBody>
          <a:bodyPr wrap="square" lIns="0" tIns="0" rIns="0" bIns="0" rtlCol="0" anchor="ctr"/>
          <a:lstStyle/>
          <a:p>
            <a:pPr algn="r" indent="0" marL="0">
              <a:buNone/>
            </a:pPr>
            <a:r>
              <a:rPr lang="en-US" sz="1400" b="1" dirty="0">
                <a:solidFill>
                  <a:schemeClr val="tx1"/>
                </a:solidFill>
              </a:rPr>
              <a:t>11.34</a:t>
            </a:r>
            <a:endParaRPr lang="en-US" sz="1400" dirty="0"/>
          </a:p>
        </p:txBody>
      </p:sp>
      <p:sp>
        <p:nvSpPr>
          <p:cNvPr id="38" name="Text 36"/>
          <p:cNvSpPr txBox="1"/>
          <p:nvPr/>
        </p:nvSpPr>
        <p:spPr>
          <a:xfrm>
            <a:off x="10241280" y="4069080"/>
            <a:ext cx="1399032" cy="603504"/>
          </a:xfrm>
          <a:prstGeom prst="rect">
            <a:avLst/>
          </a:prstGeom>
          <a:noFill/>
          <a:ln/>
        </p:spPr>
        <p:txBody>
          <a:bodyPr wrap="square" lIns="0" tIns="0" rIns="0" bIns="0" rtlCol="0" anchor="ctr"/>
          <a:lstStyle/>
          <a:p>
            <a:pPr algn="r" indent="0" marL="0">
              <a:buNone/>
            </a:pPr>
            <a:r>
              <a:rPr lang="en-US" sz="1800" b="1" dirty="0">
                <a:solidFill>
                  <a:schemeClr val="accent3"/>
                </a:solidFill>
              </a:rPr>
              <a:t>11.56</a:t>
            </a:r>
            <a:endParaRPr lang="en-US" sz="1800" dirty="0"/>
          </a:p>
        </p:txBody>
      </p:sp>
      <p:sp>
        <p:nvSpPr>
          <p:cNvPr id="39" name="card"/>
          <p:cNvSpPr/>
          <p:nvPr/>
        </p:nvSpPr>
        <p:spPr>
          <a:xfrm>
            <a:off x="548640" y="4864608"/>
            <a:ext cx="11094415" cy="749808"/>
          </a:xfrm>
          <a:prstGeom prst="roundRect">
            <a:avLst>
              <a:gd name="adj" fmla="val 9756"/>
            </a:avLst>
          </a:prstGeom>
          <a:solidFill>
            <a:schemeClr val="bg1"/>
          </a:solidFill>
          <a:ln/>
        </p:spPr>
      </p:sp>
      <p:sp>
        <p:nvSpPr>
          <p:cNvPr id="40" name="Text 38"/>
          <p:cNvSpPr txBox="1"/>
          <p:nvPr/>
        </p:nvSpPr>
        <p:spPr>
          <a:xfrm>
            <a:off x="685800" y="4937760"/>
            <a:ext cx="2286000" cy="603504"/>
          </a:xfrm>
          <a:prstGeom prst="rect">
            <a:avLst/>
          </a:prstGeom>
          <a:noFill/>
          <a:ln/>
        </p:spPr>
        <p:txBody>
          <a:bodyPr wrap="square" lIns="0" tIns="0" rIns="0" bIns="0" rtlCol="0" anchor="ctr"/>
          <a:lstStyle/>
          <a:p>
            <a:pPr indent="0" marL="0">
              <a:buNone/>
            </a:pPr>
            <a:r>
              <a:rPr lang="en-US" sz="1500" b="1" dirty="0">
                <a:solidFill>
                  <a:schemeClr val="tx2"/>
                </a:solidFill>
              </a:rPr>
              <a:t>Barrier boost</a:t>
            </a:r>
            <a:endParaRPr lang="en-US" sz="1500" dirty="0"/>
          </a:p>
          <a:p>
            <a:pPr indent="0" marL="0">
              <a:buNone/>
            </a:pPr>
            <a:r>
              <a:rPr lang="en-US" sz="1200" dirty="0">
                <a:solidFill>
                  <a:schemeClr val="accent4"/>
                </a:solidFill>
              </a:rPr>
              <a:t>kWh/h</a:t>
            </a:r>
            <a:endParaRPr lang="en-US" sz="1500" dirty="0"/>
          </a:p>
        </p:txBody>
      </p:sp>
      <p:sp>
        <p:nvSpPr>
          <p:cNvPr id="41" name="range bar"/>
          <p:cNvSpPr/>
          <p:nvPr/>
        </p:nvSpPr>
        <p:spPr>
          <a:xfrm>
            <a:off x="3370668" y="5157216"/>
            <a:ext cx="4342481" cy="164592"/>
          </a:xfrm>
          <a:prstGeom prst="roundRect">
            <a:avLst>
              <a:gd name="adj" fmla="val 50000"/>
            </a:avLst>
          </a:prstGeom>
          <a:solidFill>
            <a:srgbClr val="D5DBE3"/>
          </a:solidFill>
          <a:ln/>
        </p:spPr>
      </p:sp>
      <p:sp>
        <p:nvSpPr>
          <p:cNvPr id="42" name="median tick"/>
          <p:cNvSpPr/>
          <p:nvPr/>
        </p:nvSpPr>
        <p:spPr>
          <a:xfrm>
            <a:off x="5684741" y="5074920"/>
            <a:ext cx="22860" cy="329184"/>
          </a:xfrm>
          <a:prstGeom prst="rect">
            <a:avLst/>
          </a:prstGeom>
          <a:solidFill>
            <a:schemeClr val="accent4"/>
          </a:solidFill>
          <a:ln/>
        </p:spPr>
      </p:sp>
      <p:sp>
        <p:nvSpPr>
          <p:cNvPr id="43" name="Text 41"/>
          <p:cNvSpPr txBox="1"/>
          <p:nvPr/>
        </p:nvSpPr>
        <p:spPr>
          <a:xfrm>
            <a:off x="2822028" y="5349240"/>
            <a:ext cx="1097280" cy="201168"/>
          </a:xfrm>
          <a:prstGeom prst="rect">
            <a:avLst/>
          </a:prstGeom>
          <a:noFill/>
          <a:ln/>
        </p:spPr>
        <p:txBody>
          <a:bodyPr wrap="square" lIns="0" tIns="0" rIns="0" bIns="0" rtlCol="0" anchor="t"/>
          <a:lstStyle/>
          <a:p>
            <a:pPr algn="ctr" indent="0" marL="0">
              <a:buNone/>
            </a:pPr>
            <a:r>
              <a:rPr lang="en-US" sz="1000" dirty="0">
                <a:solidFill>
                  <a:schemeClr val="accent4"/>
                </a:solidFill>
              </a:rPr>
              <a:t>114</a:t>
            </a:r>
            <a:endParaRPr lang="en-US" sz="1000" dirty="0"/>
          </a:p>
        </p:txBody>
      </p:sp>
      <p:sp>
        <p:nvSpPr>
          <p:cNvPr id="44" name="Text 42"/>
          <p:cNvSpPr txBox="1"/>
          <p:nvPr/>
        </p:nvSpPr>
        <p:spPr>
          <a:xfrm>
            <a:off x="7164509" y="5349240"/>
            <a:ext cx="1097280" cy="201168"/>
          </a:xfrm>
          <a:prstGeom prst="rect">
            <a:avLst/>
          </a:prstGeom>
          <a:noFill/>
          <a:ln/>
        </p:spPr>
        <p:txBody>
          <a:bodyPr wrap="square" lIns="0" tIns="0" rIns="0" bIns="0" rtlCol="0" anchor="t"/>
          <a:lstStyle/>
          <a:p>
            <a:pPr algn="ctr" indent="0" marL="0">
              <a:buNone/>
            </a:pPr>
            <a:r>
              <a:rPr lang="en-US" sz="1000" dirty="0">
                <a:solidFill>
                  <a:schemeClr val="accent4"/>
                </a:solidFill>
              </a:rPr>
              <a:t>610</a:t>
            </a:r>
            <a:endParaRPr lang="en-US" sz="1000" dirty="0"/>
          </a:p>
        </p:txBody>
      </p:sp>
      <p:sp>
        <p:nvSpPr>
          <p:cNvPr id="45" name="actual marker"/>
          <p:cNvSpPr/>
          <p:nvPr/>
        </p:nvSpPr>
        <p:spPr>
          <a:xfrm>
            <a:off x="7684428" y="5138928"/>
            <a:ext cx="201168" cy="201168"/>
          </a:xfrm>
          <a:prstGeom prst="ellipse">
            <a:avLst/>
          </a:prstGeom>
          <a:solidFill>
            <a:schemeClr val="accent2"/>
          </a:solidFill>
          <a:ln w="12700">
            <a:solidFill>
              <a:srgbClr val="FFFFFF"/>
            </a:solidFill>
            <a:prstDash val="solid"/>
          </a:ln>
        </p:spPr>
      </p:sp>
      <p:sp>
        <p:nvSpPr>
          <p:cNvPr id="46" name="recommended marker"/>
          <p:cNvSpPr/>
          <p:nvPr/>
        </p:nvSpPr>
        <p:spPr>
          <a:xfrm>
            <a:off x="7020742" y="5111496"/>
            <a:ext cx="256032" cy="256032"/>
          </a:xfrm>
          <a:prstGeom prst="diamond">
            <a:avLst/>
          </a:prstGeom>
          <a:solidFill>
            <a:schemeClr val="accent3"/>
          </a:solidFill>
          <a:ln w="12700">
            <a:solidFill>
              <a:srgbClr val="FFFFFF"/>
            </a:solidFill>
            <a:prstDash val="solid"/>
          </a:ln>
        </p:spPr>
      </p:sp>
      <p:sp>
        <p:nvSpPr>
          <p:cNvPr id="47" name="Text 45"/>
          <p:cNvSpPr txBox="1"/>
          <p:nvPr/>
        </p:nvSpPr>
        <p:spPr>
          <a:xfrm>
            <a:off x="8412480" y="4937760"/>
            <a:ext cx="1737360" cy="603504"/>
          </a:xfrm>
          <a:prstGeom prst="rect">
            <a:avLst/>
          </a:prstGeom>
          <a:noFill/>
          <a:ln/>
        </p:spPr>
        <p:txBody>
          <a:bodyPr wrap="square" lIns="0" tIns="0" rIns="0" bIns="0" rtlCol="0" anchor="ctr"/>
          <a:lstStyle/>
          <a:p>
            <a:pPr algn="r" indent="0" marL="0">
              <a:buNone/>
            </a:pPr>
            <a:r>
              <a:rPr lang="en-US" sz="1400" b="1" dirty="0">
                <a:solidFill>
                  <a:schemeClr val="accent2"/>
                </a:solidFill>
              </a:rPr>
              <a:t>618 ▲ &gt;P99</a:t>
            </a:r>
            <a:endParaRPr lang="en-US" sz="1400" dirty="0"/>
          </a:p>
        </p:txBody>
      </p:sp>
      <p:sp>
        <p:nvSpPr>
          <p:cNvPr id="48" name="Text 46"/>
          <p:cNvSpPr txBox="1"/>
          <p:nvPr/>
        </p:nvSpPr>
        <p:spPr>
          <a:xfrm>
            <a:off x="10241280" y="4937760"/>
            <a:ext cx="1399032" cy="603504"/>
          </a:xfrm>
          <a:prstGeom prst="rect">
            <a:avLst/>
          </a:prstGeom>
          <a:noFill/>
          <a:ln/>
        </p:spPr>
        <p:txBody>
          <a:bodyPr wrap="square" lIns="0" tIns="0" rIns="0" bIns="0" rtlCol="0" anchor="ctr"/>
          <a:lstStyle/>
          <a:p>
            <a:pPr algn="r" indent="0" marL="0">
              <a:buNone/>
            </a:pPr>
            <a:r>
              <a:rPr lang="en-US" sz="1800" b="1" dirty="0">
                <a:solidFill>
                  <a:schemeClr val="accent3"/>
                </a:solidFill>
              </a:rPr>
              <a:t>545</a:t>
            </a:r>
            <a:endParaRPr lang="en-US" sz="1800" dirty="0"/>
          </a:p>
        </p:txBody>
      </p:sp>
      <p:sp>
        <p:nvSpPr>
          <p:cNvPr id="49" name="Text 47"/>
          <p:cNvSpPr txBox="1"/>
          <p:nvPr/>
        </p:nvSpPr>
        <p:spPr>
          <a:xfrm>
            <a:off x="548640" y="5852160"/>
            <a:ext cx="11094415" cy="365760"/>
          </a:xfrm>
          <a:prstGeom prst="rect">
            <a:avLst/>
          </a:prstGeom>
          <a:noFill/>
          <a:ln/>
        </p:spPr>
        <p:txBody>
          <a:bodyPr wrap="square" lIns="0" tIns="0" rIns="0" bIns="0" rtlCol="0" anchor="t"/>
          <a:lstStyle/>
          <a:p>
            <a:pPr indent="0" marL="0">
              <a:buNone/>
            </a:pPr>
            <a:r>
              <a:rPr lang="en-US" sz="1400" b="1" dirty="0">
                <a:solidFill>
                  <a:schemeClr val="tx2"/>
                </a:solidFill>
              </a:rPr>
              <a:t>Result for the day (walk-forward replay): SFC 1,581 → 1,507 kcal/kg (−4.7%). Barrier boost steps down each hour as MB3 returns to 1,320 °C.</a:t>
            </a:r>
            <a:endParaRPr lang="en-US" sz="14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2743200" cy="822960"/>
          </a:xfrm>
          <a:prstGeom prst="rect">
            <a:avLst/>
          </a:prstGeom>
          <a:noFill/>
          <a:ln/>
        </p:spPr>
        <p:txBody>
          <a:bodyPr wrap="square" rtlCol="0"/>
          <a:lstStyle/>
          <a:p>
            <a:pPr indent="0" marL="0">
              <a:buNone/>
            </a:pPr>
            <a:r>
              <a:rPr lang="en-US" sz="2800" b="1" dirty="0">
                <a:solidFill>
                  <a:schemeClr val="accent2"/>
                </a:solidFill>
              </a:rPr>
              <a:t>05</a:t>
            </a:r>
            <a:endParaRPr lang="en-US" sz="2800" dirty="0"/>
          </a:p>
        </p:txBody>
      </p:sp>
      <p:sp>
        <p:nvSpPr>
          <p:cNvPr id="3" name="Text 0"/>
          <p:cNvSpPr/>
          <p:nvPr>
            <p:ph idx="101" type="title" hasCustomPrompt="1"/>
          </p:nvPr>
        </p:nvSpPr>
        <p:spPr>
          <a:xfrm>
            <a:off x="822960" y="2651760"/>
            <a:ext cx="10241280" cy="1097280"/>
          </a:xfrm>
          <a:prstGeom prst="rect">
            <a:avLst/>
          </a:prstGeom>
          <a:noFill/>
          <a:ln/>
        </p:spPr>
        <p:txBody>
          <a:bodyPr wrap="square" rtlCol="0" anchor="t"/>
          <a:lstStyle/>
          <a:p>
            <a:pPr algn="l" indent="0" marL="0">
              <a:buNone/>
            </a:pPr>
            <a:r>
              <a:rPr lang="en-US" sz="4000" b="1" dirty="0">
                <a:solidFill>
                  <a:schemeClr val="bg1"/>
                </a:solidFill>
                <a:latin typeface="Arial" pitchFamily="34" charset="0"/>
                <a:ea typeface="Arial" pitchFamily="34" charset="-122"/>
                <a:cs typeface="Arial" pitchFamily="34" charset="-120"/>
              </a:rPr>
              <a:t>Delivering the 2%</a:t>
            </a:r>
            <a:endParaRPr lang="en-US" sz="4000" dirty="0"/>
          </a:p>
        </p:txBody>
      </p:sp>
      <p:sp>
        <p:nvSpPr>
          <p:cNvPr id="4" name="Text 0"/>
          <p:cNvSpPr/>
          <p:nvPr>
            <p:ph idx="102" type="body" hasCustomPrompt="1"/>
          </p:nvPr>
        </p:nvSpPr>
        <p:spPr>
          <a:xfrm>
            <a:off x="822960" y="3840480"/>
            <a:ext cx="10241280" cy="822960"/>
          </a:xfrm>
          <a:prstGeom prst="rect">
            <a:avLst/>
          </a:prstGeom>
          <a:noFill/>
          <a:ln/>
        </p:spPr>
        <p:txBody>
          <a:bodyPr wrap="square" rtlCol="0" anchor="t"/>
          <a:lstStyle/>
          <a:p>
            <a:pPr indent="0" marL="0">
              <a:buNone/>
            </a:pPr>
            <a:r>
              <a:rPr lang="en-US" sz="1800" dirty="0">
                <a:solidFill>
                  <a:srgbClr val="C9D3E0"/>
                </a:solidFill>
              </a:rPr>
              <a:t>Recommended setpoints first, then three trial levers, measured every day</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Path to 2% lower SFC</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Run the recommended setpoints, then add three trial levers, one at a time</a:t>
            </a:r>
            <a:endParaRPr lang="en-US" sz="1600" dirty="0"/>
          </a:p>
        </p:txBody>
      </p:sp>
      <p:sp>
        <p:nvSpPr>
          <p:cNvPr id="4" name="Text 2"/>
          <p:cNvSpPr txBox="1"/>
          <p:nvPr/>
        </p:nvSpPr>
        <p:spPr>
          <a:xfrm>
            <a:off x="3840480" y="1508760"/>
            <a:ext cx="5120640" cy="274320"/>
          </a:xfrm>
          <a:prstGeom prst="rect">
            <a:avLst/>
          </a:prstGeom>
          <a:noFill/>
          <a:ln/>
        </p:spPr>
        <p:txBody>
          <a:bodyPr wrap="square" lIns="0" tIns="0" rIns="0" bIns="0" rtlCol="0" anchor="t"/>
          <a:lstStyle/>
          <a:p>
            <a:pPr indent="0" marL="0">
              <a:buNone/>
            </a:pPr>
            <a:r>
              <a:rPr lang="en-US" sz="1200" dirty="0">
                <a:solidFill>
                  <a:schemeClr val="accent4"/>
                </a:solidFill>
              </a:rPr>
              <a:t>SFC reduction vs today's operation at the same draw, %</a:t>
            </a:r>
            <a:endParaRPr lang="en-US" sz="1200" dirty="0"/>
          </a:p>
        </p:txBody>
      </p:sp>
      <p:sp>
        <p:nvSpPr>
          <p:cNvPr id="5" name="Text 3"/>
          <p:cNvSpPr txBox="1"/>
          <p:nvPr/>
        </p:nvSpPr>
        <p:spPr>
          <a:xfrm>
            <a:off x="548640" y="1874520"/>
            <a:ext cx="3383280" cy="438912"/>
          </a:xfrm>
          <a:prstGeom prst="rect">
            <a:avLst/>
          </a:prstGeom>
          <a:noFill/>
          <a:ln/>
        </p:spPr>
        <p:txBody>
          <a:bodyPr wrap="square" lIns="0" tIns="0" rIns="0" bIns="0" rtlCol="0" anchor="ctr"/>
          <a:lstStyle/>
          <a:p>
            <a:pPr indent="0" marL="0">
              <a:buNone/>
            </a:pPr>
            <a:r>
              <a:rPr lang="en-US" sz="1400" b="1" dirty="0">
                <a:solidFill>
                  <a:schemeClr val="tx2"/>
                </a:solidFill>
              </a:rPr>
              <a:t>Gas recommender</a:t>
            </a:r>
            <a:endParaRPr lang="en-US" sz="1400" dirty="0"/>
          </a:p>
        </p:txBody>
      </p:sp>
      <p:sp>
        <p:nvSpPr>
          <p:cNvPr id="6" name="step bar"/>
          <p:cNvSpPr/>
          <p:nvPr/>
        </p:nvSpPr>
        <p:spPr>
          <a:xfrm>
            <a:off x="3840480" y="1911096"/>
            <a:ext cx="1675846" cy="365760"/>
          </a:xfrm>
          <a:prstGeom prst="rect">
            <a:avLst/>
          </a:prstGeom>
          <a:solidFill>
            <a:schemeClr val="accent2"/>
          </a:solidFill>
          <a:ln/>
        </p:spPr>
      </p:sp>
      <p:sp>
        <p:nvSpPr>
          <p:cNvPr id="7" name="Text 5"/>
          <p:cNvSpPr txBox="1"/>
          <p:nvPr/>
        </p:nvSpPr>
        <p:spPr>
          <a:xfrm>
            <a:off x="5589478" y="1874520"/>
            <a:ext cx="1463040" cy="438912"/>
          </a:xfrm>
          <a:prstGeom prst="rect">
            <a:avLst/>
          </a:prstGeom>
          <a:noFill/>
          <a:ln/>
        </p:spPr>
        <p:txBody>
          <a:bodyPr wrap="square" lIns="0" tIns="0" rIns="0" bIns="0" rtlCol="0" anchor="ctr"/>
          <a:lstStyle/>
          <a:p>
            <a:pPr indent="0" marL="0">
              <a:buNone/>
            </a:pPr>
            <a:r>
              <a:rPr lang="en-US" sz="1300" b="1" dirty="0">
                <a:solidFill>
                  <a:schemeClr val="accent2"/>
                </a:solidFill>
              </a:rPr>
              <a:t>−0.72%</a:t>
            </a:r>
            <a:endParaRPr lang="en-US" sz="1300" dirty="0"/>
          </a:p>
        </p:txBody>
      </p:sp>
      <p:sp>
        <p:nvSpPr>
          <p:cNvPr id="8" name="Text 6"/>
          <p:cNvSpPr txBox="1"/>
          <p:nvPr/>
        </p:nvSpPr>
        <p:spPr>
          <a:xfrm>
            <a:off x="548640" y="2450592"/>
            <a:ext cx="3383280" cy="438912"/>
          </a:xfrm>
          <a:prstGeom prst="rect">
            <a:avLst/>
          </a:prstGeom>
          <a:noFill/>
          <a:ln/>
        </p:spPr>
        <p:txBody>
          <a:bodyPr wrap="square" lIns="0" tIns="0" rIns="0" bIns="0" rtlCol="0" anchor="ctr"/>
          <a:lstStyle/>
          <a:p>
            <a:pPr indent="0" marL="0">
              <a:buNone/>
            </a:pPr>
            <a:r>
              <a:rPr lang="en-US" sz="1400" b="1" dirty="0">
                <a:solidFill>
                  <a:schemeClr val="tx2"/>
                </a:solidFill>
              </a:rPr>
              <a:t>Barrier-boost controller</a:t>
            </a:r>
            <a:endParaRPr lang="en-US" sz="1400" dirty="0"/>
          </a:p>
        </p:txBody>
      </p:sp>
      <p:sp>
        <p:nvSpPr>
          <p:cNvPr id="9" name="step bar"/>
          <p:cNvSpPr/>
          <p:nvPr/>
        </p:nvSpPr>
        <p:spPr>
          <a:xfrm>
            <a:off x="5516326" y="2487168"/>
            <a:ext cx="954301" cy="365760"/>
          </a:xfrm>
          <a:prstGeom prst="rect">
            <a:avLst/>
          </a:prstGeom>
          <a:solidFill>
            <a:schemeClr val="accent2"/>
          </a:solidFill>
          <a:ln/>
        </p:spPr>
      </p:sp>
      <p:sp>
        <p:nvSpPr>
          <p:cNvPr id="10" name="Text 8"/>
          <p:cNvSpPr txBox="1"/>
          <p:nvPr/>
        </p:nvSpPr>
        <p:spPr>
          <a:xfrm>
            <a:off x="6543779" y="2450592"/>
            <a:ext cx="1463040" cy="438912"/>
          </a:xfrm>
          <a:prstGeom prst="rect">
            <a:avLst/>
          </a:prstGeom>
          <a:noFill/>
          <a:ln/>
        </p:spPr>
        <p:txBody>
          <a:bodyPr wrap="square" lIns="0" tIns="0" rIns="0" bIns="0" rtlCol="0" anchor="ctr"/>
          <a:lstStyle/>
          <a:p>
            <a:pPr indent="0" marL="0">
              <a:buNone/>
            </a:pPr>
            <a:r>
              <a:rPr lang="en-US" sz="1300" b="1" dirty="0">
                <a:solidFill>
                  <a:schemeClr val="accent2"/>
                </a:solidFill>
              </a:rPr>
              <a:t>−0.41%</a:t>
            </a:r>
            <a:endParaRPr lang="en-US" sz="1300" dirty="0"/>
          </a:p>
        </p:txBody>
      </p:sp>
      <p:sp>
        <p:nvSpPr>
          <p:cNvPr id="11" name="Text 9"/>
          <p:cNvSpPr txBox="1"/>
          <p:nvPr/>
        </p:nvSpPr>
        <p:spPr>
          <a:xfrm>
            <a:off x="548640" y="3026664"/>
            <a:ext cx="3383280" cy="438912"/>
          </a:xfrm>
          <a:prstGeom prst="rect">
            <a:avLst/>
          </a:prstGeom>
          <a:noFill/>
          <a:ln/>
        </p:spPr>
        <p:txBody>
          <a:bodyPr wrap="square" lIns="0" tIns="0" rIns="0" bIns="0" rtlCol="0" anchor="ctr"/>
          <a:lstStyle/>
          <a:p>
            <a:pPr indent="0" marL="0">
              <a:buNone/>
            </a:pPr>
            <a:r>
              <a:rPr lang="en-US" sz="1400" b="1" dirty="0">
                <a:solidFill>
                  <a:schemeClr val="tx2"/>
                </a:solidFill>
              </a:rPr>
              <a:t>Air target (rolling P25)</a:t>
            </a:r>
            <a:endParaRPr lang="en-US" sz="1400" dirty="0"/>
          </a:p>
        </p:txBody>
      </p:sp>
      <p:sp>
        <p:nvSpPr>
          <p:cNvPr id="12" name="step bar"/>
          <p:cNvSpPr/>
          <p:nvPr/>
        </p:nvSpPr>
        <p:spPr>
          <a:xfrm>
            <a:off x="6470627" y="3063240"/>
            <a:ext cx="418961" cy="365760"/>
          </a:xfrm>
          <a:prstGeom prst="rect">
            <a:avLst/>
          </a:prstGeom>
          <a:solidFill>
            <a:schemeClr val="accent2"/>
          </a:solidFill>
          <a:ln/>
        </p:spPr>
      </p:sp>
      <p:sp>
        <p:nvSpPr>
          <p:cNvPr id="13" name="Text 11"/>
          <p:cNvSpPr txBox="1"/>
          <p:nvPr/>
        </p:nvSpPr>
        <p:spPr>
          <a:xfrm>
            <a:off x="6962740" y="3026664"/>
            <a:ext cx="1463040" cy="438912"/>
          </a:xfrm>
          <a:prstGeom prst="rect">
            <a:avLst/>
          </a:prstGeom>
          <a:noFill/>
          <a:ln/>
        </p:spPr>
        <p:txBody>
          <a:bodyPr wrap="square" lIns="0" tIns="0" rIns="0" bIns="0" rtlCol="0" anchor="ctr"/>
          <a:lstStyle/>
          <a:p>
            <a:pPr indent="0" marL="0">
              <a:buNone/>
            </a:pPr>
            <a:r>
              <a:rPr lang="en-US" sz="1300" b="1" dirty="0">
                <a:solidFill>
                  <a:schemeClr val="accent2"/>
                </a:solidFill>
              </a:rPr>
              <a:t>−0.18%</a:t>
            </a:r>
            <a:endParaRPr lang="en-US" sz="1300" dirty="0"/>
          </a:p>
        </p:txBody>
      </p:sp>
      <p:sp>
        <p:nvSpPr>
          <p:cNvPr id="14" name="Text 12"/>
          <p:cNvSpPr txBox="1"/>
          <p:nvPr/>
        </p:nvSpPr>
        <p:spPr>
          <a:xfrm>
            <a:off x="548640" y="3602736"/>
            <a:ext cx="3383280" cy="438912"/>
          </a:xfrm>
          <a:prstGeom prst="rect">
            <a:avLst/>
          </a:prstGeom>
          <a:noFill/>
          <a:ln/>
        </p:spPr>
        <p:txBody>
          <a:bodyPr wrap="square" lIns="0" tIns="0" rIns="0" bIns="0" rtlCol="0" anchor="ctr"/>
          <a:lstStyle/>
          <a:p>
            <a:pPr indent="0" marL="0">
              <a:buNone/>
            </a:pPr>
            <a:r>
              <a:rPr lang="en-US" sz="1400" dirty="0">
                <a:solidFill>
                  <a:schemeClr val="tx2"/>
                </a:solidFill>
              </a:rPr>
              <a:t>Lever A: MB3 target → 1,319.2 °C</a:t>
            </a:r>
            <a:endParaRPr lang="en-US" sz="1400" dirty="0"/>
          </a:p>
        </p:txBody>
      </p:sp>
      <p:sp>
        <p:nvSpPr>
          <p:cNvPr id="15" name="step bar"/>
          <p:cNvSpPr/>
          <p:nvPr/>
        </p:nvSpPr>
        <p:spPr>
          <a:xfrm>
            <a:off x="6889588" y="3639312"/>
            <a:ext cx="698269" cy="365760"/>
          </a:xfrm>
          <a:prstGeom prst="rect">
            <a:avLst/>
          </a:prstGeom>
          <a:solidFill>
            <a:schemeClr val="accent1"/>
          </a:solidFill>
          <a:ln/>
        </p:spPr>
      </p:sp>
      <p:sp>
        <p:nvSpPr>
          <p:cNvPr id="16" name="Text 14"/>
          <p:cNvSpPr txBox="1"/>
          <p:nvPr/>
        </p:nvSpPr>
        <p:spPr>
          <a:xfrm>
            <a:off x="7661009" y="3602736"/>
            <a:ext cx="1463040" cy="438912"/>
          </a:xfrm>
          <a:prstGeom prst="rect">
            <a:avLst/>
          </a:prstGeom>
          <a:noFill/>
          <a:ln/>
        </p:spPr>
        <p:txBody>
          <a:bodyPr wrap="square" lIns="0" tIns="0" rIns="0" bIns="0" rtlCol="0" anchor="ctr"/>
          <a:lstStyle/>
          <a:p>
            <a:pPr indent="0" marL="0">
              <a:buNone/>
            </a:pPr>
            <a:r>
              <a:rPr lang="en-US" sz="1300" b="1" dirty="0">
                <a:solidFill>
                  <a:schemeClr val="accent1"/>
                </a:solidFill>
              </a:rPr>
              <a:t>−0.30%</a:t>
            </a:r>
            <a:endParaRPr lang="en-US" sz="1300" dirty="0"/>
          </a:p>
        </p:txBody>
      </p:sp>
      <p:sp>
        <p:nvSpPr>
          <p:cNvPr id="17" name="Text 15"/>
          <p:cNvSpPr txBox="1"/>
          <p:nvPr/>
        </p:nvSpPr>
        <p:spPr>
          <a:xfrm>
            <a:off x="548640" y="4178808"/>
            <a:ext cx="3383280" cy="438912"/>
          </a:xfrm>
          <a:prstGeom prst="rect">
            <a:avLst/>
          </a:prstGeom>
          <a:noFill/>
          <a:ln/>
        </p:spPr>
        <p:txBody>
          <a:bodyPr wrap="square" lIns="0" tIns="0" rIns="0" bIns="0" rtlCol="0" anchor="ctr"/>
          <a:lstStyle/>
          <a:p>
            <a:pPr indent="0" marL="0">
              <a:buNone/>
            </a:pPr>
            <a:r>
              <a:rPr lang="en-US" sz="1400" dirty="0">
                <a:solidFill>
                  <a:schemeClr val="tx2"/>
                </a:solidFill>
              </a:rPr>
              <a:t>Lever B: air → 1.252 SCM/Mcal</a:t>
            </a:r>
            <a:endParaRPr lang="en-US" sz="1400" dirty="0"/>
          </a:p>
        </p:txBody>
      </p:sp>
      <p:sp>
        <p:nvSpPr>
          <p:cNvPr id="18" name="step bar"/>
          <p:cNvSpPr/>
          <p:nvPr/>
        </p:nvSpPr>
        <p:spPr>
          <a:xfrm>
            <a:off x="7587857" y="4215384"/>
            <a:ext cx="581891" cy="365760"/>
          </a:xfrm>
          <a:prstGeom prst="rect">
            <a:avLst/>
          </a:prstGeom>
          <a:solidFill>
            <a:schemeClr val="accent1"/>
          </a:solidFill>
          <a:ln/>
        </p:spPr>
      </p:sp>
      <p:sp>
        <p:nvSpPr>
          <p:cNvPr id="19" name="Text 17"/>
          <p:cNvSpPr txBox="1"/>
          <p:nvPr/>
        </p:nvSpPr>
        <p:spPr>
          <a:xfrm>
            <a:off x="8242900" y="4178808"/>
            <a:ext cx="1463040" cy="438912"/>
          </a:xfrm>
          <a:prstGeom prst="rect">
            <a:avLst/>
          </a:prstGeom>
          <a:noFill/>
          <a:ln/>
        </p:spPr>
        <p:txBody>
          <a:bodyPr wrap="square" lIns="0" tIns="0" rIns="0" bIns="0" rtlCol="0" anchor="ctr"/>
          <a:lstStyle/>
          <a:p>
            <a:pPr indent="0" marL="0">
              <a:buNone/>
            </a:pPr>
            <a:r>
              <a:rPr lang="en-US" sz="1300" b="1" dirty="0">
                <a:solidFill>
                  <a:schemeClr val="accent1"/>
                </a:solidFill>
              </a:rPr>
              <a:t>−0.25%</a:t>
            </a:r>
            <a:endParaRPr lang="en-US" sz="1300" dirty="0"/>
          </a:p>
        </p:txBody>
      </p:sp>
      <p:sp>
        <p:nvSpPr>
          <p:cNvPr id="20" name="Text 18"/>
          <p:cNvSpPr txBox="1"/>
          <p:nvPr/>
        </p:nvSpPr>
        <p:spPr>
          <a:xfrm>
            <a:off x="548640" y="4754880"/>
            <a:ext cx="3383280" cy="438912"/>
          </a:xfrm>
          <a:prstGeom prst="rect">
            <a:avLst/>
          </a:prstGeom>
          <a:noFill/>
          <a:ln/>
        </p:spPr>
        <p:txBody>
          <a:bodyPr wrap="square" lIns="0" tIns="0" rIns="0" bIns="0" rtlCol="0" anchor="ctr"/>
          <a:lstStyle/>
          <a:p>
            <a:pPr indent="0" marL="0">
              <a:buNone/>
            </a:pPr>
            <a:r>
              <a:rPr lang="en-US" sz="1400" dirty="0">
                <a:solidFill>
                  <a:schemeClr val="tx2"/>
                </a:solidFill>
              </a:rPr>
              <a:t>Lever C: crown −1 to −2 °C</a:t>
            </a:r>
            <a:endParaRPr lang="en-US" sz="1400" dirty="0"/>
          </a:p>
        </p:txBody>
      </p:sp>
      <p:sp>
        <p:nvSpPr>
          <p:cNvPr id="21" name="step bar"/>
          <p:cNvSpPr/>
          <p:nvPr/>
        </p:nvSpPr>
        <p:spPr>
          <a:xfrm>
            <a:off x="8169748" y="4791456"/>
            <a:ext cx="325859" cy="365760"/>
          </a:xfrm>
          <a:prstGeom prst="rect">
            <a:avLst/>
          </a:prstGeom>
          <a:solidFill>
            <a:schemeClr val="accent1"/>
          </a:solidFill>
          <a:ln/>
        </p:spPr>
      </p:sp>
      <p:sp>
        <p:nvSpPr>
          <p:cNvPr id="22" name="Text 20"/>
          <p:cNvSpPr txBox="1"/>
          <p:nvPr/>
        </p:nvSpPr>
        <p:spPr>
          <a:xfrm>
            <a:off x="8568759" y="4754880"/>
            <a:ext cx="1463040" cy="438912"/>
          </a:xfrm>
          <a:prstGeom prst="rect">
            <a:avLst/>
          </a:prstGeom>
          <a:noFill/>
          <a:ln/>
        </p:spPr>
        <p:txBody>
          <a:bodyPr wrap="square" lIns="0" tIns="0" rIns="0" bIns="0" rtlCol="0" anchor="ctr"/>
          <a:lstStyle/>
          <a:p>
            <a:pPr indent="0" marL="0">
              <a:buNone/>
            </a:pPr>
            <a:r>
              <a:rPr lang="en-US" sz="1300" b="1" dirty="0">
                <a:solidFill>
                  <a:schemeClr val="accent1"/>
                </a:solidFill>
              </a:rPr>
              <a:t>−0.15% or more</a:t>
            </a:r>
            <a:endParaRPr lang="en-US" sz="1300" dirty="0"/>
          </a:p>
        </p:txBody>
      </p:sp>
      <p:sp>
        <p:nvSpPr>
          <p:cNvPr id="23" name="total bar"/>
          <p:cNvSpPr/>
          <p:nvPr/>
        </p:nvSpPr>
        <p:spPr>
          <a:xfrm>
            <a:off x="3840480" y="5413248"/>
            <a:ext cx="4655127" cy="411480"/>
          </a:xfrm>
          <a:prstGeom prst="rect">
            <a:avLst/>
          </a:prstGeom>
          <a:solidFill>
            <a:schemeClr val="accent3"/>
          </a:solidFill>
          <a:ln/>
        </p:spPr>
      </p:sp>
      <p:sp>
        <p:nvSpPr>
          <p:cNvPr id="24" name="Text 22"/>
          <p:cNvSpPr txBox="1"/>
          <p:nvPr/>
        </p:nvSpPr>
        <p:spPr>
          <a:xfrm>
            <a:off x="548640" y="5376672"/>
            <a:ext cx="3383280" cy="475488"/>
          </a:xfrm>
          <a:prstGeom prst="rect">
            <a:avLst/>
          </a:prstGeom>
          <a:noFill/>
          <a:ln/>
        </p:spPr>
        <p:txBody>
          <a:bodyPr wrap="square" lIns="0" tIns="0" rIns="0" bIns="0" rtlCol="0" anchor="ctr"/>
          <a:lstStyle/>
          <a:p>
            <a:pPr indent="0" marL="0">
              <a:buNone/>
            </a:pPr>
            <a:r>
              <a:rPr lang="en-US" sz="1600" b="1" dirty="0">
                <a:solidFill>
                  <a:schemeClr val="accent3"/>
                </a:solidFill>
              </a:rPr>
              <a:t>Total</a:t>
            </a:r>
            <a:endParaRPr lang="en-US" sz="1600" dirty="0"/>
          </a:p>
        </p:txBody>
      </p:sp>
      <p:sp>
        <p:nvSpPr>
          <p:cNvPr id="25" name="Text 23"/>
          <p:cNvSpPr txBox="1"/>
          <p:nvPr/>
        </p:nvSpPr>
        <p:spPr>
          <a:xfrm>
            <a:off x="8568759" y="5376672"/>
            <a:ext cx="1097280" cy="475488"/>
          </a:xfrm>
          <a:prstGeom prst="rect">
            <a:avLst/>
          </a:prstGeom>
          <a:noFill/>
          <a:ln/>
        </p:spPr>
        <p:txBody>
          <a:bodyPr wrap="square" lIns="0" tIns="0" rIns="0" bIns="0" rtlCol="0" anchor="ctr"/>
          <a:lstStyle/>
          <a:p>
            <a:pPr indent="0" marL="0">
              <a:buNone/>
            </a:pPr>
            <a:r>
              <a:rPr lang="en-US" sz="1800" b="1" dirty="0">
                <a:solidFill>
                  <a:schemeClr val="accent3"/>
                </a:solidFill>
              </a:rPr>
              <a:t>−2.0%</a:t>
            </a:r>
            <a:endParaRPr lang="en-US" sz="1800" dirty="0"/>
          </a:p>
        </p:txBody>
      </p:sp>
      <p:sp>
        <p:nvSpPr>
          <p:cNvPr id="26" name="Text 24"/>
          <p:cNvSpPr txBox="1"/>
          <p:nvPr/>
        </p:nvSpPr>
        <p:spPr>
          <a:xfrm>
            <a:off x="548640" y="5989320"/>
            <a:ext cx="9144000" cy="274320"/>
          </a:xfrm>
          <a:prstGeom prst="rect">
            <a:avLst/>
          </a:prstGeom>
          <a:noFill/>
          <a:ln/>
        </p:spPr>
        <p:txBody>
          <a:bodyPr wrap="square" lIns="0" tIns="0" rIns="0" bIns="0" rtlCol="0" anchor="t"/>
          <a:lstStyle/>
          <a:p>
            <a:pPr indent="0" marL="0">
              <a:buNone/>
            </a:pPr>
            <a:r>
              <a:rPr lang="en-US" sz="1200" i="1" dirty="0">
                <a:solidFill>
                  <a:schemeClr val="accent4"/>
                </a:solidFill>
              </a:rPr>
              <a:t>Proven: walk-forward on Jun–Aug 2026.  Trial: inside the historical range, confirmed in the trial phase.</a:t>
            </a:r>
            <a:endParaRPr lang="en-US" sz="1200" dirty="0"/>
          </a:p>
        </p:txBody>
      </p:sp>
      <p:sp>
        <p:nvSpPr>
          <p:cNvPr id="27" name="card"/>
          <p:cNvSpPr/>
          <p:nvPr/>
        </p:nvSpPr>
        <p:spPr>
          <a:xfrm>
            <a:off x="10012680" y="1645920"/>
            <a:ext cx="1627632" cy="4206240"/>
          </a:xfrm>
          <a:prstGeom prst="roundRect">
            <a:avLst>
              <a:gd name="adj" fmla="val 4494"/>
            </a:avLst>
          </a:prstGeom>
          <a:solidFill>
            <a:schemeClr val="tx2"/>
          </a:solidFill>
          <a:ln/>
        </p:spPr>
      </p:sp>
      <p:sp>
        <p:nvSpPr>
          <p:cNvPr id="28" name="Text 26"/>
          <p:cNvSpPr txBox="1"/>
          <p:nvPr/>
        </p:nvSpPr>
        <p:spPr>
          <a:xfrm>
            <a:off x="10149840" y="1783080"/>
            <a:ext cx="1371600" cy="320040"/>
          </a:xfrm>
          <a:prstGeom prst="rect">
            <a:avLst/>
          </a:prstGeom>
          <a:noFill/>
          <a:ln/>
        </p:spPr>
        <p:txBody>
          <a:bodyPr wrap="square" lIns="0" tIns="0" rIns="0" bIns="0" rtlCol="0" anchor="t"/>
          <a:lstStyle/>
          <a:p>
            <a:pPr indent="0" marL="0">
              <a:buNone/>
            </a:pPr>
            <a:r>
              <a:rPr lang="en-US" sz="1300" b="1" dirty="0">
                <a:solidFill>
                  <a:schemeClr val="accent5"/>
                </a:solidFill>
              </a:rPr>
              <a:t>Extra lever</a:t>
            </a:r>
            <a:endParaRPr lang="en-US" sz="1300" dirty="0"/>
          </a:p>
        </p:txBody>
      </p:sp>
      <p:sp>
        <p:nvSpPr>
          <p:cNvPr id="29" name="Text 27"/>
          <p:cNvSpPr txBox="1"/>
          <p:nvPr/>
        </p:nvSpPr>
        <p:spPr>
          <a:xfrm>
            <a:off x="10149840" y="2194560"/>
            <a:ext cx="1371600" cy="457200"/>
          </a:xfrm>
          <a:prstGeom prst="rect">
            <a:avLst/>
          </a:prstGeom>
          <a:noFill/>
          <a:ln/>
        </p:spPr>
        <p:txBody>
          <a:bodyPr wrap="square" lIns="0" tIns="0" rIns="0" bIns="0" rtlCol="0" anchor="t"/>
          <a:lstStyle/>
          <a:p>
            <a:pPr indent="0" marL="0">
              <a:buNone/>
            </a:pPr>
            <a:r>
              <a:rPr lang="en-US" sz="2200" b="1" dirty="0">
                <a:solidFill>
                  <a:schemeClr val="bg1"/>
                </a:solidFill>
              </a:rPr>
              <a:t>+1 t/day</a:t>
            </a:r>
            <a:endParaRPr lang="en-US" sz="2200" dirty="0"/>
          </a:p>
        </p:txBody>
      </p:sp>
      <p:sp>
        <p:nvSpPr>
          <p:cNvPr id="30" name="Text 28"/>
          <p:cNvSpPr txBox="1"/>
          <p:nvPr/>
        </p:nvSpPr>
        <p:spPr>
          <a:xfrm>
            <a:off x="10149840" y="2697480"/>
            <a:ext cx="1371600" cy="1463040"/>
          </a:xfrm>
          <a:prstGeom prst="rect">
            <a:avLst/>
          </a:prstGeom>
          <a:noFill/>
          <a:ln/>
        </p:spPr>
        <p:txBody>
          <a:bodyPr wrap="square" lIns="0" tIns="0" rIns="0" bIns="0" rtlCol="0" anchor="t"/>
          <a:lstStyle/>
          <a:p>
            <a:pPr indent="0" marL="0">
              <a:buNone/>
            </a:pPr>
            <a:r>
              <a:rPr lang="en-US" sz="1200" dirty="0">
                <a:solidFill>
                  <a:srgbClr val="C9D3E0"/>
                </a:solidFill>
              </a:rPr>
              <a:t>of draw ≈ −1% SFC. Holding ≥ 58 t/day multiplies the saving.</a:t>
            </a:r>
            <a:endParaRPr lang="en-US" sz="1200" dirty="0"/>
          </a:p>
        </p:txBody>
      </p:sp>
      <p:sp>
        <p:nvSpPr>
          <p:cNvPr id="31" name="Text 29"/>
          <p:cNvSpPr txBox="1"/>
          <p:nvPr/>
        </p:nvSpPr>
        <p:spPr>
          <a:xfrm>
            <a:off x="10149840" y="4206240"/>
            <a:ext cx="1371600" cy="1463040"/>
          </a:xfrm>
          <a:prstGeom prst="rect">
            <a:avLst/>
          </a:prstGeom>
          <a:noFill/>
          <a:ln/>
        </p:spPr>
        <p:txBody>
          <a:bodyPr wrap="square" lIns="0" tIns="0" rIns="0" bIns="0" rtlCol="0" anchor="t"/>
          <a:lstStyle/>
          <a:p>
            <a:pPr indent="0" marL="0">
              <a:buNone/>
            </a:pPr>
            <a:r>
              <a:rPr lang="en-US" sz="1200" dirty="0">
                <a:solidFill>
                  <a:srgbClr val="C9D3E0"/>
                </a:solidFill>
              </a:rPr>
              <a:t>Regenerator maintenance recovers the ageing drift (+0.19%/month).</a:t>
            </a:r>
            <a:endParaRPr lang="en-US" sz="12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Trial plan and measurement</a:t>
            </a:r>
            <a:endParaRPr lang="en-US" sz="3000" dirty="0"/>
          </a:p>
        </p:txBody>
      </p:sp>
      <p:sp>
        <p:nvSpPr>
          <p:cNvPr id="3" name="Text 0"/>
          <p:cNvSpPr/>
          <p:nvPr>
            <p:ph idx="101" type="body" hasCustomPrompt="1"/>
          </p:nvPr>
        </p:nvSpPr>
        <p:spPr>
          <a:xfrm>
            <a:off x="548640" y="932688"/>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Four phases over about 14 weeks, with daily guard-rails and daily M&amp;V</a:t>
            </a:r>
            <a:endParaRPr lang="en-US" sz="1600" dirty="0"/>
          </a:p>
        </p:txBody>
      </p:sp>
      <p:sp>
        <p:nvSpPr>
          <p:cNvPr id="4" name="phase chevron"/>
          <p:cNvSpPr/>
          <p:nvPr/>
        </p:nvSpPr>
        <p:spPr>
          <a:xfrm>
            <a:off x="548640" y="1645920"/>
            <a:ext cx="2240280" cy="640080"/>
          </a:xfrm>
          <a:prstGeom prst="homePlate">
            <a:avLst/>
          </a:prstGeom>
          <a:solidFill>
            <a:schemeClr val="accent4"/>
          </a:solidFill>
          <a:ln/>
        </p:spPr>
      </p:sp>
      <p:sp>
        <p:nvSpPr>
          <p:cNvPr id="5" name="Text 3"/>
          <p:cNvSpPr txBox="1"/>
          <p:nvPr/>
        </p:nvSpPr>
        <p:spPr>
          <a:xfrm>
            <a:off x="731520" y="1645920"/>
            <a:ext cx="1600200" cy="640080"/>
          </a:xfrm>
          <a:prstGeom prst="rect">
            <a:avLst/>
          </a:prstGeom>
          <a:noFill/>
          <a:ln/>
        </p:spPr>
        <p:txBody>
          <a:bodyPr wrap="square" lIns="0" tIns="0" rIns="0" bIns="0" rtlCol="0" anchor="ctr"/>
          <a:lstStyle/>
          <a:p>
            <a:pPr indent="0" marL="0">
              <a:buNone/>
            </a:pPr>
            <a:r>
              <a:rPr lang="en-US" sz="1300" b="1" dirty="0">
                <a:solidFill>
                  <a:schemeClr val="bg1"/>
                </a:solidFill>
              </a:rPr>
              <a:t>Phase 0: Shadow</a:t>
            </a:r>
            <a:endParaRPr lang="en-US" sz="1300" dirty="0"/>
          </a:p>
        </p:txBody>
      </p:sp>
      <p:sp>
        <p:nvSpPr>
          <p:cNvPr id="6" name="Text 4"/>
          <p:cNvSpPr txBox="1"/>
          <p:nvPr/>
        </p:nvSpPr>
        <p:spPr>
          <a:xfrm>
            <a:off x="548640" y="2377440"/>
            <a:ext cx="2103120" cy="274320"/>
          </a:xfrm>
          <a:prstGeom prst="rect">
            <a:avLst/>
          </a:prstGeom>
          <a:noFill/>
          <a:ln/>
        </p:spPr>
        <p:txBody>
          <a:bodyPr wrap="square" lIns="0" tIns="0" rIns="0" bIns="0" rtlCol="0" anchor="t"/>
          <a:lstStyle/>
          <a:p>
            <a:pPr indent="0" marL="0">
              <a:buNone/>
            </a:pPr>
            <a:r>
              <a:rPr lang="en-US" sz="1200" b="1" dirty="0">
                <a:solidFill>
                  <a:schemeClr val="accent4"/>
                </a:solidFill>
              </a:rPr>
              <a:t>Weeks 1–2</a:t>
            </a:r>
            <a:endParaRPr lang="en-US" sz="1200" dirty="0"/>
          </a:p>
        </p:txBody>
      </p:sp>
      <p:sp>
        <p:nvSpPr>
          <p:cNvPr id="7" name="Text 5"/>
          <p:cNvSpPr txBox="1"/>
          <p:nvPr/>
        </p:nvSpPr>
        <p:spPr>
          <a:xfrm>
            <a:off x="548640" y="2651760"/>
            <a:ext cx="2103120" cy="822960"/>
          </a:xfrm>
          <a:prstGeom prst="rect">
            <a:avLst/>
          </a:prstGeom>
          <a:noFill/>
          <a:ln/>
        </p:spPr>
        <p:txBody>
          <a:bodyPr wrap="square" lIns="0" tIns="0" rIns="0" bIns="0" rtlCol="0" anchor="t"/>
          <a:lstStyle/>
          <a:p>
            <a:pPr indent="0" marL="0">
              <a:buNone/>
            </a:pPr>
            <a:r>
              <a:rPr lang="en-US" sz="1200" dirty="0">
                <a:solidFill>
                  <a:schemeClr val="tx1"/>
                </a:solidFill>
              </a:rPr>
              <a:t>Recommendations logged, not applied; data feeds checked</a:t>
            </a:r>
            <a:endParaRPr lang="en-US" sz="1200" dirty="0"/>
          </a:p>
        </p:txBody>
      </p:sp>
      <p:sp>
        <p:nvSpPr>
          <p:cNvPr id="8" name="Text 6"/>
          <p:cNvSpPr txBox="1"/>
          <p:nvPr/>
        </p:nvSpPr>
        <p:spPr>
          <a:xfrm>
            <a:off x="548640" y="3474720"/>
            <a:ext cx="2103120" cy="411480"/>
          </a:xfrm>
          <a:prstGeom prst="rect">
            <a:avLst/>
          </a:prstGeom>
          <a:noFill/>
          <a:ln/>
        </p:spPr>
        <p:txBody>
          <a:bodyPr wrap="square" lIns="0" tIns="0" rIns="0" bIns="0" rtlCol="0" anchor="t"/>
          <a:lstStyle/>
          <a:p>
            <a:pPr indent="0" marL="0">
              <a:buNone/>
            </a:pPr>
            <a:r>
              <a:rPr lang="en-US" sz="2000" b="1" dirty="0">
                <a:solidFill>
                  <a:schemeClr val="accent3"/>
                </a:solidFill>
              </a:rPr>
              <a:t>0%</a:t>
            </a:r>
            <a:endParaRPr lang="en-US" sz="2000" dirty="0"/>
          </a:p>
        </p:txBody>
      </p:sp>
      <p:sp>
        <p:nvSpPr>
          <p:cNvPr id="9" name="phase chevron"/>
          <p:cNvSpPr/>
          <p:nvPr/>
        </p:nvSpPr>
        <p:spPr>
          <a:xfrm>
            <a:off x="2761488" y="1645920"/>
            <a:ext cx="2240280" cy="640080"/>
          </a:xfrm>
          <a:prstGeom prst="chevron">
            <a:avLst/>
          </a:prstGeom>
          <a:solidFill>
            <a:schemeClr val="accent1"/>
          </a:solidFill>
          <a:ln/>
        </p:spPr>
      </p:sp>
      <p:sp>
        <p:nvSpPr>
          <p:cNvPr id="10" name="Text 8"/>
          <p:cNvSpPr txBox="1"/>
          <p:nvPr/>
        </p:nvSpPr>
        <p:spPr>
          <a:xfrm>
            <a:off x="3172968" y="1645920"/>
            <a:ext cx="1600200" cy="640080"/>
          </a:xfrm>
          <a:prstGeom prst="rect">
            <a:avLst/>
          </a:prstGeom>
          <a:noFill/>
          <a:ln/>
        </p:spPr>
        <p:txBody>
          <a:bodyPr wrap="square" lIns="0" tIns="0" rIns="0" bIns="0" rtlCol="0" anchor="ctr"/>
          <a:lstStyle/>
          <a:p>
            <a:pPr indent="0" marL="0">
              <a:buNone/>
            </a:pPr>
            <a:r>
              <a:rPr lang="en-US" sz="1300" b="1" dirty="0">
                <a:solidFill>
                  <a:schemeClr val="bg1"/>
                </a:solidFill>
              </a:rPr>
              <a:t>Phase 1: Gas + air</a:t>
            </a:r>
            <a:endParaRPr lang="en-US" sz="1300" dirty="0"/>
          </a:p>
        </p:txBody>
      </p:sp>
      <p:sp>
        <p:nvSpPr>
          <p:cNvPr id="11" name="Text 9"/>
          <p:cNvSpPr txBox="1"/>
          <p:nvPr/>
        </p:nvSpPr>
        <p:spPr>
          <a:xfrm>
            <a:off x="2761488" y="2377440"/>
            <a:ext cx="2103120" cy="274320"/>
          </a:xfrm>
          <a:prstGeom prst="rect">
            <a:avLst/>
          </a:prstGeom>
          <a:noFill/>
          <a:ln/>
        </p:spPr>
        <p:txBody>
          <a:bodyPr wrap="square" lIns="0" tIns="0" rIns="0" bIns="0" rtlCol="0" anchor="t"/>
          <a:lstStyle/>
          <a:p>
            <a:pPr indent="0" marL="0">
              <a:buNone/>
            </a:pPr>
            <a:r>
              <a:rPr lang="en-US" sz="1200" b="1" dirty="0">
                <a:solidFill>
                  <a:schemeClr val="accent4"/>
                </a:solidFill>
              </a:rPr>
              <a:t>Weeks 3–6</a:t>
            </a:r>
            <a:endParaRPr lang="en-US" sz="1200" dirty="0"/>
          </a:p>
        </p:txBody>
      </p:sp>
      <p:sp>
        <p:nvSpPr>
          <p:cNvPr id="12" name="Text 10"/>
          <p:cNvSpPr txBox="1"/>
          <p:nvPr/>
        </p:nvSpPr>
        <p:spPr>
          <a:xfrm>
            <a:off x="2761488" y="2651760"/>
            <a:ext cx="2103120" cy="822960"/>
          </a:xfrm>
          <a:prstGeom prst="rect">
            <a:avLst/>
          </a:prstGeom>
          <a:noFill/>
          <a:ln/>
        </p:spPr>
        <p:txBody>
          <a:bodyPr wrap="square" lIns="0" tIns="0" rIns="0" bIns="0" rtlCol="0" anchor="t"/>
          <a:lstStyle/>
          <a:p>
            <a:pPr indent="0" marL="0">
              <a:buNone/>
            </a:pPr>
            <a:r>
              <a:rPr lang="en-US" sz="1200" dirty="0">
                <a:solidFill>
                  <a:schemeClr val="tx1"/>
                </a:solidFill>
              </a:rPr>
              <a:t>Operators set NG and secondary air each reversal</a:t>
            </a:r>
            <a:endParaRPr lang="en-US" sz="1200" dirty="0"/>
          </a:p>
        </p:txBody>
      </p:sp>
      <p:sp>
        <p:nvSpPr>
          <p:cNvPr id="13" name="Text 11"/>
          <p:cNvSpPr txBox="1"/>
          <p:nvPr/>
        </p:nvSpPr>
        <p:spPr>
          <a:xfrm>
            <a:off x="2761488" y="3474720"/>
            <a:ext cx="2103120" cy="411480"/>
          </a:xfrm>
          <a:prstGeom prst="rect">
            <a:avLst/>
          </a:prstGeom>
          <a:noFill/>
          <a:ln/>
        </p:spPr>
        <p:txBody>
          <a:bodyPr wrap="square" lIns="0" tIns="0" rIns="0" bIns="0" rtlCol="0" anchor="t"/>
          <a:lstStyle/>
          <a:p>
            <a:pPr indent="0" marL="0">
              <a:buNone/>
            </a:pPr>
            <a:r>
              <a:rPr lang="en-US" sz="2000" b="1" dirty="0">
                <a:solidFill>
                  <a:schemeClr val="accent3"/>
                </a:solidFill>
              </a:rPr>
              <a:t>≈ −0.9%</a:t>
            </a:r>
            <a:endParaRPr lang="en-US" sz="2000" dirty="0"/>
          </a:p>
        </p:txBody>
      </p:sp>
      <p:sp>
        <p:nvSpPr>
          <p:cNvPr id="14" name="phase chevron"/>
          <p:cNvSpPr/>
          <p:nvPr/>
        </p:nvSpPr>
        <p:spPr>
          <a:xfrm>
            <a:off x="4974336" y="1645920"/>
            <a:ext cx="2240280" cy="640080"/>
          </a:xfrm>
          <a:prstGeom prst="chevron">
            <a:avLst/>
          </a:prstGeom>
          <a:solidFill>
            <a:schemeClr val="accent1"/>
          </a:solidFill>
          <a:ln/>
        </p:spPr>
      </p:sp>
      <p:sp>
        <p:nvSpPr>
          <p:cNvPr id="15" name="Text 13"/>
          <p:cNvSpPr txBox="1"/>
          <p:nvPr/>
        </p:nvSpPr>
        <p:spPr>
          <a:xfrm>
            <a:off x="5385816" y="1645920"/>
            <a:ext cx="1600200" cy="640080"/>
          </a:xfrm>
          <a:prstGeom prst="rect">
            <a:avLst/>
          </a:prstGeom>
          <a:noFill/>
          <a:ln/>
        </p:spPr>
        <p:txBody>
          <a:bodyPr wrap="square" lIns="0" tIns="0" rIns="0" bIns="0" rtlCol="0" anchor="ctr"/>
          <a:lstStyle/>
          <a:p>
            <a:pPr indent="0" marL="0">
              <a:buNone/>
            </a:pPr>
            <a:r>
              <a:rPr lang="en-US" sz="1300" b="1" dirty="0">
                <a:solidFill>
                  <a:schemeClr val="bg1"/>
                </a:solidFill>
              </a:rPr>
              <a:t>Phase 2: + Boost</a:t>
            </a:r>
            <a:endParaRPr lang="en-US" sz="1300" dirty="0"/>
          </a:p>
        </p:txBody>
      </p:sp>
      <p:sp>
        <p:nvSpPr>
          <p:cNvPr id="16" name="Text 14"/>
          <p:cNvSpPr txBox="1"/>
          <p:nvPr/>
        </p:nvSpPr>
        <p:spPr>
          <a:xfrm>
            <a:off x="4974336" y="2377440"/>
            <a:ext cx="2103120" cy="274320"/>
          </a:xfrm>
          <a:prstGeom prst="rect">
            <a:avLst/>
          </a:prstGeom>
          <a:noFill/>
          <a:ln/>
        </p:spPr>
        <p:txBody>
          <a:bodyPr wrap="square" lIns="0" tIns="0" rIns="0" bIns="0" rtlCol="0" anchor="t"/>
          <a:lstStyle/>
          <a:p>
            <a:pPr indent="0" marL="0">
              <a:buNone/>
            </a:pPr>
            <a:r>
              <a:rPr lang="en-US" sz="1200" b="1" dirty="0">
                <a:solidFill>
                  <a:schemeClr val="accent4"/>
                </a:solidFill>
              </a:rPr>
              <a:t>Weeks 7–10</a:t>
            </a:r>
            <a:endParaRPr lang="en-US" sz="1200" dirty="0"/>
          </a:p>
        </p:txBody>
      </p:sp>
      <p:sp>
        <p:nvSpPr>
          <p:cNvPr id="17" name="Text 15"/>
          <p:cNvSpPr txBox="1"/>
          <p:nvPr/>
        </p:nvSpPr>
        <p:spPr>
          <a:xfrm>
            <a:off x="4974336" y="2651760"/>
            <a:ext cx="2103120" cy="822960"/>
          </a:xfrm>
          <a:prstGeom prst="rect">
            <a:avLst/>
          </a:prstGeom>
          <a:noFill/>
          <a:ln/>
        </p:spPr>
        <p:txBody>
          <a:bodyPr wrap="square" lIns="0" tIns="0" rIns="0" bIns="0" rtlCol="0" anchor="t"/>
          <a:lstStyle/>
          <a:p>
            <a:pPr indent="0" marL="0">
              <a:buNone/>
            </a:pPr>
            <a:r>
              <a:rPr lang="en-US" sz="1200" dirty="0">
                <a:solidFill>
                  <a:schemeClr val="tx1"/>
                </a:solidFill>
              </a:rPr>
              <a:t>Barrier boost from the MB3 controller</a:t>
            </a:r>
            <a:endParaRPr lang="en-US" sz="1200" dirty="0"/>
          </a:p>
        </p:txBody>
      </p:sp>
      <p:sp>
        <p:nvSpPr>
          <p:cNvPr id="18" name="Text 16"/>
          <p:cNvSpPr txBox="1"/>
          <p:nvPr/>
        </p:nvSpPr>
        <p:spPr>
          <a:xfrm>
            <a:off x="4974336" y="3474720"/>
            <a:ext cx="2103120" cy="411480"/>
          </a:xfrm>
          <a:prstGeom prst="rect">
            <a:avLst/>
          </a:prstGeom>
          <a:noFill/>
          <a:ln/>
        </p:spPr>
        <p:txBody>
          <a:bodyPr wrap="square" lIns="0" tIns="0" rIns="0" bIns="0" rtlCol="0" anchor="t"/>
          <a:lstStyle/>
          <a:p>
            <a:pPr indent="0" marL="0">
              <a:buNone/>
            </a:pPr>
            <a:r>
              <a:rPr lang="en-US" sz="2000" b="1" dirty="0">
                <a:solidFill>
                  <a:schemeClr val="accent3"/>
                </a:solidFill>
              </a:rPr>
              <a:t>≈ −1.3%</a:t>
            </a:r>
            <a:endParaRPr lang="en-US" sz="2000" dirty="0"/>
          </a:p>
        </p:txBody>
      </p:sp>
      <p:sp>
        <p:nvSpPr>
          <p:cNvPr id="19" name="phase chevron"/>
          <p:cNvSpPr/>
          <p:nvPr/>
        </p:nvSpPr>
        <p:spPr>
          <a:xfrm>
            <a:off x="7187184" y="1645920"/>
            <a:ext cx="2240280" cy="640080"/>
          </a:xfrm>
          <a:prstGeom prst="chevron">
            <a:avLst/>
          </a:prstGeom>
          <a:solidFill>
            <a:schemeClr val="accent1"/>
          </a:solidFill>
          <a:ln/>
        </p:spPr>
      </p:sp>
      <p:sp>
        <p:nvSpPr>
          <p:cNvPr id="20" name="Text 18"/>
          <p:cNvSpPr txBox="1"/>
          <p:nvPr/>
        </p:nvSpPr>
        <p:spPr>
          <a:xfrm>
            <a:off x="7598664" y="1645920"/>
            <a:ext cx="1600200" cy="640080"/>
          </a:xfrm>
          <a:prstGeom prst="rect">
            <a:avLst/>
          </a:prstGeom>
          <a:noFill/>
          <a:ln/>
        </p:spPr>
        <p:txBody>
          <a:bodyPr wrap="square" lIns="0" tIns="0" rIns="0" bIns="0" rtlCol="0" anchor="ctr"/>
          <a:lstStyle/>
          <a:p>
            <a:pPr indent="0" marL="0">
              <a:buNone/>
            </a:pPr>
            <a:r>
              <a:rPr lang="en-US" sz="1300" b="1" dirty="0">
                <a:solidFill>
                  <a:schemeClr val="bg1"/>
                </a:solidFill>
              </a:rPr>
              <a:t>Phase 3: Levers</a:t>
            </a:r>
            <a:endParaRPr lang="en-US" sz="1300" dirty="0"/>
          </a:p>
        </p:txBody>
      </p:sp>
      <p:sp>
        <p:nvSpPr>
          <p:cNvPr id="21" name="Text 19"/>
          <p:cNvSpPr txBox="1"/>
          <p:nvPr/>
        </p:nvSpPr>
        <p:spPr>
          <a:xfrm>
            <a:off x="7187184" y="2377440"/>
            <a:ext cx="2103120" cy="274320"/>
          </a:xfrm>
          <a:prstGeom prst="rect">
            <a:avLst/>
          </a:prstGeom>
          <a:noFill/>
          <a:ln/>
        </p:spPr>
        <p:txBody>
          <a:bodyPr wrap="square" lIns="0" tIns="0" rIns="0" bIns="0" rtlCol="0" anchor="t"/>
          <a:lstStyle/>
          <a:p>
            <a:pPr indent="0" marL="0">
              <a:buNone/>
            </a:pPr>
            <a:r>
              <a:rPr lang="en-US" sz="1200" b="1" dirty="0">
                <a:solidFill>
                  <a:schemeClr val="accent4"/>
                </a:solidFill>
              </a:rPr>
              <a:t>Weeks 11–14</a:t>
            </a:r>
            <a:endParaRPr lang="en-US" sz="1200" dirty="0"/>
          </a:p>
        </p:txBody>
      </p:sp>
      <p:sp>
        <p:nvSpPr>
          <p:cNvPr id="22" name="Text 20"/>
          <p:cNvSpPr txBox="1"/>
          <p:nvPr/>
        </p:nvSpPr>
        <p:spPr>
          <a:xfrm>
            <a:off x="7187184" y="2651760"/>
            <a:ext cx="2103120" cy="822960"/>
          </a:xfrm>
          <a:prstGeom prst="rect">
            <a:avLst/>
          </a:prstGeom>
          <a:noFill/>
          <a:ln/>
        </p:spPr>
        <p:txBody>
          <a:bodyPr wrap="square" lIns="0" tIns="0" rIns="0" bIns="0" rtlCol="0" anchor="t"/>
          <a:lstStyle/>
          <a:p>
            <a:pPr indent="0" marL="0">
              <a:buNone/>
            </a:pPr>
            <a:r>
              <a:rPr lang="en-US" sz="1200" dirty="0">
                <a:solidFill>
                  <a:schemeClr val="tx1"/>
                </a:solidFill>
              </a:rPr>
              <a:t>MB3 target, air per Mcal, crown setpoint, one at a time</a:t>
            </a:r>
            <a:endParaRPr lang="en-US" sz="1200" dirty="0"/>
          </a:p>
        </p:txBody>
      </p:sp>
      <p:sp>
        <p:nvSpPr>
          <p:cNvPr id="23" name="Text 21"/>
          <p:cNvSpPr txBox="1"/>
          <p:nvPr/>
        </p:nvSpPr>
        <p:spPr>
          <a:xfrm>
            <a:off x="7187184" y="3474720"/>
            <a:ext cx="2103120" cy="411480"/>
          </a:xfrm>
          <a:prstGeom prst="rect">
            <a:avLst/>
          </a:prstGeom>
          <a:noFill/>
          <a:ln/>
        </p:spPr>
        <p:txBody>
          <a:bodyPr wrap="square" lIns="0" tIns="0" rIns="0" bIns="0" rtlCol="0" anchor="t"/>
          <a:lstStyle/>
          <a:p>
            <a:pPr indent="0" marL="0">
              <a:buNone/>
            </a:pPr>
            <a:r>
              <a:rPr lang="en-US" sz="2000" b="1" dirty="0">
                <a:solidFill>
                  <a:schemeClr val="accent3"/>
                </a:solidFill>
              </a:rPr>
              <a:t>≈ −2.0%</a:t>
            </a:r>
            <a:endParaRPr lang="en-US" sz="2000" dirty="0"/>
          </a:p>
        </p:txBody>
      </p:sp>
      <p:sp>
        <p:nvSpPr>
          <p:cNvPr id="24" name="phase chevron"/>
          <p:cNvSpPr/>
          <p:nvPr/>
        </p:nvSpPr>
        <p:spPr>
          <a:xfrm>
            <a:off x="9400032" y="1645920"/>
            <a:ext cx="2240280" cy="640080"/>
          </a:xfrm>
          <a:prstGeom prst="chevron">
            <a:avLst/>
          </a:prstGeom>
          <a:solidFill>
            <a:schemeClr val="accent3"/>
          </a:solidFill>
          <a:ln/>
        </p:spPr>
      </p:sp>
      <p:sp>
        <p:nvSpPr>
          <p:cNvPr id="25" name="Text 23"/>
          <p:cNvSpPr txBox="1"/>
          <p:nvPr/>
        </p:nvSpPr>
        <p:spPr>
          <a:xfrm>
            <a:off x="9811512" y="1645920"/>
            <a:ext cx="1600200" cy="640080"/>
          </a:xfrm>
          <a:prstGeom prst="rect">
            <a:avLst/>
          </a:prstGeom>
          <a:noFill/>
          <a:ln/>
        </p:spPr>
        <p:txBody>
          <a:bodyPr wrap="square" lIns="0" tIns="0" rIns="0" bIns="0" rtlCol="0" anchor="ctr"/>
          <a:lstStyle/>
          <a:p>
            <a:pPr indent="0" marL="0">
              <a:buNone/>
            </a:pPr>
            <a:r>
              <a:rPr lang="en-US" sz="1300" b="1" dirty="0">
                <a:solidFill>
                  <a:schemeClr val="bg1"/>
                </a:solidFill>
              </a:rPr>
              <a:t>Phase 4: Lock-in</a:t>
            </a:r>
            <a:endParaRPr lang="en-US" sz="1300" dirty="0"/>
          </a:p>
        </p:txBody>
      </p:sp>
      <p:sp>
        <p:nvSpPr>
          <p:cNvPr id="26" name="Text 24"/>
          <p:cNvSpPr txBox="1"/>
          <p:nvPr/>
        </p:nvSpPr>
        <p:spPr>
          <a:xfrm>
            <a:off x="9400032" y="2377440"/>
            <a:ext cx="2103120" cy="274320"/>
          </a:xfrm>
          <a:prstGeom prst="rect">
            <a:avLst/>
          </a:prstGeom>
          <a:noFill/>
          <a:ln/>
        </p:spPr>
        <p:txBody>
          <a:bodyPr wrap="square" lIns="0" tIns="0" rIns="0" bIns="0" rtlCol="0" anchor="t"/>
          <a:lstStyle/>
          <a:p>
            <a:pPr indent="0" marL="0">
              <a:buNone/>
            </a:pPr>
            <a:r>
              <a:rPr lang="en-US" sz="1200" b="1" dirty="0">
                <a:solidFill>
                  <a:schemeClr val="accent4"/>
                </a:solidFill>
              </a:rPr>
              <a:t>After</a:t>
            </a:r>
            <a:endParaRPr lang="en-US" sz="1200" dirty="0"/>
          </a:p>
        </p:txBody>
      </p:sp>
      <p:sp>
        <p:nvSpPr>
          <p:cNvPr id="27" name="Text 25"/>
          <p:cNvSpPr txBox="1"/>
          <p:nvPr/>
        </p:nvSpPr>
        <p:spPr>
          <a:xfrm>
            <a:off x="9400032" y="2651760"/>
            <a:ext cx="2103120" cy="822960"/>
          </a:xfrm>
          <a:prstGeom prst="rect">
            <a:avLst/>
          </a:prstGeom>
          <a:noFill/>
          <a:ln/>
        </p:spPr>
        <p:txBody>
          <a:bodyPr wrap="square" lIns="0" tIns="0" rIns="0" bIns="0" rtlCol="0" anchor="t"/>
          <a:lstStyle/>
          <a:p>
            <a:pPr indent="0" marL="0">
              <a:buNone/>
            </a:pPr>
            <a:r>
              <a:rPr lang="en-US" sz="1200" dirty="0">
                <a:solidFill>
                  <a:schemeClr val="tx1"/>
                </a:solidFill>
              </a:rPr>
              <a:t>Final settings become SOP; 30 days of M&amp;V</a:t>
            </a:r>
            <a:endParaRPr lang="en-US" sz="1200" dirty="0"/>
          </a:p>
        </p:txBody>
      </p:sp>
      <p:sp>
        <p:nvSpPr>
          <p:cNvPr id="28" name="Text 26"/>
          <p:cNvSpPr txBox="1"/>
          <p:nvPr/>
        </p:nvSpPr>
        <p:spPr>
          <a:xfrm>
            <a:off x="9400032" y="3474720"/>
            <a:ext cx="2103120" cy="411480"/>
          </a:xfrm>
          <a:prstGeom prst="rect">
            <a:avLst/>
          </a:prstGeom>
          <a:noFill/>
          <a:ln/>
        </p:spPr>
        <p:txBody>
          <a:bodyPr wrap="square" lIns="0" tIns="0" rIns="0" bIns="0" rtlCol="0" anchor="t"/>
          <a:lstStyle/>
          <a:p>
            <a:pPr indent="0" marL="0">
              <a:buNone/>
            </a:pPr>
            <a:r>
              <a:rPr lang="en-US" sz="2000" b="1" dirty="0">
                <a:solidFill>
                  <a:schemeClr val="accent3"/>
                </a:solidFill>
              </a:rPr>
              <a:t>≥ −2%</a:t>
            </a:r>
            <a:endParaRPr lang="en-US" sz="2000" dirty="0"/>
          </a:p>
        </p:txBody>
      </p:sp>
      <p:sp>
        <p:nvSpPr>
          <p:cNvPr id="29" name="card"/>
          <p:cNvSpPr/>
          <p:nvPr/>
        </p:nvSpPr>
        <p:spPr>
          <a:xfrm>
            <a:off x="548640" y="4114800"/>
            <a:ext cx="5486400" cy="1828800"/>
          </a:xfrm>
          <a:prstGeom prst="roundRect">
            <a:avLst>
              <a:gd name="adj" fmla="val 4000"/>
            </a:avLst>
          </a:prstGeom>
          <a:solidFill>
            <a:schemeClr val="bg2"/>
          </a:solidFill>
          <a:ln/>
        </p:spPr>
      </p:sp>
      <p:sp>
        <p:nvSpPr>
          <p:cNvPr id="30" name="Text 28"/>
          <p:cNvSpPr txBox="1"/>
          <p:nvPr/>
        </p:nvSpPr>
        <p:spPr>
          <a:xfrm>
            <a:off x="777240" y="4224528"/>
            <a:ext cx="5029200" cy="320040"/>
          </a:xfrm>
          <a:prstGeom prst="rect">
            <a:avLst/>
          </a:prstGeom>
          <a:noFill/>
          <a:ln/>
        </p:spPr>
        <p:txBody>
          <a:bodyPr wrap="square" lIns="0" tIns="0" rIns="0" bIns="0" rtlCol="0" anchor="t"/>
          <a:lstStyle/>
          <a:p>
            <a:pPr indent="0" marL="0">
              <a:buNone/>
            </a:pPr>
            <a:r>
              <a:rPr lang="en-US" sz="1500" b="1" dirty="0">
                <a:solidFill>
                  <a:schemeClr val="tx2"/>
                </a:solidFill>
              </a:rPr>
              <a:t>Daily M&amp;V</a:t>
            </a:r>
            <a:endParaRPr lang="en-US" sz="1500" dirty="0"/>
          </a:p>
        </p:txBody>
      </p:sp>
      <p:sp>
        <p:nvSpPr>
          <p:cNvPr id="31" name="Text 29"/>
          <p:cNvSpPr txBox="1"/>
          <p:nvPr/>
        </p:nvSpPr>
        <p:spPr>
          <a:xfrm>
            <a:off x="777240" y="4572000"/>
            <a:ext cx="5074920" cy="1600200"/>
          </a:xfrm>
          <a:prstGeom prst="rect">
            <a:avLst/>
          </a:prstGeom>
          <a:noFill/>
          <a:ln/>
        </p:spPr>
        <p:txBody>
          <a:bodyPr wrap="square" lIns="0" tIns="0" rIns="0" bIns="0" rtlCol="0" anchor="t"/>
          <a:lstStyle/>
          <a:p>
            <a:pPr marL="190500" indent="-190500">
              <a:spcAft>
                <a:spcPts val="600"/>
              </a:spcAft>
              <a:buSzPct val="100000"/>
              <a:buChar char="•"/>
            </a:pPr>
            <a:r>
              <a:rPr lang="en-US" sz="1300" dirty="0">
                <a:solidFill>
                  <a:schemeClr val="tx1"/>
                </a:solidFill>
              </a:rPr>
              <a:t>SFC with the client formula, draw-adjusted % and band %</a:t>
            </a:r>
            <a:endParaRPr lang="en-US" sz="1300" dirty="0"/>
          </a:p>
          <a:p>
            <a:pPr marL="190500" indent="-190500">
              <a:spcAft>
                <a:spcPts val="600"/>
              </a:spcAft>
              <a:buSzPct val="100000"/>
              <a:buChar char="•"/>
            </a:pPr>
            <a:r>
              <a:rPr lang="en-US" sz="1300" dirty="0">
                <a:solidFill>
                  <a:schemeClr val="tx1"/>
                </a:solidFill>
              </a:rPr>
              <a:t>CUSUM chart of the daily saving; weekly review with the process head</a:t>
            </a:r>
            <a:endParaRPr lang="en-US" sz="1300" dirty="0"/>
          </a:p>
          <a:p>
            <a:pPr marL="190500" indent="-190500">
              <a:spcAft>
                <a:spcPts val="600"/>
              </a:spcAft>
              <a:buSzPct val="100000"/>
              <a:buChar char="•"/>
            </a:pPr>
            <a:r>
              <a:rPr lang="en-US" sz="1300" dirty="0">
                <a:solidFill>
                  <a:schemeClr val="tx1"/>
                </a:solidFill>
              </a:rPr>
              <a:t>30 trial days measure the saving to ±0.74% (95% confidence)</a:t>
            </a:r>
            <a:endParaRPr lang="en-US" sz="1300" dirty="0"/>
          </a:p>
        </p:txBody>
      </p:sp>
      <p:sp>
        <p:nvSpPr>
          <p:cNvPr id="32" name="card"/>
          <p:cNvSpPr/>
          <p:nvPr/>
        </p:nvSpPr>
        <p:spPr>
          <a:xfrm>
            <a:off x="6153912" y="4114800"/>
            <a:ext cx="5486400" cy="1828800"/>
          </a:xfrm>
          <a:prstGeom prst="roundRect">
            <a:avLst>
              <a:gd name="adj" fmla="val 4000"/>
            </a:avLst>
          </a:prstGeom>
          <a:solidFill>
            <a:schemeClr val="bg2"/>
          </a:solidFill>
          <a:ln/>
        </p:spPr>
      </p:sp>
      <p:sp>
        <p:nvSpPr>
          <p:cNvPr id="33" name="Text 31"/>
          <p:cNvSpPr txBox="1"/>
          <p:nvPr/>
        </p:nvSpPr>
        <p:spPr>
          <a:xfrm>
            <a:off x="6382512" y="4224528"/>
            <a:ext cx="5029200" cy="320040"/>
          </a:xfrm>
          <a:prstGeom prst="rect">
            <a:avLst/>
          </a:prstGeom>
          <a:noFill/>
          <a:ln/>
        </p:spPr>
        <p:txBody>
          <a:bodyPr wrap="square" lIns="0" tIns="0" rIns="0" bIns="0" rtlCol="0" anchor="t"/>
          <a:lstStyle/>
          <a:p>
            <a:pPr indent="0" marL="0">
              <a:buNone/>
            </a:pPr>
            <a:r>
              <a:rPr lang="en-US" sz="1500" b="1" dirty="0">
                <a:solidFill>
                  <a:schemeClr val="tx2"/>
                </a:solidFill>
              </a:rPr>
              <a:t>Guard-rails (any breach → step back)</a:t>
            </a:r>
            <a:endParaRPr lang="en-US" sz="1500" dirty="0"/>
          </a:p>
        </p:txBody>
      </p:sp>
      <p:sp>
        <p:nvSpPr>
          <p:cNvPr id="34" name="Text 32"/>
          <p:cNvSpPr txBox="1"/>
          <p:nvPr/>
        </p:nvSpPr>
        <p:spPr>
          <a:xfrm>
            <a:off x="6382512" y="4572000"/>
            <a:ext cx="5074920" cy="1600200"/>
          </a:xfrm>
          <a:prstGeom prst="rect">
            <a:avLst/>
          </a:prstGeom>
          <a:noFill/>
          <a:ln/>
        </p:spPr>
        <p:txBody>
          <a:bodyPr wrap="square" lIns="0" tIns="0" rIns="0" bIns="0" rtlCol="0" anchor="t"/>
          <a:lstStyle/>
          <a:p>
            <a:pPr marL="190500" indent="-190500">
              <a:spcAft>
                <a:spcPts val="600"/>
              </a:spcAft>
              <a:buSzPct val="100000"/>
              <a:buChar char="•"/>
            </a:pPr>
            <a:r>
              <a:rPr lang="en-US" sz="1300" dirty="0">
                <a:solidFill>
                  <a:schemeClr val="tx1"/>
                </a:solidFill>
              </a:rPr>
              <a:t>Seeds &gt; 21 on 2 days, or any day &gt; 25</a:t>
            </a:r>
            <a:endParaRPr lang="en-US" sz="1300" dirty="0"/>
          </a:p>
          <a:p>
            <a:pPr marL="190500" indent="-190500">
              <a:spcAft>
                <a:spcPts val="600"/>
              </a:spcAft>
              <a:buSzPct val="100000"/>
              <a:buChar char="•"/>
            </a:pPr>
            <a:r>
              <a:rPr lang="en-US" sz="1300" dirty="0">
                <a:solidFill>
                  <a:schemeClr val="tx1"/>
                </a:solidFill>
              </a:rPr>
              <a:t>MB3 outside 1,317.6–1,323.9 °C for &gt; 3 hours</a:t>
            </a:r>
            <a:endParaRPr lang="en-US" sz="1300" dirty="0"/>
          </a:p>
          <a:p>
            <a:pPr marL="190500" indent="-190500">
              <a:spcAft>
                <a:spcPts val="600"/>
              </a:spcAft>
              <a:buSzPct val="100000"/>
              <a:buChar char="•"/>
            </a:pPr>
            <a:r>
              <a:rPr lang="en-US" sz="1300" dirty="0">
                <a:solidFill>
                  <a:schemeClr val="tx1"/>
                </a:solidFill>
              </a:rPr>
              <a:t>Optical crown below 1,570 °C; crown TC −3 °C vs last week</a:t>
            </a:r>
            <a:endParaRPr lang="en-US" sz="1300" dirty="0"/>
          </a:p>
        </p:txBody>
      </p:sp>
      <p:sp>
        <p:nvSpPr>
          <p:cNvPr id="25" name="Slide Number Placeholder 0"/>
          <p:cNvSpPr>
            <a:spLocks noGrp="1"/>
          </p:cNvSpPr>
          <p:nvPr>
            <p:ph type="sldNum" sz="quarter" idx="4294967295"/>
          </p:nvPr>
        </p:nvSpPr>
        <p:spPr>
          <a:xfrm>
            <a:off x="11183112"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8778240" cy="1737360"/>
          </a:xfrm>
          <a:prstGeom prst="rect">
            <a:avLst/>
          </a:prstGeom>
          <a:noFill/>
          <a:ln/>
        </p:spPr>
        <p:txBody>
          <a:bodyPr wrap="square" rtlCol="0" anchor="b"/>
          <a:lstStyle/>
          <a:p>
            <a:pPr algn="l" indent="0" marL="0">
              <a:buNone/>
            </a:pPr>
            <a:r>
              <a:rPr lang="en-US" sz="4000" b="1" dirty="0">
                <a:solidFill>
                  <a:schemeClr val="bg1"/>
                </a:solidFill>
                <a:latin typeface="Arial" pitchFamily="34" charset="0"/>
                <a:ea typeface="Arial" pitchFamily="34" charset="-122"/>
                <a:cs typeface="Arial" pitchFamily="34" charset="-120"/>
              </a:rPr>
              <a:t>Run the recommended setpoints, lower the SFC</a:t>
            </a:r>
            <a:endParaRPr lang="en-US" sz="4000" dirty="0"/>
          </a:p>
        </p:txBody>
      </p:sp>
      <p:sp>
        <p:nvSpPr>
          <p:cNvPr id="3" name="Text 0"/>
          <p:cNvSpPr/>
          <p:nvPr>
            <p:ph idx="101" type="body" hasCustomPrompt="1"/>
          </p:nvPr>
        </p:nvSpPr>
        <p:spPr>
          <a:xfrm>
            <a:off x="731520" y="3931920"/>
            <a:ext cx="8412480" cy="914400"/>
          </a:xfrm>
          <a:prstGeom prst="rect">
            <a:avLst/>
          </a:prstGeom>
          <a:noFill/>
          <a:ln/>
        </p:spPr>
        <p:txBody>
          <a:bodyPr wrap="square" rtlCol="0" anchor="t"/>
          <a:lstStyle/>
          <a:p>
            <a:pPr algn="l" indent="0" marL="0">
              <a:buNone/>
            </a:pPr>
            <a:r>
              <a:rPr lang="en-US" sz="1800" dirty="0">
                <a:solidFill>
                  <a:srgbClr val="C9D3E0"/>
                </a:solidFill>
              </a:rPr>
              <a:t>Next steps: October data · official limits · O₂/CO analyser · shadow phase</a:t>
            </a:r>
            <a:endParaRPr lang="en-US" sz="1800" dirty="0"/>
          </a:p>
        </p:txBody>
      </p:sp>
      <p:sp>
        <p:nvSpPr>
          <p:cNvPr id="4" name="Text 2"/>
          <p:cNvSpPr txBox="1"/>
          <p:nvPr/>
        </p:nvSpPr>
        <p:spPr>
          <a:xfrm>
            <a:off x="9445752" y="1188720"/>
            <a:ext cx="2194560" cy="731520"/>
          </a:xfrm>
          <a:prstGeom prst="rect">
            <a:avLst/>
          </a:prstGeom>
          <a:noFill/>
          <a:ln/>
        </p:spPr>
        <p:txBody>
          <a:bodyPr wrap="square" lIns="0" tIns="0" rIns="0" bIns="0" rtlCol="0" anchor="t"/>
          <a:lstStyle/>
          <a:p>
            <a:pPr algn="r" indent="0" marL="0">
              <a:buNone/>
            </a:pPr>
            <a:r>
              <a:rPr lang="en-US" sz="4000" b="1" dirty="0">
                <a:solidFill>
                  <a:schemeClr val="bg1"/>
                </a:solidFill>
                <a:latin typeface="Arial" pitchFamily="34" charset="0"/>
                <a:ea typeface="Arial" pitchFamily="34" charset="-122"/>
                <a:cs typeface="Arial" pitchFamily="34" charset="-120"/>
              </a:rPr>
              <a:t>−1.27%</a:t>
            </a:r>
            <a:endParaRPr lang="en-US" sz="4000" dirty="0"/>
          </a:p>
        </p:txBody>
      </p:sp>
      <p:sp>
        <p:nvSpPr>
          <p:cNvPr id="5" name="Text 3"/>
          <p:cNvSpPr txBox="1"/>
          <p:nvPr/>
        </p:nvSpPr>
        <p:spPr>
          <a:xfrm>
            <a:off x="9262872" y="1920240"/>
            <a:ext cx="2377440" cy="548640"/>
          </a:xfrm>
          <a:prstGeom prst="rect">
            <a:avLst/>
          </a:prstGeom>
          <a:noFill/>
          <a:ln/>
        </p:spPr>
        <p:txBody>
          <a:bodyPr wrap="square" lIns="0" tIns="0" rIns="0" bIns="0" rtlCol="0" anchor="t"/>
          <a:lstStyle/>
          <a:p>
            <a:pPr algn="r" indent="0" marL="0">
              <a:buNone/>
            </a:pPr>
            <a:r>
              <a:rPr lang="en-US" sz="1300" dirty="0">
                <a:solidFill>
                  <a:srgbClr val="C9D3E0"/>
                </a:solidFill>
              </a:rPr>
              <a:t>SFC from the recommended setpoints (summer 2026)</a:t>
            </a:r>
            <a:endParaRPr lang="en-US" sz="1300" dirty="0"/>
          </a:p>
        </p:txBody>
      </p:sp>
      <p:sp>
        <p:nvSpPr>
          <p:cNvPr id="6" name="Text 4"/>
          <p:cNvSpPr txBox="1"/>
          <p:nvPr/>
        </p:nvSpPr>
        <p:spPr>
          <a:xfrm>
            <a:off x="9445752" y="2788920"/>
            <a:ext cx="2194560" cy="731520"/>
          </a:xfrm>
          <a:prstGeom prst="rect">
            <a:avLst/>
          </a:prstGeom>
          <a:noFill/>
          <a:ln/>
        </p:spPr>
        <p:txBody>
          <a:bodyPr wrap="square" lIns="0" tIns="0" rIns="0" bIns="0" rtlCol="0" anchor="t"/>
          <a:lstStyle/>
          <a:p>
            <a:pPr algn="r" indent="0" marL="0">
              <a:buNone/>
            </a:pPr>
            <a:r>
              <a:rPr lang="en-US" sz="4000" b="1" dirty="0">
                <a:solidFill>
                  <a:schemeClr val="bg1"/>
                </a:solidFill>
                <a:latin typeface="Arial" pitchFamily="34" charset="0"/>
                <a:ea typeface="Arial" pitchFamily="34" charset="-122"/>
                <a:cs typeface="Arial" pitchFamily="34" charset="-120"/>
              </a:rPr>
              <a:t>10 / 10</a:t>
            </a:r>
            <a:endParaRPr lang="en-US" sz="4000" dirty="0"/>
          </a:p>
        </p:txBody>
      </p:sp>
      <p:sp>
        <p:nvSpPr>
          <p:cNvPr id="7" name="Text 5"/>
          <p:cNvSpPr txBox="1"/>
          <p:nvPr/>
        </p:nvSpPr>
        <p:spPr>
          <a:xfrm>
            <a:off x="9262872" y="3520440"/>
            <a:ext cx="2377440" cy="548640"/>
          </a:xfrm>
          <a:prstGeom prst="rect">
            <a:avLst/>
          </a:prstGeom>
          <a:noFill/>
          <a:ln/>
        </p:spPr>
        <p:txBody>
          <a:bodyPr wrap="square" lIns="0" tIns="0" rIns="0" bIns="0" rtlCol="0" anchor="t"/>
          <a:lstStyle/>
          <a:p>
            <a:pPr algn="r" indent="0" marL="0">
              <a:buNone/>
            </a:pPr>
            <a:r>
              <a:rPr lang="en-US" sz="1300" dirty="0">
                <a:solidFill>
                  <a:srgbClr val="C9D3E0"/>
                </a:solidFill>
              </a:rPr>
              <a:t>months better than actual operation</a:t>
            </a:r>
            <a:endParaRPr lang="en-US" sz="1300" dirty="0"/>
          </a:p>
        </p:txBody>
      </p:sp>
      <p:sp>
        <p:nvSpPr>
          <p:cNvPr id="8" name="Text 6"/>
          <p:cNvSpPr txBox="1"/>
          <p:nvPr/>
        </p:nvSpPr>
        <p:spPr>
          <a:xfrm>
            <a:off x="9445752" y="4389120"/>
            <a:ext cx="2194560" cy="731520"/>
          </a:xfrm>
          <a:prstGeom prst="rect">
            <a:avLst/>
          </a:prstGeom>
          <a:noFill/>
          <a:ln/>
        </p:spPr>
        <p:txBody>
          <a:bodyPr wrap="square" lIns="0" tIns="0" rIns="0" bIns="0" rtlCol="0" anchor="t"/>
          <a:lstStyle/>
          <a:p>
            <a:pPr algn="r" indent="0" marL="0">
              <a:buNone/>
            </a:pPr>
            <a:r>
              <a:rPr lang="en-US" sz="4000" b="1" dirty="0">
                <a:solidFill>
                  <a:schemeClr val="accent2"/>
                </a:solidFill>
                <a:latin typeface="Arial" pitchFamily="34" charset="0"/>
                <a:ea typeface="Arial" pitchFamily="34" charset="-122"/>
                <a:cs typeface="Arial" pitchFamily="34" charset="-120"/>
              </a:rPr>
              <a:t>−2%</a:t>
            </a:r>
            <a:endParaRPr lang="en-US" sz="4000" dirty="0"/>
          </a:p>
        </p:txBody>
      </p:sp>
      <p:sp>
        <p:nvSpPr>
          <p:cNvPr id="9" name="Text 7"/>
          <p:cNvSpPr txBox="1"/>
          <p:nvPr/>
        </p:nvSpPr>
        <p:spPr>
          <a:xfrm>
            <a:off x="9262872" y="5120640"/>
            <a:ext cx="2377440" cy="548640"/>
          </a:xfrm>
          <a:prstGeom prst="rect">
            <a:avLst/>
          </a:prstGeom>
          <a:noFill/>
          <a:ln/>
        </p:spPr>
        <p:txBody>
          <a:bodyPr wrap="square" lIns="0" tIns="0" rIns="0" bIns="0" rtlCol="0" anchor="t"/>
          <a:lstStyle/>
          <a:p>
            <a:pPr algn="r" indent="0" marL="0">
              <a:buNone/>
            </a:pPr>
            <a:r>
              <a:rPr lang="en-US" sz="1300" dirty="0">
                <a:solidFill>
                  <a:srgbClr val="C9D3E0"/>
                </a:solidFill>
              </a:rPr>
              <a:t>with the three trial levers</a:t>
            </a:r>
            <a:endParaRPr lang="en-US" sz="1300" dirty="0"/>
          </a:p>
        </p:txBody>
      </p:sp>
    </p:spTree>
  </p:cSld>
  <p:clrMapOvr>
    <a:masterClrMapping/>
  </p:clrMapOvr>
</p:sld>
</file>

<file path=ppt/theme/theme1.xml><?xml version="1.0" encoding="utf-8"?>
<a:theme xmlns:a="http://schemas.openxmlformats.org/drawingml/2006/main" name="Melter SFC">
  <a:themeElements>
    <a:clrScheme name="Melter SFC">
      <a:dk1>
        <a:srgbClr val="1F2933"/>
      </a:dk1>
      <a:lt1>
        <a:srgbClr val="FFFFFF"/>
      </a:lt1>
      <a:dk2>
        <a:srgbClr val="13294B"/>
      </a:dk2>
      <a:lt2>
        <a:srgbClr val="F2F4F7"/>
      </a:lt2>
      <a:accent1>
        <a:srgbClr val="2A78D6"/>
      </a:accent1>
      <a:accent2>
        <a:srgbClr val="EB6834"/>
      </a:accent2>
      <a:accent3>
        <a:srgbClr val="1F9D6B"/>
      </a:accent3>
      <a:accent4>
        <a:srgbClr val="56616E"/>
      </a:accent4>
      <a:accent5>
        <a:srgbClr val="F2A93B"/>
      </a:accent5>
      <a:accent6>
        <a:srgbClr val="9CC3F0"/>
      </a:accent6>
      <a:hlink>
        <a:srgbClr val="2A78D6"/>
      </a:hlink>
      <a:folHlink>
        <a:srgbClr val="56616E"/>
      </a:folHlink>
    </a:clrScheme>
    <a:fontScheme name="Melter SFC">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60 TPD Melter SFC Optimisation</dc:title>
  <dc:subject>Gas and barrier-boost recommender</dc:subject>
  <dc:creator>Data Science team</dc:creator>
  <cp:lastModifiedBy>Data Science team</cp:lastModifiedBy>
  <cp:revision>1</cp:revision>
  <dcterms:created xsi:type="dcterms:W3CDTF">2026-10-06T07:30:40Z</dcterms:created>
  <dcterms:modified xsi:type="dcterms:W3CDTF">2026-10-06T07:30:40Z</dcterms:modified>
</cp:coreProperties>
</file>